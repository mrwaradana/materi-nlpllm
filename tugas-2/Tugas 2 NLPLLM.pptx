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6858000" cx="12192000"/>
  <p:notesSz cx="6858000" cy="9144000"/>
  <p:embeddedFontLst>
    <p:embeddedFont>
      <p:font typeface="Inter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Inter-regular.fntdata"/><Relationship Id="rId14" Type="http://schemas.openxmlformats.org/officeDocument/2006/relationships/slide" Target="slides/slide9.xml"/><Relationship Id="rId17" Type="http://schemas.openxmlformats.org/officeDocument/2006/relationships/font" Target="fonts/Inter-italic.fntdata"/><Relationship Id="rId16" Type="http://schemas.openxmlformats.org/officeDocument/2006/relationships/font" Target="fonts/Inter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font" Target="fonts/Inter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1.jpg"/><Relationship Id="rId5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11.png"/><Relationship Id="rId9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13.png"/><Relationship Id="rId7" Type="http://schemas.openxmlformats.org/officeDocument/2006/relationships/image" Target="../media/image10.png"/><Relationship Id="rId8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7.png"/><Relationship Id="rId9" Type="http://schemas.openxmlformats.org/officeDocument/2006/relationships/image" Target="../media/image15.png"/><Relationship Id="rId5" Type="http://schemas.openxmlformats.org/officeDocument/2006/relationships/image" Target="../media/image2.png"/><Relationship Id="rId6" Type="http://schemas.openxmlformats.org/officeDocument/2006/relationships/image" Target="../media/image8.png"/><Relationship Id="rId7" Type="http://schemas.openxmlformats.org/officeDocument/2006/relationships/image" Target="../media/image14.png"/><Relationship Id="rId8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12.png"/><Relationship Id="rId5" Type="http://schemas.openxmlformats.org/officeDocument/2006/relationships/image" Target="../media/image31.png"/><Relationship Id="rId6" Type="http://schemas.openxmlformats.org/officeDocument/2006/relationships/image" Target="../media/image19.png"/><Relationship Id="rId7" Type="http://schemas.openxmlformats.org/officeDocument/2006/relationships/image" Target="../media/image16.png"/><Relationship Id="rId8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2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22.png"/><Relationship Id="rId5" Type="http://schemas.openxmlformats.org/officeDocument/2006/relationships/image" Target="../media/image18.png"/><Relationship Id="rId6" Type="http://schemas.openxmlformats.org/officeDocument/2006/relationships/image" Target="../media/image17.png"/><Relationship Id="rId7" Type="http://schemas.openxmlformats.org/officeDocument/2006/relationships/image" Target="../media/image20.png"/><Relationship Id="rId8" Type="http://schemas.openxmlformats.org/officeDocument/2006/relationships/image" Target="../media/image2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2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25.png"/><Relationship Id="rId10" Type="http://schemas.openxmlformats.org/officeDocument/2006/relationships/image" Target="../media/image5.png"/><Relationship Id="rId9" Type="http://schemas.openxmlformats.org/officeDocument/2006/relationships/image" Target="../media/image2.png"/><Relationship Id="rId5" Type="http://schemas.openxmlformats.org/officeDocument/2006/relationships/image" Target="../media/image24.png"/><Relationship Id="rId6" Type="http://schemas.openxmlformats.org/officeDocument/2006/relationships/image" Target="../media/image13.png"/><Relationship Id="rId7" Type="http://schemas.openxmlformats.org/officeDocument/2006/relationships/image" Target="../media/image27.png"/><Relationship Id="rId8" Type="http://schemas.openxmlformats.org/officeDocument/2006/relationships/image" Target="../media/image2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0.png"/><Relationship Id="rId4" Type="http://schemas.openxmlformats.org/officeDocument/2006/relationships/image" Target="../media/image1.jpg"/><Relationship Id="rId5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452425" y="893546"/>
            <a:ext cx="5550600" cy="19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Advance </a:t>
            </a:r>
            <a:r>
              <a:rPr b="1" i="0" lang="en-US" sz="4000" u="none" cap="none" strike="noStrike">
                <a:solidFill>
                  <a:srgbClr val="00AA13"/>
                </a:solidFill>
                <a:latin typeface="Inter"/>
                <a:ea typeface="Inter"/>
                <a:cs typeface="Inter"/>
                <a:sym typeface="Inter"/>
              </a:rPr>
              <a:t>RAG</a:t>
            </a:r>
            <a:r>
              <a:rPr b="1" i="0" lang="en-US" sz="4000" u="none" cap="none" strike="noStrik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 da</a:t>
            </a:r>
            <a:r>
              <a:rPr b="1" lang="en-US" sz="4000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n</a:t>
            </a:r>
            <a:endParaRPr b="1" sz="4000">
              <a:solidFill>
                <a:srgbClr val="F1F5F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Finetuning </a:t>
            </a:r>
            <a:endParaRPr b="1" i="0" sz="4000" u="none" cap="none" strike="noStrike">
              <a:solidFill>
                <a:srgbClr val="F1F5F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Rekomendasi Kuliner</a:t>
            </a:r>
            <a:endParaRPr sz="600"/>
          </a:p>
        </p:txBody>
      </p:sp>
      <p:sp>
        <p:nvSpPr>
          <p:cNvPr id="86" name="Google Shape;86;p13"/>
          <p:cNvSpPr txBox="1"/>
          <p:nvPr/>
        </p:nvSpPr>
        <p:spPr>
          <a:xfrm>
            <a:off x="452425" y="3160813"/>
            <a:ext cx="52863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Rekomendasi kuliner menggunakan Model Fine</a:t>
            </a:r>
            <a:r>
              <a:rPr lang="en-US" sz="18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tuned (PEFT) dan </a:t>
            </a:r>
            <a:r>
              <a:rPr b="0" i="0" lang="en-US" sz="18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Advanced Retrieval-Augmented Generation pada Dataset GoFood.</a:t>
            </a:r>
            <a:endParaRPr/>
          </a:p>
        </p:txBody>
      </p:sp>
      <p:pic>
        <p:nvPicPr>
          <p:cNvPr descr="Beautify this slide" id="87" name="Google Shape;87;p13"/>
          <p:cNvPicPr preferRelativeResize="0"/>
          <p:nvPr/>
        </p:nvPicPr>
        <p:blipFill rotWithShape="1">
          <a:blip r:embed="rId4">
            <a:alphaModFix/>
          </a:blip>
          <a:srcRect b="10194" l="48734" r="851" t="9971"/>
          <a:stretch/>
        </p:blipFill>
        <p:spPr>
          <a:xfrm>
            <a:off x="5857800" y="712900"/>
            <a:ext cx="6146082" cy="5432222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3"/>
          <p:cNvSpPr txBox="1"/>
          <p:nvPr/>
        </p:nvSpPr>
        <p:spPr>
          <a:xfrm>
            <a:off x="452425" y="4467488"/>
            <a:ext cx="5286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Muhammad Ridho Waradana</a:t>
            </a:r>
            <a:endParaRPr sz="1800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6026241018</a:t>
            </a:r>
            <a:endParaRPr sz="1800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89" name="Google Shape;89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824425" y="223262"/>
            <a:ext cx="2179449" cy="67030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3"/>
          <p:cNvSpPr txBox="1"/>
          <p:nvPr/>
        </p:nvSpPr>
        <p:spPr>
          <a:xfrm>
            <a:off x="452425" y="5149488"/>
            <a:ext cx="52863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NLPLLM</a:t>
            </a:r>
            <a:endParaRPr sz="1800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S2 Sistem Informasi</a:t>
            </a:r>
            <a:br>
              <a:rPr lang="en-US" sz="18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18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Insititut Teknologi Sepuluh Nopember</a:t>
            </a:r>
            <a:endParaRPr sz="1800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5" name="Google Shape;9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6" name="Google Shape;96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419225"/>
            <a:ext cx="5334000" cy="5057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7" name="Google Shape;97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1419225"/>
            <a:ext cx="5334000" cy="5057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8" name="Google Shape;98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66775" y="1714500"/>
            <a:ext cx="590550" cy="657225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/>
        </p:nvSpPr>
        <p:spPr>
          <a:xfrm>
            <a:off x="866775" y="2562225"/>
            <a:ext cx="95652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Masalah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866775" y="3124200"/>
            <a:ext cx="4743600" cy="17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Pengguna sering mengalami "</a:t>
            </a:r>
            <a:r>
              <a:rPr lang="en-US" sz="15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Banyak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Pilihan" (Choice Overload) dengan ribuan merchant kuliner. Pencarian kata kunci biasa sering gagal menangkap keinginan spesifik seperti "ayam pedas di bawah 20rb di Jakarta" atau "camilan sehat tengah malam".</a:t>
            </a:r>
            <a:endParaRPr/>
          </a:p>
        </p:txBody>
      </p:sp>
      <p:pic>
        <p:nvPicPr>
          <p:cNvPr descr="image.png" id="101" name="Google Shape;101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81775" y="1714500"/>
            <a:ext cx="514350" cy="657225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6581775" y="2562225"/>
            <a:ext cx="701337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Solusi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6581775" y="3124200"/>
            <a:ext cx="474345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Sebuah Chatbot berbasis LLM yang menggunakan </a:t>
            </a:r>
            <a:r>
              <a:rPr b="1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RAG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(Retrieval-Augmented Generation) untuk memahami bahasa alami dan mengambil data menu real-time serta sadar konteks dari basis data GoFood.</a:t>
            </a:r>
            <a:endParaRPr/>
          </a:p>
        </p:txBody>
      </p:sp>
      <p:pic>
        <p:nvPicPr>
          <p:cNvPr descr="image.png" id="104" name="Google Shape;104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09650" y="1885950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5" name="Google Shape;105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724650" y="1885950"/>
            <a:ext cx="2286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4"/>
          <p:cNvSpPr txBox="1"/>
          <p:nvPr/>
        </p:nvSpPr>
        <p:spPr>
          <a:xfrm>
            <a:off x="762000" y="381000"/>
            <a:ext cx="11401425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Latar Belakang &amp; Masalah</a:t>
            </a:r>
            <a:endParaRPr/>
          </a:p>
        </p:txBody>
      </p:sp>
      <p:sp>
        <p:nvSpPr>
          <p:cNvPr id="107" name="Google Shape;107;p14"/>
          <p:cNvSpPr/>
          <p:nvPr/>
        </p:nvSpPr>
        <p:spPr>
          <a:xfrm>
            <a:off x="571500" y="381000"/>
            <a:ext cx="57150" cy="561975"/>
          </a:xfrm>
          <a:prstGeom prst="rect">
            <a:avLst/>
          </a:prstGeom>
          <a:solidFill>
            <a:srgbClr val="00AA1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9824425" y="223262"/>
            <a:ext cx="2179449" cy="670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3" name="Google Shape;11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4" name="Google Shape;114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043112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5"/>
          <p:cNvSpPr txBox="1"/>
          <p:nvPr/>
        </p:nvSpPr>
        <p:spPr>
          <a:xfrm>
            <a:off x="1000125" y="2286000"/>
            <a:ext cx="485775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Sumber: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gofood_dataset.csv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1000125" y="2714625"/>
            <a:ext cx="4857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Volume: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Memproses ~5,000 baris data kuliner.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1000125" y="3133725"/>
            <a:ext cx="4857750" cy="14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Fitur Utama: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1000125" y="4695825"/>
            <a:ext cx="48577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Pra-pemrosesan: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Data dikelompokkan berdasarkan Merchant/Kategori untuk membuat "Dokumen" kaya informasi untuk vector embedding.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1428750" y="3438525"/>
            <a:ext cx="44291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Nama Merchant &amp; Area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1428750" y="3857625"/>
            <a:ext cx="44291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Kategori Makanan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1428750" y="4276725"/>
            <a:ext cx="44291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Daftar Produk &amp; Harga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762000" y="381000"/>
            <a:ext cx="11401425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Dataset GoFood</a:t>
            </a:r>
            <a:endParaRPr/>
          </a:p>
        </p:txBody>
      </p:sp>
      <p:sp>
        <p:nvSpPr>
          <p:cNvPr id="123" name="Google Shape;123;p15"/>
          <p:cNvSpPr/>
          <p:nvPr/>
        </p:nvSpPr>
        <p:spPr>
          <a:xfrm>
            <a:off x="571500" y="381000"/>
            <a:ext cx="57150" cy="561975"/>
          </a:xfrm>
          <a:prstGeom prst="rect">
            <a:avLst/>
          </a:prstGeom>
          <a:solidFill>
            <a:srgbClr val="00AA1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24" name="Google Shape;124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2305050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5" name="Google Shape;125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2733675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6" name="Google Shape;126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3152775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7" name="Google Shape;127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4714875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8" name="Google Shape;128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90625" y="3457575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9" name="Google Shape;129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90625" y="3876675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0" name="Google Shape;130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90625" y="4295775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661525" y="2897398"/>
            <a:ext cx="4924426" cy="20413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661513" y="5034750"/>
            <a:ext cx="4924425" cy="1638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9824425" y="223262"/>
            <a:ext cx="2179449" cy="67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5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143021" y="984946"/>
            <a:ext cx="7020396" cy="1638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9" name="Google Shape;13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0" name="Google Shape;140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081212"/>
            <a:ext cx="3524250" cy="3733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1" name="Google Shape;141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33875" y="2081212"/>
            <a:ext cx="3524250" cy="3733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2" name="Google Shape;142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96250" y="2081212"/>
            <a:ext cx="3524250" cy="3733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3" name="Google Shape;143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66775" y="2376487"/>
            <a:ext cx="666750" cy="657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6"/>
          <p:cNvSpPr txBox="1"/>
          <p:nvPr/>
        </p:nvSpPr>
        <p:spPr>
          <a:xfrm>
            <a:off x="866775" y="3224200"/>
            <a:ext cx="2353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Fine-Tuning (PEFT)</a:t>
            </a:r>
            <a:endParaRPr/>
          </a:p>
        </p:txBody>
      </p:sp>
      <p:sp>
        <p:nvSpPr>
          <p:cNvPr id="145" name="Google Shape;145;p16"/>
          <p:cNvSpPr txBox="1"/>
          <p:nvPr/>
        </p:nvSpPr>
        <p:spPr>
          <a:xfrm>
            <a:off x="866850" y="3691900"/>
            <a:ext cx="3131100" cy="29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Menggunakan teknik LoRA (Low-Rank Adaptation) untuk melatih model LLM agar lebih memahami nuansa istilah kuliner lokal tanpa melatih ulang seluruh model.</a:t>
            </a:r>
            <a:endParaRPr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Model: </a:t>
            </a:r>
            <a:r>
              <a:rPr lang="en-US" sz="105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TinyLlama-1.1B-Chat-v1.0</a:t>
            </a:r>
            <a:endParaRPr sz="1050">
              <a:solidFill>
                <a:srgbClr val="CE9178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descr="image.png" id="146" name="Google Shape;146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629150" y="2376487"/>
            <a:ext cx="590550" cy="657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6"/>
          <p:cNvSpPr txBox="1"/>
          <p:nvPr/>
        </p:nvSpPr>
        <p:spPr>
          <a:xfrm>
            <a:off x="4629150" y="3224212"/>
            <a:ext cx="1733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Reranking</a:t>
            </a:r>
            <a:endParaRPr/>
          </a:p>
        </p:txBody>
      </p:sp>
      <p:sp>
        <p:nvSpPr>
          <p:cNvPr id="148" name="Google Shape;148;p16"/>
          <p:cNvSpPr txBox="1"/>
          <p:nvPr/>
        </p:nvSpPr>
        <p:spPr>
          <a:xfrm>
            <a:off x="4629150" y="3622912"/>
            <a:ext cx="2933700" cy="24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Menambahkan tahap Cross-Encoder setelah retrieval awal untuk mengurutkan ulang dokumen berdasarkan relevansi semantik yang lebih dalam.</a:t>
            </a:r>
            <a:endParaRPr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Model: </a:t>
            </a:r>
            <a:r>
              <a:rPr lang="en-US" sz="115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cross-encoder/ms-marco-MiniLM-L-6-v2</a:t>
            </a:r>
            <a:endParaRPr sz="1150">
              <a:solidFill>
                <a:srgbClr val="CE9178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descr="image.png" id="149" name="Google Shape;149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391525" y="2376487"/>
            <a:ext cx="590550" cy="657225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6"/>
          <p:cNvSpPr txBox="1"/>
          <p:nvPr/>
        </p:nvSpPr>
        <p:spPr>
          <a:xfrm>
            <a:off x="8391525" y="3224200"/>
            <a:ext cx="193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LangGraph</a:t>
            </a:r>
            <a:endParaRPr/>
          </a:p>
        </p:txBody>
      </p:sp>
      <p:sp>
        <p:nvSpPr>
          <p:cNvPr id="151" name="Google Shape;151;p16"/>
          <p:cNvSpPr txBox="1"/>
          <p:nvPr/>
        </p:nvSpPr>
        <p:spPr>
          <a:xfrm>
            <a:off x="8391525" y="3786187"/>
            <a:ext cx="2933700" cy="17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Mengimplementasikan Memory.  </a:t>
            </a:r>
            <a:r>
              <a:rPr lang="en-US" sz="15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Sistem secara otomatis menyimpan dan mengambil percakapan sebelumnya sebagai memory</a:t>
            </a:r>
            <a:endParaRPr/>
          </a:p>
        </p:txBody>
      </p:sp>
      <p:sp>
        <p:nvSpPr>
          <p:cNvPr id="152" name="Google Shape;152;p16"/>
          <p:cNvSpPr txBox="1"/>
          <p:nvPr/>
        </p:nvSpPr>
        <p:spPr>
          <a:xfrm>
            <a:off x="762000" y="381000"/>
            <a:ext cx="114015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500" u="none" cap="none" strike="noStrik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Metodologi &amp; </a:t>
            </a:r>
            <a:r>
              <a:rPr b="1" lang="en-US" sz="3500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Pengembangan Advanced</a:t>
            </a:r>
            <a:endParaRPr sz="1300"/>
          </a:p>
        </p:txBody>
      </p:sp>
      <p:sp>
        <p:nvSpPr>
          <p:cNvPr id="153" name="Google Shape;153;p16"/>
          <p:cNvSpPr/>
          <p:nvPr/>
        </p:nvSpPr>
        <p:spPr>
          <a:xfrm>
            <a:off x="571500" y="381000"/>
            <a:ext cx="57150" cy="561975"/>
          </a:xfrm>
          <a:prstGeom prst="rect">
            <a:avLst/>
          </a:prstGeom>
          <a:solidFill>
            <a:srgbClr val="00AA1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4" name="Google Shape;154;p1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9824425" y="223262"/>
            <a:ext cx="2179449" cy="67030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6"/>
          <p:cNvSpPr txBox="1"/>
          <p:nvPr/>
        </p:nvSpPr>
        <p:spPr>
          <a:xfrm>
            <a:off x="1011825" y="2431525"/>
            <a:ext cx="4455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1" lang="en-US" sz="2100">
                <a:solidFill>
                  <a:srgbClr val="00AA13"/>
                </a:solidFill>
                <a:latin typeface="Inter"/>
                <a:ea typeface="Inter"/>
                <a:cs typeface="Inter"/>
                <a:sym typeface="Inter"/>
              </a:rPr>
              <a:t>1.</a:t>
            </a:r>
            <a:endParaRPr sz="3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6"/>
          <p:cNvSpPr txBox="1"/>
          <p:nvPr/>
        </p:nvSpPr>
        <p:spPr>
          <a:xfrm>
            <a:off x="4701675" y="2431525"/>
            <a:ext cx="4455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1" lang="en-US" sz="2100">
                <a:solidFill>
                  <a:srgbClr val="00AA13"/>
                </a:solidFill>
                <a:latin typeface="Inter"/>
                <a:ea typeface="Inter"/>
                <a:cs typeface="Inter"/>
                <a:sym typeface="Inter"/>
              </a:rPr>
              <a:t>2.</a:t>
            </a:r>
            <a:endParaRPr sz="3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6"/>
          <p:cNvSpPr txBox="1"/>
          <p:nvPr/>
        </p:nvSpPr>
        <p:spPr>
          <a:xfrm>
            <a:off x="8464050" y="2451138"/>
            <a:ext cx="4455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1" lang="en-US" sz="2100">
                <a:solidFill>
                  <a:srgbClr val="00AA13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  <a:r>
              <a:rPr b="1" lang="en-US" sz="2100">
                <a:solidFill>
                  <a:srgbClr val="00AA13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sz="3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2" name="Google Shape;16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7"/>
          <p:cNvSpPr txBox="1"/>
          <p:nvPr/>
        </p:nvSpPr>
        <p:spPr>
          <a:xfrm>
            <a:off x="762000" y="571500"/>
            <a:ext cx="5000625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Arsitektur LangGraph</a:t>
            </a:r>
            <a:endParaRPr/>
          </a:p>
        </p:txBody>
      </p:sp>
      <p:sp>
        <p:nvSpPr>
          <p:cNvPr id="164" name="Google Shape;164;p17"/>
          <p:cNvSpPr/>
          <p:nvPr/>
        </p:nvSpPr>
        <p:spPr>
          <a:xfrm>
            <a:off x="571500" y="571500"/>
            <a:ext cx="57150" cy="561975"/>
          </a:xfrm>
          <a:prstGeom prst="rect">
            <a:avLst/>
          </a:prstGeom>
          <a:solidFill>
            <a:srgbClr val="00AA1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7"/>
          <p:cNvSpPr txBox="1"/>
          <p:nvPr/>
        </p:nvSpPr>
        <p:spPr>
          <a:xfrm>
            <a:off x="571500" y="1900237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Sistem menggunakan alur kerja </a:t>
            </a:r>
            <a:r>
              <a:rPr b="1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StateGraph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endParaRPr/>
          </a:p>
        </p:txBody>
      </p:sp>
      <p:sp>
        <p:nvSpPr>
          <p:cNvPr id="166" name="Google Shape;166;p17"/>
          <p:cNvSpPr txBox="1"/>
          <p:nvPr/>
        </p:nvSpPr>
        <p:spPr>
          <a:xfrm>
            <a:off x="1000125" y="2547937"/>
            <a:ext cx="4524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Node Retriever: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Mengambil konteks restoran yang relevan berdasarkan query pengguna.</a:t>
            </a:r>
            <a:endParaRPr/>
          </a:p>
        </p:txBody>
      </p:sp>
      <p:sp>
        <p:nvSpPr>
          <p:cNvPr id="167" name="Google Shape;167;p17"/>
          <p:cNvSpPr txBox="1"/>
          <p:nvPr/>
        </p:nvSpPr>
        <p:spPr>
          <a:xfrm>
            <a:off x="1000125" y="3271837"/>
            <a:ext cx="45243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Node Reranker</a:t>
            </a:r>
            <a:r>
              <a:rPr b="1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Cross-Encoder menilai ulang relevansi dokumen tersebut dengan lebih teliti dan mengurutkannya kembali</a:t>
            </a:r>
            <a:endParaRPr/>
          </a:p>
        </p:txBody>
      </p:sp>
      <p:sp>
        <p:nvSpPr>
          <p:cNvPr id="168" name="Google Shape;168;p17"/>
          <p:cNvSpPr txBox="1"/>
          <p:nvPr/>
        </p:nvSpPr>
        <p:spPr>
          <a:xfrm>
            <a:off x="1000125" y="4416612"/>
            <a:ext cx="4524300" cy="13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Eksekusi Paralel: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Menghasilkan "Jawaban RAG" (menggunakan data)</a:t>
            </a:r>
            <a:r>
              <a:rPr lang="en-US" sz="15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"Jawaban LLM </a:t>
            </a:r>
            <a:r>
              <a:rPr lang="en-US" sz="15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Saja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"</a:t>
            </a:r>
            <a:r>
              <a:rPr lang="en-US" sz="15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, dan “Jawaban PEFT Finetuned Model”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secara bersamaan untuk perbandingan.</a:t>
            </a:r>
            <a:endParaRPr/>
          </a:p>
        </p:txBody>
      </p:sp>
      <p:sp>
        <p:nvSpPr>
          <p:cNvPr id="169" name="Google Shape;169;p17"/>
          <p:cNvSpPr txBox="1"/>
          <p:nvPr/>
        </p:nvSpPr>
        <p:spPr>
          <a:xfrm>
            <a:off x="1000125" y="5930987"/>
            <a:ext cx="45243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Update Memory</a:t>
            </a:r>
            <a:r>
              <a:rPr b="1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Sistem menyimpan interaksi terakhir ke dalam memori percakapan</a:t>
            </a:r>
            <a:endParaRPr/>
          </a:p>
        </p:txBody>
      </p:sp>
      <p:pic>
        <p:nvPicPr>
          <p:cNvPr descr="image.png" id="170" name="Google Shape;170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2566987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1" name="Google Shape;171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3290887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2" name="Google Shape;172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4435662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3" name="Google Shape;173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5950037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824425" y="223262"/>
            <a:ext cx="2179449" cy="67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069599" y="1434149"/>
            <a:ext cx="5294601" cy="4757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8"/>
          <p:cNvSpPr txBox="1"/>
          <p:nvPr/>
        </p:nvSpPr>
        <p:spPr>
          <a:xfrm>
            <a:off x="762000" y="381000"/>
            <a:ext cx="11401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Sampel </a:t>
            </a:r>
            <a:r>
              <a:rPr b="1" i="0" lang="en-US" sz="3600" u="none" cap="none" strike="noStrik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Hasil: RAG vs. LLM Murni</a:t>
            </a:r>
            <a:endParaRPr/>
          </a:p>
        </p:txBody>
      </p:sp>
      <p:sp>
        <p:nvSpPr>
          <p:cNvPr id="181" name="Google Shape;181;p18"/>
          <p:cNvSpPr/>
          <p:nvPr/>
        </p:nvSpPr>
        <p:spPr>
          <a:xfrm>
            <a:off x="571500" y="381000"/>
            <a:ext cx="57150" cy="561975"/>
          </a:xfrm>
          <a:prstGeom prst="rect">
            <a:avLst/>
          </a:prstGeom>
          <a:solidFill>
            <a:srgbClr val="00AA1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8"/>
          <p:cNvSpPr txBox="1"/>
          <p:nvPr/>
        </p:nvSpPr>
        <p:spPr>
          <a:xfrm>
            <a:off x="571500" y="1109075"/>
            <a:ext cx="52863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1550">
                <a:solidFill>
                  <a:srgbClr val="D4D4D4"/>
                </a:solidFill>
                <a:highlight>
                  <a:srgbClr val="131313"/>
                </a:highlight>
                <a:latin typeface="Inter"/>
                <a:ea typeface="Inter"/>
                <a:cs typeface="Inter"/>
                <a:sym typeface="Inter"/>
              </a:rPr>
              <a:t>Query</a:t>
            </a:r>
            <a:r>
              <a:rPr lang="en-US" sz="1550">
                <a:solidFill>
                  <a:srgbClr val="D4D4D4"/>
                </a:solidFill>
                <a:highlight>
                  <a:srgbClr val="131313"/>
                </a:highlight>
                <a:latin typeface="Inter"/>
                <a:ea typeface="Inter"/>
                <a:cs typeface="Inter"/>
                <a:sym typeface="Inter"/>
              </a:rPr>
              <a:t>: Rekomendasikan Jajanan</a:t>
            </a:r>
            <a:endParaRPr b="1" sz="2000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83" name="Google Shape;183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824425" y="223262"/>
            <a:ext cx="2179449" cy="67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8463" y="2653605"/>
            <a:ext cx="4710224" cy="36276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24526" y="1513675"/>
            <a:ext cx="4638101" cy="1139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898676" y="1423774"/>
            <a:ext cx="4089700" cy="2721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1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728187" y="4035225"/>
            <a:ext cx="5713274" cy="2483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365775" y="2959872"/>
            <a:ext cx="4638100" cy="19253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3" name="Google Shape;193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19"/>
          <p:cNvSpPr txBox="1"/>
          <p:nvPr/>
        </p:nvSpPr>
        <p:spPr>
          <a:xfrm>
            <a:off x="571500" y="1471012"/>
            <a:ext cx="110490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Evaluasi berdasarkan </a:t>
            </a:r>
            <a:r>
              <a:rPr lang="en-US" sz="15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10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query uji</a:t>
            </a:r>
            <a:r>
              <a:rPr lang="en-US" sz="15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menggunakan </a:t>
            </a:r>
            <a:r>
              <a:rPr lang="en-US" sz="15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similarity</a:t>
            </a:r>
            <a:r>
              <a:rPr lang="en-US" sz="15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score dan Bleu Score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sp>
        <p:nvSpPr>
          <p:cNvPr id="195" name="Google Shape;195;p19"/>
          <p:cNvSpPr txBox="1"/>
          <p:nvPr/>
        </p:nvSpPr>
        <p:spPr>
          <a:xfrm>
            <a:off x="762000" y="381000"/>
            <a:ext cx="11401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Evaluasi Kuantitatif</a:t>
            </a:r>
            <a:endParaRPr/>
          </a:p>
        </p:txBody>
      </p:sp>
      <p:sp>
        <p:nvSpPr>
          <p:cNvPr id="196" name="Google Shape;196;p19"/>
          <p:cNvSpPr/>
          <p:nvPr/>
        </p:nvSpPr>
        <p:spPr>
          <a:xfrm>
            <a:off x="571500" y="381000"/>
            <a:ext cx="57150" cy="561975"/>
          </a:xfrm>
          <a:prstGeom prst="rect">
            <a:avLst/>
          </a:prstGeom>
          <a:solidFill>
            <a:srgbClr val="00AA1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9"/>
          <p:cNvSpPr txBox="1"/>
          <p:nvPr/>
        </p:nvSpPr>
        <p:spPr>
          <a:xfrm>
            <a:off x="6459150" y="1979400"/>
            <a:ext cx="5331000" cy="42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Similarity Score (Biru): </a:t>
            </a:r>
            <a:r>
              <a:rPr lang="en-US" sz="1300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Menunjukkan relevansi dokumen yang diambil oleh retriever. Nilai stabil di kisaran 0.4–0.6, menandakan sistem konsisten menemukan konteks yang relevan untuk setiap query.</a:t>
            </a:r>
            <a:endParaRPr sz="1300">
              <a:solidFill>
                <a:srgbClr val="F1F5F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rgbClr val="F1F5F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BLEU Score (Oranye): </a:t>
            </a:r>
            <a:r>
              <a:rPr lang="en-US" sz="1300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Mengukur akurasi jawaban model dasar (base model). Skor terlihat sangat rendah (rata-rata di bawah 0.1), menunjukkan jawaban model belum sesuai dengan referensi standar.</a:t>
            </a:r>
            <a:endParaRPr sz="1300">
              <a:solidFill>
                <a:srgbClr val="F1F5F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rgbClr val="F1F5F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BLEU Score PEFT (Hijau): </a:t>
            </a:r>
            <a:r>
              <a:rPr lang="en-US" sz="1300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Mengukur akurasi setelah proses Fine-Tuning (PEFT). Terlihat peningkatan signifikan dan konsisten dibanding model dasar (rata-rata ~0.17), membuktikan bahwa PEFT berhasil memperbaiki kualitas jawaban.</a:t>
            </a:r>
            <a:endParaRPr sz="1300">
              <a:solidFill>
                <a:srgbClr val="F1F5F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98" name="Google Shape;198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824425" y="223262"/>
            <a:ext cx="2179449" cy="67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19" title="advanced_rag_score_comparison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8638" y="2098163"/>
            <a:ext cx="5400675" cy="4333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4" name="Google Shape;204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5" name="Google Shape;205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419225"/>
            <a:ext cx="5286375" cy="5057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6" name="Google Shape;206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1419225"/>
            <a:ext cx="5286375" cy="5057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7" name="Google Shape;207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66775" y="1714500"/>
            <a:ext cx="590550" cy="657225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0"/>
          <p:cNvSpPr txBox="1"/>
          <p:nvPr/>
        </p:nvSpPr>
        <p:spPr>
          <a:xfrm>
            <a:off x="866775" y="2562225"/>
            <a:ext cx="2179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Analisis Performa</a:t>
            </a:r>
            <a:endParaRPr/>
          </a:p>
        </p:txBody>
      </p:sp>
      <p:pic>
        <p:nvPicPr>
          <p:cNvPr descr="image.png" id="209" name="Google Shape;209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29400" y="1714500"/>
            <a:ext cx="628650" cy="657225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0"/>
          <p:cNvSpPr txBox="1"/>
          <p:nvPr/>
        </p:nvSpPr>
        <p:spPr>
          <a:xfrm>
            <a:off x="6502313" y="2590313"/>
            <a:ext cx="4950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Tantangan dan Pengembangan Masa Depan</a:t>
            </a:r>
            <a:endParaRPr/>
          </a:p>
        </p:txBody>
      </p:sp>
      <p:pic>
        <p:nvPicPr>
          <p:cNvPr descr="image.png" id="211" name="Google Shape;211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09650" y="1885950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20"/>
          <p:cNvSpPr txBox="1"/>
          <p:nvPr/>
        </p:nvSpPr>
        <p:spPr>
          <a:xfrm>
            <a:off x="1307475" y="3108600"/>
            <a:ext cx="42672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Reranking: </a:t>
            </a:r>
            <a:r>
              <a:rPr lang="en-US" sz="15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Berhasil memfilter dokumen yang "mirip tapi salah konteks", meningkatkan akurasi jawaban akhir secara signifikan.</a:t>
            </a:r>
            <a:endParaRPr/>
          </a:p>
        </p:txBody>
      </p:sp>
      <p:pic>
        <p:nvPicPr>
          <p:cNvPr descr="image.png" id="213" name="Google Shape;213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772275" y="1885950"/>
            <a:ext cx="3429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0"/>
          <p:cNvSpPr txBox="1"/>
          <p:nvPr/>
        </p:nvSpPr>
        <p:spPr>
          <a:xfrm>
            <a:off x="7058025" y="3086100"/>
            <a:ext cx="4267200" cy="13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Training yang membutuhkan resource banyak</a:t>
            </a:r>
            <a:r>
              <a:rPr b="1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Finetuning memperlukan resource komputasi yang besar dan eksperimen parameter yang banyak.</a:t>
            </a:r>
            <a:endParaRPr/>
          </a:p>
        </p:txBody>
      </p:sp>
      <p:sp>
        <p:nvSpPr>
          <p:cNvPr id="215" name="Google Shape;215;p20"/>
          <p:cNvSpPr txBox="1"/>
          <p:nvPr/>
        </p:nvSpPr>
        <p:spPr>
          <a:xfrm>
            <a:off x="7058025" y="4723600"/>
            <a:ext cx="4267200" cy="13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Dataset harus diformulakan dengan baik untuk finetuning</a:t>
            </a:r>
            <a:r>
              <a:rPr b="1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Preprocessing dataset harus dilakukan secara sesuai dengan kebutuhan finetuning dan hasil model setelah di training.</a:t>
            </a:r>
            <a:endParaRPr/>
          </a:p>
        </p:txBody>
      </p:sp>
      <p:sp>
        <p:nvSpPr>
          <p:cNvPr id="216" name="Google Shape;216;p20"/>
          <p:cNvSpPr txBox="1"/>
          <p:nvPr/>
        </p:nvSpPr>
        <p:spPr>
          <a:xfrm>
            <a:off x="762000" y="381000"/>
            <a:ext cx="11401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Diskusi</a:t>
            </a:r>
            <a:endParaRPr/>
          </a:p>
        </p:txBody>
      </p:sp>
      <p:sp>
        <p:nvSpPr>
          <p:cNvPr id="217" name="Google Shape;217;p20"/>
          <p:cNvSpPr/>
          <p:nvPr/>
        </p:nvSpPr>
        <p:spPr>
          <a:xfrm>
            <a:off x="571500" y="381000"/>
            <a:ext cx="57150" cy="561975"/>
          </a:xfrm>
          <a:prstGeom prst="rect">
            <a:avLst/>
          </a:prstGeom>
          <a:solidFill>
            <a:srgbClr val="00AA1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18" name="Google Shape;218;p2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069350" y="3086100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9" name="Google Shape;219;p2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069350" y="4291200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0" name="Google Shape;220;p2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819900" y="3105150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1" name="Google Shape;221;p2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819900" y="4742650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20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9824425" y="223262"/>
            <a:ext cx="2179449" cy="670300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20"/>
          <p:cNvSpPr txBox="1"/>
          <p:nvPr/>
        </p:nvSpPr>
        <p:spPr>
          <a:xfrm>
            <a:off x="1307475" y="4291200"/>
            <a:ext cx="4267200" cy="13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Model Finetuned </a:t>
            </a:r>
            <a:r>
              <a:rPr b="1" lang="en-US" sz="15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Masih Perlu Dikembangkan</a:t>
            </a:r>
            <a:r>
              <a:rPr b="1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Model PEFT Finetuned memberikan hasil yang masih jauh dari kata bagus dan perlu dikembangkan lebih lanjut.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8" name="Google Shape;228;p21"/>
          <p:cNvPicPr preferRelativeResize="0"/>
          <p:nvPr/>
        </p:nvPicPr>
        <p:blipFill rotWithShape="1">
          <a:blip r:embed="rId3">
            <a:alphaModFix/>
          </a:blip>
          <a:srcRect b="49997" l="0" r="0" t="0"/>
          <a:stretch/>
        </p:blipFill>
        <p:spPr>
          <a:xfrm>
            <a:off x="142800" y="2867475"/>
            <a:ext cx="5715000" cy="1454500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21"/>
          <p:cNvSpPr txBox="1"/>
          <p:nvPr/>
        </p:nvSpPr>
        <p:spPr>
          <a:xfrm>
            <a:off x="484376" y="2663552"/>
            <a:ext cx="51807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Terima Kasih!</a:t>
            </a:r>
            <a:endParaRPr/>
          </a:p>
        </p:txBody>
      </p:sp>
      <p:pic>
        <p:nvPicPr>
          <p:cNvPr descr="Beautify this slide" id="230" name="Google Shape;230;p21"/>
          <p:cNvPicPr preferRelativeResize="0"/>
          <p:nvPr/>
        </p:nvPicPr>
        <p:blipFill rotWithShape="1">
          <a:blip r:embed="rId4">
            <a:alphaModFix/>
          </a:blip>
          <a:srcRect b="10194" l="48734" r="851" t="9971"/>
          <a:stretch/>
        </p:blipFill>
        <p:spPr>
          <a:xfrm>
            <a:off x="5857800" y="712900"/>
            <a:ext cx="6146082" cy="5432222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1"/>
          <p:cNvSpPr txBox="1"/>
          <p:nvPr/>
        </p:nvSpPr>
        <p:spPr>
          <a:xfrm>
            <a:off x="1574725" y="3602500"/>
            <a:ext cx="3000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800">
                <a:solidFill>
                  <a:srgbClr val="00AA13"/>
                </a:solidFill>
                <a:latin typeface="Inter"/>
                <a:ea typeface="Inter"/>
                <a:cs typeface="Inter"/>
                <a:sym typeface="Inter"/>
              </a:rPr>
              <a:t>Demo</a:t>
            </a:r>
            <a:endParaRPr/>
          </a:p>
        </p:txBody>
      </p:sp>
      <p:pic>
        <p:nvPicPr>
          <p:cNvPr id="232" name="Google Shape;232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824425" y="223262"/>
            <a:ext cx="2179449" cy="670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