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jp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9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11" Type="http://schemas.openxmlformats.org/officeDocument/2006/relationships/image" Target="../media/image2.png"/><Relationship Id="rId10" Type="http://schemas.openxmlformats.org/officeDocument/2006/relationships/image" Target="../media/image17.png"/><Relationship Id="rId9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10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37.png"/><Relationship Id="rId6" Type="http://schemas.openxmlformats.org/officeDocument/2006/relationships/image" Target="../media/image11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8.jp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52425" y="893546"/>
            <a:ext cx="55506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Chatbot </a:t>
            </a:r>
            <a:r>
              <a:rPr b="1" i="0" lang="en-US" sz="4800" u="none" cap="none" strike="noStrike">
                <a:solidFill>
                  <a:srgbClr val="00AA13"/>
                </a:solidFill>
                <a:latin typeface="Inter"/>
                <a:ea typeface="Inter"/>
                <a:cs typeface="Inter"/>
                <a:sym typeface="Inter"/>
              </a:rPr>
              <a:t>RAG</a:t>
            </a:r>
            <a:r>
              <a:rPr b="1" i="0" lang="en-US" sz="4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48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Rekomendasi Kuliner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52425" y="3392363"/>
            <a:ext cx="528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Rekomendasi kuliner menggunakan Retrieval-Augmented Generation pada Dataset GoFood.</a:t>
            </a:r>
            <a:endParaRPr/>
          </a:p>
        </p:txBody>
      </p:sp>
      <p:pic>
        <p:nvPicPr>
          <p:cNvPr descr="Beautify this slide" id="87" name="Google Shape;87;p13"/>
          <p:cNvPicPr preferRelativeResize="0"/>
          <p:nvPr/>
        </p:nvPicPr>
        <p:blipFill rotWithShape="1">
          <a:blip r:embed="rId4">
            <a:alphaModFix/>
          </a:blip>
          <a:srcRect b="10194" l="48734" r="851" t="9971"/>
          <a:stretch/>
        </p:blipFill>
        <p:spPr>
          <a:xfrm>
            <a:off x="5857800" y="712900"/>
            <a:ext cx="6146082" cy="543222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52425" y="4467488"/>
            <a:ext cx="52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Muhammad Ridho Waradana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6026241018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452425" y="5149488"/>
            <a:ext cx="528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NLPLLM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S2 Sistem Informasi</a:t>
            </a:r>
            <a:b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Insititut Teknologi Sepuluh Nopember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19225"/>
            <a:ext cx="5334000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19225"/>
            <a:ext cx="5334000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714500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66775" y="2562225"/>
            <a:ext cx="956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Masalah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124200"/>
            <a:ext cx="4743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Pengguna sering mengalami "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Banyak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Pilihan" (Choice Overload) dengan ribuan merchant kuliner. Pencarian kata kunci biasa sering gagal menangkap keinginan spesifik seperti "ayam pedas di bawah 20rb di Jakarta" atau "camilan sehat tengah malam".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1714500"/>
            <a:ext cx="5143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581775" y="2562225"/>
            <a:ext cx="7013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Solusi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81775" y="3124200"/>
            <a:ext cx="4743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Sebuah Chatbot berbasis LLM yang menggunakan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RAG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(Retrieval-Augmented Generation) untuk memahami bahasa alami dan mengambil data menu real-time serta sadar konteks dari basis data GoFood.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18859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188595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3810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Latar Belakang &amp; Masalah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31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000125" y="2286000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Sumber: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gofood_dataset.csv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00125" y="27146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Volume: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Memproses ~5,000 baris data kuliner.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00125" y="3133725"/>
            <a:ext cx="485775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Fitur Utama: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00125" y="469582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Pra-pemrosesan: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Data dikelompokkan berdasarkan Merchant/Kategori untuk membuat "Dokumen" kaya informasi untuk vector embedding.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428750" y="3438525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Nama Merchant &amp; Area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428750" y="3857625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Kategori Makanan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428750" y="4276725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Daftar Produk &amp; Harga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3810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Dataset GoFood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3050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336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1527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7148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0625" y="34575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0625" y="38766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0625" y="42957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1525" y="2897398"/>
            <a:ext cx="4924426" cy="2041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1513" y="5034750"/>
            <a:ext cx="492442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43021" y="984946"/>
            <a:ext cx="7020396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1212"/>
            <a:ext cx="35242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081212"/>
            <a:ext cx="35242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081212"/>
            <a:ext cx="35242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376487"/>
            <a:ext cx="6667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66775" y="3224212"/>
            <a:ext cx="11721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Orkestrasi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66775" y="3786187"/>
            <a:ext cx="2933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LangChain &amp; LangGraph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digunakan untuk membangun alur kerja graph yang stateful, mengatur aliran antara node retriever, router, dan LLM.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9150" y="2376487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4629150" y="3224212"/>
            <a:ext cx="173302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Model (Ollama)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629150" y="3786187"/>
            <a:ext cx="293370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LLM: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gpt-oss:120b-cloud untuk generasi teks berkualitas tinggi.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Embeddings: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all-minilm:22m untuk pencarian semantik lokal yang cepat.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91525" y="2376487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8391525" y="3224212"/>
            <a:ext cx="9518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Evaluasi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391525" y="3786187"/>
            <a:ext cx="2933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Ragas &amp; Custom Metrics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digunakan untuk menghitung skor BLEU dan Cosine Similarity guna memvalidasi kualitas rekomendasi.</a:t>
            </a:r>
            <a:endParaRPr/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2547937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72025" y="254793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34400" y="25479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762000" y="3810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Metodologi &amp; Tech Stack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62000" y="571500"/>
            <a:ext cx="50006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Arsitektur LangGraph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19002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 menggunakan alur kerja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StateGraph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00125" y="2547937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Node Retriever: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Mengambil konteks restoran yang relevan berdasarkan query pengguna.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000125" y="3271837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Router: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Mengarahkan aliran untuk eksekusi paralel.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00125" y="3995737"/>
            <a:ext cx="4524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Eksekusi Paralel: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Menghasilkan "Jawaban RAG" (menggunakan data) dan "Jawaban LLM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Saja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 secara bersamaan untuk perbandingan.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000125" y="5024437"/>
            <a:ext cx="4524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Umpan Balik: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Sistem menilai kualitas retrieval secara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langsung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669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908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0147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0434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4450" y="1323963"/>
            <a:ext cx="36195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24150"/>
            <a:ext cx="52863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6334125" y="2505075"/>
            <a:ext cx="5550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Komponen Logika Utama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334125" y="3981450"/>
            <a:ext cx="5286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In-Memory Vector Store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digunakan untuk retrieval latensi rendah. Prompt engineering memastikan LLM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bertindak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sebagai asisten kuliner yang membantu, memformat harga dan item menu dengan jelas.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62000" y="3810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Implementasi Sistem Embed</a:t>
            </a:r>
            <a:r>
              <a:rPr b="1" lang="en-US" sz="36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ding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800" y="2206886"/>
            <a:ext cx="5857874" cy="3006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3137"/>
            <a:ext cx="533400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43137"/>
            <a:ext cx="533400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538412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866775" y="3386137"/>
            <a:ext cx="193867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Cosine Similarity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66775" y="3948112"/>
            <a:ext cx="4743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Mengukur kedekatan semantik antara query pengguna dan dokumen yang diambil (retrieved). Skor jarak yang lebih rendah menunjukkan relevansi restoran yang ditemukan lebih tinggi.</a:t>
            </a:r>
            <a:endParaRPr/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2538412"/>
            <a:ext cx="6667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6581775" y="3386137"/>
            <a:ext cx="132219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BLEU Score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581775" y="3948112"/>
            <a:ext cx="4743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Digunakan untuk mengevaluasi kualitas teks yang dihasilkan dengan membandingkan respons RAG terhadap potongan teks referensi dari dataset. Memastikan konsistensi fakta.</a:t>
            </a:r>
            <a:endParaRPr/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27098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70986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762000" y="3810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Metrik Evaluasi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/>
          <p:nvPr/>
        </p:nvSpPr>
        <p:spPr>
          <a:xfrm>
            <a:off x="762000" y="3810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Sampel </a:t>
            </a: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Hasil: RAG vs. LLM Murni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71500" y="1109075"/>
            <a:ext cx="5286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550">
                <a:solidFill>
                  <a:srgbClr val="D4D4D4"/>
                </a:solidFill>
                <a:highlight>
                  <a:srgbClr val="131313"/>
                </a:highlight>
                <a:latin typeface="Inter"/>
                <a:ea typeface="Inter"/>
                <a:cs typeface="Inter"/>
                <a:sym typeface="Inter"/>
              </a:rPr>
              <a:t>Query</a:t>
            </a:r>
            <a:r>
              <a:rPr lang="en-US" sz="1550">
                <a:solidFill>
                  <a:srgbClr val="D4D4D4"/>
                </a:solidFill>
                <a:highlight>
                  <a:srgbClr val="131313"/>
                </a:highlight>
                <a:latin typeface="Inter"/>
                <a:ea typeface="Inter"/>
                <a:cs typeface="Inter"/>
                <a:sym typeface="Inter"/>
              </a:rPr>
              <a:t>: Saya mencari restoran yang menjual burger</a:t>
            </a:r>
            <a:endParaRPr b="1" sz="2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3" name="Google Shape;2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975" y="1588725"/>
            <a:ext cx="5772951" cy="287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4451" y="1588713"/>
            <a:ext cx="5728925" cy="1924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 rotWithShape="1">
          <a:blip r:embed="rId5">
            <a:alphaModFix/>
          </a:blip>
          <a:srcRect b="16331" l="0" r="0" t="0"/>
          <a:stretch/>
        </p:blipFill>
        <p:spPr>
          <a:xfrm>
            <a:off x="1775400" y="4280024"/>
            <a:ext cx="5964025" cy="23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571500" y="147101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Evaluasi berdasarkan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query uji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menggunakan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similarity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score dan Bleu Score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62000" y="3810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Evaluasi Kuantitatif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38" y="1916913"/>
            <a:ext cx="5400675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6459150" y="1979400"/>
            <a:ext cx="53310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Similarity Score (Biru):</a:t>
            </a:r>
            <a:r>
              <a:rPr lang="en-US" sz="15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Menunjukkan tingkat relevansi dokumen yang diambil oleh sistem </a:t>
            </a:r>
            <a:r>
              <a:rPr i="1" lang="en-US" sz="15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retriever</a:t>
            </a:r>
            <a:r>
              <a:rPr lang="en-US" sz="15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. Nilainya terlihat </a:t>
            </a:r>
            <a:r>
              <a:rPr b="1" lang="en-US" sz="15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stabil dan konsisten</a:t>
            </a:r>
            <a:r>
              <a:rPr lang="en-US" sz="15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di kisaran rata-rata 0.5–0.6, menandakan sistem secara andal mampu menemukan konteks data restoran yang relevan untuk setiap pertanyaan.</a:t>
            </a:r>
            <a:endParaRPr sz="15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BLEU Score (Oranye):</a:t>
            </a:r>
            <a:r>
              <a:rPr lang="en-US" sz="15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Mengukur kesamaan kata per kata antara jawaban LLM dengan kunci jawaban referensi. Nilainya sangat </a:t>
            </a:r>
            <a:r>
              <a:rPr b="1" lang="en-US" sz="15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fluktuatif</a:t>
            </a:r>
            <a:r>
              <a:rPr lang="en-US" sz="15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; beberapa query (seperti Q1, Q5, Q7, Q10) mencapai skor mendekati 1.0 (sangat akurat/identik), sementara query lainnya sangat rendah.</a:t>
            </a:r>
            <a:endParaRPr sz="15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7" name="Google Shape;2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19225"/>
            <a:ext cx="5286375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19225"/>
            <a:ext cx="5286375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714500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866775" y="2562225"/>
            <a:ext cx="11270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Kelebihan</a:t>
            </a:r>
            <a:endParaRPr/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1714500"/>
            <a:ext cx="6286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6629400" y="2562225"/>
            <a:ext cx="32300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Pengembangan Masa Depan</a:t>
            </a:r>
            <a:endParaRPr/>
          </a:p>
        </p:txBody>
      </p:sp>
      <p:pic>
        <p:nvPicPr>
          <p:cNvPr descr="image.png" id="239" name="Google Shape;23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18859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1295400" y="3086100"/>
            <a:ext cx="4267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Konteks sesuai data: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Jawaban didasarkan pada data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Gofood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(Harga/Menu).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295400" y="3814875"/>
            <a:ext cx="4267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Tanpa Halusinasi: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Sistem menyatakan "Produk tidak tersedia" jika tidak ditemukan di CSV.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295400" y="4543650"/>
            <a:ext cx="4267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Fleksibel: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Dapat dikembangkan dengan memfilter berdasarkan area atau kategori.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18859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7058025" y="3086100"/>
            <a:ext cx="4267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Pencarian </a:t>
            </a:r>
            <a:r>
              <a:rPr b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Hybrid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Menggabungkan pencarian kata kunci dengan pencarian vektor semantik untuk presisi yang lebih baik.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058025" y="4114800"/>
            <a:ext cx="4267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Chat Memory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Implementasi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history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agar pengguna bisa bertanya lanjutan (contoh: "Apakah buka sekarang?").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7058025" y="514350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Integrasi UI: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Deploy sebagai bot WhatsApp atau Telegram.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762000" y="3810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Diskusi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31051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38339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5627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19900" y="31051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19900" y="41338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19900" y="51625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49997" l="0" r="0" t="0"/>
          <a:stretch/>
        </p:blipFill>
        <p:spPr>
          <a:xfrm>
            <a:off x="142800" y="2867475"/>
            <a:ext cx="5715000" cy="14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484376" y="2663552"/>
            <a:ext cx="51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Terima Kasih!</a:t>
            </a:r>
            <a:endParaRPr/>
          </a:p>
        </p:txBody>
      </p:sp>
      <p:pic>
        <p:nvPicPr>
          <p:cNvPr descr="Beautify this slide" id="262" name="Google Shape;262;p23"/>
          <p:cNvPicPr preferRelativeResize="0"/>
          <p:nvPr/>
        </p:nvPicPr>
        <p:blipFill rotWithShape="1">
          <a:blip r:embed="rId4">
            <a:alphaModFix/>
          </a:blip>
          <a:srcRect b="10194" l="48734" r="851" t="9971"/>
          <a:stretch/>
        </p:blipFill>
        <p:spPr>
          <a:xfrm>
            <a:off x="5857800" y="712900"/>
            <a:ext cx="6146082" cy="543222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1574725" y="36025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AA13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/>
          </a:p>
        </p:txBody>
      </p:sp>
      <p:pic>
        <p:nvPicPr>
          <p:cNvPr id="264" name="Google Shape;26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