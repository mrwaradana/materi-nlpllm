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62" r:id="rId5"/>
    <p:sldId id="269" r:id="rId6"/>
    <p:sldId id="265" r:id="rId7"/>
    <p:sldId id="263" r:id="rId8"/>
    <p:sldId id="270" r:id="rId9"/>
    <p:sldId id="266" r:id="rId10"/>
    <p:sldId id="264" r:id="rId11"/>
    <p:sldId id="271" r:id="rId12"/>
    <p:sldId id="268" r:id="rId13"/>
    <p:sldId id="267" r:id="rId14"/>
    <p:sldId id="274" r:id="rId15"/>
    <p:sldId id="273" r:id="rId16"/>
    <p:sldId id="275" r:id="rId17"/>
    <p:sldId id="276" r:id="rId18"/>
    <p:sldId id="272" r:id="rId19"/>
    <p:sldId id="258" r:id="rId20"/>
    <p:sldId id="278" r:id="rId21"/>
    <p:sldId id="259" r:id="rId22"/>
    <p:sldId id="260" r:id="rId23"/>
    <p:sldId id="261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25B3-9D24-1713-832A-2A90BC5F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3DC99-F156-232B-B2F4-F136FAB20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1B90-8DBD-63EB-48D0-AC95EF3D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11690-46A3-9344-F30F-D186915A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C9BB2-94A2-3C79-8F79-30348ED6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449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2BD8-1C5D-5B70-FFEF-C9D3F4BD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9030-22A1-17F3-17AB-CC981BFED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08F2C-0278-4FC5-475C-EDBF63D0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C7A6B-C1F3-926C-FBF4-1622116F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0F029-24B7-F887-5672-12F27F0E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942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417F-C415-7CD4-E88B-5FD117D7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19C0E-2D7C-8007-2946-A7092B367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5FCA-5A63-04E9-DB39-DAF2DE6C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5A83F-BB11-37FA-AE0E-B215C437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C82AE-9ECC-DBED-8016-8F597289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659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ACD-F186-E39F-7A5E-8882848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2FFF0-7865-FDD9-C807-390CEDAD0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2FF81-2FF6-C82E-2672-AE4836504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D37A5-550A-0CBB-35F1-1E5B3C01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3F3C3-A541-48AA-F702-B8320025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E1FD7-B842-9369-54CA-28F60C1F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588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C47C-59E4-33CD-567B-C08CC5D2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8158-D6DB-4F31-8B14-840CC158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80B73-CE4B-5DA2-582C-5E13E75FA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A6E5C-9616-D5A1-6C6E-8F71E3B29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A57F2-2F5E-492F-C72F-DDD11D14B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F29FE-AF86-30C0-C030-14D6B26D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7E7B7-BC18-4943-61B6-08CCFA02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08B66-FC79-9EA1-E500-F64DFEB0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64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502-8A6D-600E-638E-21087D43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82927-C86C-4859-B166-7CCA4935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F427D-A429-B744-5368-84CE65ED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3D2A3-506E-C5C6-F31D-8CDD7250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157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1C795-955E-AB13-35C3-864A423E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329C3-27B2-2FBE-B99F-AE940E52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EE8E7-E918-2DFF-FCD8-AA50688D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546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CCFF-492C-4AB1-9CA4-3D8C6AFB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4E28E-7BD5-CFED-85CC-489C12D6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184A3-193A-3484-1B64-B96C17504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73476-9AE1-E0CA-B879-B52D3EBA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F8114-2B6F-8C4C-5A4C-8643A7B5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7BDFD-429A-AB3D-1BE0-D7953386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273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C198-CBF2-2502-01C7-A1A77B0E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63B2A-34EF-E5E4-E784-72503BA77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38C77-8D33-D031-2281-EFE5352E6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E917E-86C3-DD2B-7AD9-1D7FEE39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88DA3-9C62-089B-1F50-A388F24A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6A67A-8026-FC27-5171-AB56532B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328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E9DC-2162-4B3B-6D55-895333AE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2C8FD-35D4-C9F7-FDAB-743765E8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375FB-F42F-C374-6F76-EBB0B436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AC317-CB13-111E-A7D5-7BAB8A70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B748-1EA7-8980-7120-FC38E3D5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055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8ED8E-47E1-FDFA-1F05-DA1A8D372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20CD4-465C-B653-2475-8B0316891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199-1C3B-6118-D78A-A17B526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2F1B-B137-6064-8FFD-F692B150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13F81-2314-BA80-B8A2-2086E4E3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6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88520-0495-1DB3-48EE-116E0A61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66B74-EAE1-3F47-11A1-1D3181BD9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E266-C27C-69CE-D5FA-45EEEA807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8D0A1-8332-43A6-94CD-3B6C571A9EEF}" type="datetimeFigureOut">
              <a:rPr lang="en-ID" smtClean="0"/>
              <a:t>12/09/2025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0BAB-93B9-639D-1D49-353FCE13E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5E7D4-B589-B860-3249-2C1F9DC36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4A041-8FC8-4A81-8E99-C444B0C25B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129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65E4-9E32-259C-FAEC-C42FEE6C6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Dialog Management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347A9-7585-2F37-7D04-64DC6ED3B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atjahyanto@gmail.com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999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1A77-A08F-3354-B5A8-63A0652B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Dialog Management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6DDF-B958-C000-3795-43F9384AF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21358" cy="4351338"/>
          </a:xfrm>
        </p:spPr>
        <p:txBody>
          <a:bodyPr>
            <a:normAutofit/>
          </a:bodyPr>
          <a:lstStyle/>
          <a:p>
            <a:r>
              <a:rPr lang="en-US" sz="2400"/>
              <a:t>Managing </a:t>
            </a:r>
            <a:r>
              <a:rPr lang="en-US" sz="2400" dirty="0"/>
              <a:t>the conversation between the user and the chatbot. </a:t>
            </a:r>
          </a:p>
          <a:p>
            <a:r>
              <a:rPr lang="en-US" sz="2400" dirty="0"/>
              <a:t>To keep the conversation </a:t>
            </a:r>
            <a:r>
              <a:rPr lang="en-US" sz="2400" b="1" dirty="0"/>
              <a:t>relevant</a:t>
            </a:r>
            <a:r>
              <a:rPr lang="en-US" sz="2400" dirty="0"/>
              <a:t>, </a:t>
            </a:r>
            <a:r>
              <a:rPr lang="en-US" sz="2400" b="1" dirty="0"/>
              <a:t>logical</a:t>
            </a:r>
            <a:r>
              <a:rPr lang="en-US" sz="2400" dirty="0"/>
              <a:t>, </a:t>
            </a:r>
            <a:r>
              <a:rPr lang="en-US" sz="2400" b="1" dirty="0"/>
              <a:t>contextual</a:t>
            </a:r>
            <a:r>
              <a:rPr lang="en-US" sz="2400" dirty="0"/>
              <a:t>, and directed towards completing the user's </a:t>
            </a:r>
            <a:r>
              <a:rPr lang="en-US" sz="2400"/>
              <a:t>goals.</a:t>
            </a:r>
          </a:p>
          <a:p>
            <a:endParaRPr lang="en-US" sz="2400"/>
          </a:p>
          <a:p>
            <a:r>
              <a:rPr lang="en-US" sz="2400"/>
              <a:t>Konsep dialog management:</a:t>
            </a:r>
            <a:endParaRPr lang="en-ID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9E3664-2696-BF6A-A9A8-2C090C52E2B6}"/>
              </a:ext>
            </a:extLst>
          </p:cNvPr>
          <p:cNvGrpSpPr/>
          <p:nvPr/>
        </p:nvGrpSpPr>
        <p:grpSpPr>
          <a:xfrm>
            <a:off x="6189098" y="2884488"/>
            <a:ext cx="5783580" cy="3292475"/>
            <a:chOff x="1577340" y="3314700"/>
            <a:chExt cx="5783580" cy="3292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76A5D-D721-2871-B4EC-32C5217E1F9D}"/>
                </a:ext>
              </a:extLst>
            </p:cNvPr>
            <p:cNvSpPr/>
            <p:nvPr/>
          </p:nvSpPr>
          <p:spPr>
            <a:xfrm>
              <a:off x="1577340" y="3314700"/>
              <a:ext cx="5783580" cy="32924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608518-D356-D053-69F0-628077B32052}"/>
                </a:ext>
              </a:extLst>
            </p:cNvPr>
            <p:cNvSpPr/>
            <p:nvPr/>
          </p:nvSpPr>
          <p:spPr>
            <a:xfrm>
              <a:off x="2024104" y="3927247"/>
              <a:ext cx="2262146" cy="113624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chemeClr val="tx1"/>
                  </a:solidFill>
                </a:rPr>
                <a:t>Dialog State Tracking</a:t>
              </a:r>
              <a:endParaRPr lang="en-ID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8480A8-0F14-E525-C07C-4EDBA2EB38F1}"/>
                </a:ext>
              </a:extLst>
            </p:cNvPr>
            <p:cNvSpPr/>
            <p:nvPr/>
          </p:nvSpPr>
          <p:spPr>
            <a:xfrm>
              <a:off x="4862554" y="3927247"/>
              <a:ext cx="2178326" cy="113624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Dialog Policy (Decision Making)</a:t>
              </a:r>
              <a:endParaRPr lang="en-ID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CF2F93-8AAB-1794-7248-F9377984C89D}"/>
                </a:ext>
              </a:extLst>
            </p:cNvPr>
            <p:cNvSpPr/>
            <p:nvPr/>
          </p:nvSpPr>
          <p:spPr>
            <a:xfrm>
              <a:off x="2024104" y="5300276"/>
              <a:ext cx="2262146" cy="113624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Response</a:t>
              </a: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Generation</a:t>
              </a:r>
              <a:endParaRPr lang="en-ID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B72D5E-19FC-D81B-4DF5-D93A116D4EB9}"/>
                </a:ext>
              </a:extLst>
            </p:cNvPr>
            <p:cNvSpPr/>
            <p:nvPr/>
          </p:nvSpPr>
          <p:spPr>
            <a:xfrm>
              <a:off x="4862554" y="5301070"/>
              <a:ext cx="2178326" cy="113624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Context Handling</a:t>
              </a:r>
              <a:endParaRPr lang="en-ID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6AC46A-C932-6CDF-75E8-541C59576168}"/>
                </a:ext>
              </a:extLst>
            </p:cNvPr>
            <p:cNvSpPr txBox="1"/>
            <p:nvPr/>
          </p:nvSpPr>
          <p:spPr>
            <a:xfrm>
              <a:off x="2205990" y="3347561"/>
              <a:ext cx="32055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Dialog Management</a:t>
              </a:r>
              <a:endParaRPr lang="en-ID" sz="2800" b="1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2366C97-6C5F-F0A4-5DE6-FB1960050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479" y="681037"/>
            <a:ext cx="3336295" cy="19616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D43285-1D1A-B87A-B6CB-594AA79010A2}"/>
              </a:ext>
            </a:extLst>
          </p:cNvPr>
          <p:cNvSpPr txBox="1"/>
          <p:nvPr/>
        </p:nvSpPr>
        <p:spPr>
          <a:xfrm>
            <a:off x="1590261" y="4633278"/>
            <a:ext cx="3717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Slot filling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Context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530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5318-BFB1-CFD7-869D-72D5FAD6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dialog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2EE8-E1DB-6578-E6C7-2EA48A74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8965" cy="4351338"/>
          </a:xfrm>
        </p:spPr>
        <p:txBody>
          <a:bodyPr>
            <a:normAutofit fontScale="92500" lnSpcReduction="10000"/>
          </a:bodyPr>
          <a:lstStyle/>
          <a:p>
            <a:r>
              <a:rPr lang="en-ID" sz="1600" b="1"/>
              <a:t>State Machine </a:t>
            </a:r>
          </a:p>
          <a:p>
            <a:pPr lvl="1"/>
            <a:r>
              <a:rPr lang="en-ID" sz="1400"/>
              <a:t>Pendekatan di mana percakapan dimodelkan seperti diagram alur dengan sejumlah state (keadaan) yang mewakili langkah atau kondisi tertentu dalam dialog. </a:t>
            </a:r>
          </a:p>
          <a:p>
            <a:pPr lvl="1"/>
            <a:r>
              <a:rPr lang="en-ID" sz="1400"/>
              <a:t>Transisi dari satu state ke state lain terjadi berdasarkan input pengguna. </a:t>
            </a:r>
          </a:p>
          <a:p>
            <a:pPr lvl="1"/>
            <a:r>
              <a:rPr lang="en-ID" sz="1400"/>
              <a:t>Contoh pada chatbot pemesanan tiket terdapat state "menanyakan tujuan", lalu berpindah ke state "menanyakan tanggal", kemudian ke state "konfirmasi". </a:t>
            </a:r>
          </a:p>
          <a:p>
            <a:pPr lvl="1"/>
            <a:r>
              <a:rPr lang="en-ID" sz="1400"/>
              <a:t>Sederhana dan terstruktur.</a:t>
            </a:r>
          </a:p>
          <a:p>
            <a:r>
              <a:rPr lang="en-ID" sz="1600" b="1"/>
              <a:t>Slot Filling </a:t>
            </a:r>
          </a:p>
          <a:p>
            <a:pPr lvl="1"/>
            <a:r>
              <a:rPr lang="en-ID" sz="1400"/>
              <a:t>Chatbot mengumpulkan informasi atau slot yang dibutuhkan untuk menyelesaikan suatu tugas. Slot diisi dengan nilai yang didapat dari input pengguna. </a:t>
            </a:r>
          </a:p>
          <a:p>
            <a:pPr lvl="1"/>
            <a:r>
              <a:rPr lang="en-ID" sz="1400"/>
              <a:t>Contoh, pada pemesanan tiket diperlukan slot [tujuan, tanggal, jumlah penumpang]. </a:t>
            </a:r>
          </a:p>
          <a:p>
            <a:pPr lvl="1"/>
            <a:r>
              <a:rPr lang="en-ID" sz="1400"/>
              <a:t>Bot akan terus bertanya hingga semua slot terisi, kemudian melanjutkan ke tahap eksekusi memesan tiket.</a:t>
            </a:r>
          </a:p>
          <a:p>
            <a:r>
              <a:rPr lang="en-ID" sz="1600" b="1"/>
              <a:t>Context Tracking </a:t>
            </a:r>
          </a:p>
          <a:p>
            <a:pPr lvl="1"/>
            <a:r>
              <a:rPr lang="en-ID" sz="1400"/>
              <a:t>Chatbot mampu untuk mengingat dan menggunakan konteks dari percakapan sebelumnya agar percakapan lebih alami. </a:t>
            </a:r>
          </a:p>
          <a:p>
            <a:pPr lvl="1"/>
            <a:r>
              <a:rPr lang="en-ID" sz="1400"/>
              <a:t>Konteks bisa berupa informasi slot yang sudah diisi, ntent yang pernah diungkapkan, atau bahkan percakapan di sesi sebelumnya. </a:t>
            </a:r>
          </a:p>
          <a:p>
            <a:pPr lvl="1"/>
            <a:r>
              <a:rPr lang="en-ID" sz="1400"/>
              <a:t>Contoh jika pengguna berkata "pesan tiket ke Jakarta", lalu setelahnya berkata "besok", sistem memahami bahwa "besok" adalah konteks dari "tanggal keberangkatan" untuk tiket ke Jakarta.</a:t>
            </a:r>
          </a:p>
        </p:txBody>
      </p:sp>
      <p:pic>
        <p:nvPicPr>
          <p:cNvPr id="1026" name="Picture 2" descr="Chatbot Concept. Man Communicating with ...">
            <a:extLst>
              <a:ext uri="{FF2B5EF4-FFF2-40B4-BE49-F238E27FC236}">
                <a16:creationId xmlns:a16="http://schemas.microsoft.com/office/drawing/2014/main" id="{A1BA3277-9D8B-8958-F645-FBE9C58B0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165" y="2069203"/>
            <a:ext cx="3198536" cy="319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90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EE3E-DEC5-A94D-C3AC-69D442F2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4078" cy="1325563"/>
          </a:xfrm>
        </p:spPr>
        <p:txBody>
          <a:bodyPr/>
          <a:lstStyle/>
          <a:p>
            <a:r>
              <a:rPr lang="en-ID"/>
              <a:t>Konsep Basic Dialog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BAB9-CBA3-35C0-DE25-03CDB709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8400" cy="4351338"/>
          </a:xfrm>
        </p:spPr>
        <p:txBody>
          <a:bodyPr>
            <a:normAutofit/>
          </a:bodyPr>
          <a:lstStyle/>
          <a:p>
            <a:r>
              <a:rPr lang="en-ID" b="1"/>
              <a:t>State Machine</a:t>
            </a:r>
          </a:p>
          <a:p>
            <a:pPr lvl="1"/>
            <a:r>
              <a:rPr lang="en-ID"/>
              <a:t>Percakapan dipandang sebagai serangkaian state (keadaan).</a:t>
            </a:r>
          </a:p>
          <a:p>
            <a:pPr lvl="1"/>
            <a:r>
              <a:rPr lang="en-ID"/>
              <a:t>Setiap input dari user dapat memicu chatbot berpindah ke state tertentu.</a:t>
            </a:r>
          </a:p>
          <a:p>
            <a:pPr lvl="1"/>
            <a:r>
              <a:rPr lang="en-ID"/>
              <a:t>Cocok untuk percakapan sederhana dengan alur yang terstruktur.</a:t>
            </a:r>
          </a:p>
          <a:p>
            <a:pPr lvl="1"/>
            <a:r>
              <a:rPr lang="en-ID"/>
              <a:t>Contoh: pemesanan tiket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CC400-8CF2-3899-E2C3-A4A5091A5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293" y="262297"/>
            <a:ext cx="2033002" cy="182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78BB00-4C00-2676-7976-7204C28FCBAE}"/>
              </a:ext>
            </a:extLst>
          </p:cNvPr>
          <p:cNvSpPr txBox="1"/>
          <p:nvPr/>
        </p:nvSpPr>
        <p:spPr>
          <a:xfrm>
            <a:off x="1806211" y="4841377"/>
            <a:ext cx="5456583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State 1: </a:t>
            </a:r>
          </a:p>
          <a:p>
            <a:pPr lvl="1"/>
            <a:r>
              <a:rPr lang="en-ID"/>
              <a:t>Bot: "Halo, mau pesan tiket apa?“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State 2: </a:t>
            </a:r>
          </a:p>
          <a:p>
            <a:pPr lvl="1"/>
            <a:r>
              <a:rPr lang="en-ID"/>
              <a:t>User: "Pesawat" → Bot: "Ke mana tujuan Anda?“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State 3: </a:t>
            </a:r>
          </a:p>
          <a:p>
            <a:pPr lvl="1"/>
            <a:r>
              <a:rPr lang="en-ID"/>
              <a:t>User: "Jakarta" → Bot: "Kapan berangkatnya?“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CBE61-7CDE-C834-B3F8-CC17CFC48096}"/>
              </a:ext>
            </a:extLst>
          </p:cNvPr>
          <p:cNvSpPr txBox="1"/>
          <p:nvPr/>
        </p:nvSpPr>
        <p:spPr>
          <a:xfrm>
            <a:off x="7792278" y="1600637"/>
            <a:ext cx="38563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Start / Greeting </a:t>
            </a:r>
            <a:r>
              <a:rPr lang="en-US"/>
              <a:t>→ The bot greets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Ask_Intent </a:t>
            </a:r>
            <a:r>
              <a:rPr lang="en-US"/>
              <a:t>→ The bot asks the user's purpose (e.g., booking a ticket, checking the weather,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Ask_Destination </a:t>
            </a:r>
            <a:r>
              <a:rPr lang="en-US"/>
              <a:t>→ The bot asks the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Ask_Date </a:t>
            </a:r>
            <a:r>
              <a:rPr lang="en-US"/>
              <a:t>→ The bot asks the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Ask_Passenger </a:t>
            </a:r>
            <a:r>
              <a:rPr lang="en-US"/>
              <a:t>→ The bot asks the number of people.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Confirmation</a:t>
            </a:r>
            <a:r>
              <a:rPr lang="en-US"/>
              <a:t> → The bot confirms the booking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Action/Execution </a:t>
            </a:r>
            <a:r>
              <a:rPr lang="en-US"/>
              <a:t>→ The bot performs an action (e.g., searching for tickets).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End / Closing </a:t>
            </a:r>
            <a:r>
              <a:rPr lang="en-US"/>
              <a:t>→ The bot closes the conversation.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773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72AF-84B8-7E67-0FCC-F4B94A91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Kerja State Machine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B478E-F761-73E1-5390-7B0F256CD922}"/>
              </a:ext>
            </a:extLst>
          </p:cNvPr>
          <p:cNvSpPr txBox="1"/>
          <p:nvPr/>
        </p:nvSpPr>
        <p:spPr>
          <a:xfrm>
            <a:off x="5791200" y="1569533"/>
            <a:ext cx="619207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/>
              <a:t>Tentukan state awal (misal: START).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Setiap diberikan input user → bot mengecek state sekarang.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Bot merespons sesuai state, lalu berpindah ke state berikutnya.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Proses berulang sampai state END (percakapan selesai).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F3E239-89D5-BC68-DA91-151D60CEAC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08443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/>
              <a:t>Percakapan dipandang sebagai serangkaian state (keadaan) yang terhubung dengan transisi.</a:t>
            </a:r>
          </a:p>
          <a:p>
            <a:r>
              <a:rPr lang="en-ID"/>
              <a:t>Setiap state menggambarkan posisi atau tahap percakapan.</a:t>
            </a:r>
          </a:p>
          <a:p>
            <a:r>
              <a:rPr lang="en-ID"/>
              <a:t>Setiap transisi menunjukkan perubahan dari satu state ke state lain berdasarkan input user. </a:t>
            </a:r>
          </a:p>
          <a:p>
            <a:r>
              <a:rPr lang="en-ID"/>
              <a:t>Harus mengikuti alur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F81A0-36F1-A9DE-2613-B0B7B1A120E9}"/>
              </a:ext>
            </a:extLst>
          </p:cNvPr>
          <p:cNvSpPr txBox="1"/>
          <p:nvPr/>
        </p:nvSpPr>
        <p:spPr>
          <a:xfrm>
            <a:off x="5791200" y="5424899"/>
            <a:ext cx="5887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/>
              <a:t>Terstruktur → alurnya sudah jelas dari awal.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/>
              <a:t>Deterministik → untuk setiap state, respon bot sudah ditentukan.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/>
              <a:t>Kurang fleksibel → sulit menangani percakapan non-linear (user melompat-lompat).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/>
              <a:t>Cocok untuk task sederhana: pemesanan tiket, FAQ, survey, dsb.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70948-F8C5-8DBC-B973-D843632AC02C}"/>
              </a:ext>
            </a:extLst>
          </p:cNvPr>
          <p:cNvSpPr txBox="1"/>
          <p:nvPr/>
        </p:nvSpPr>
        <p:spPr>
          <a:xfrm>
            <a:off x="5791200" y="3789604"/>
            <a:ext cx="435665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Awal (Start/Greeting)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Pertanyaan (Ask_*)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Konfirmasi (Confirmation)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Aksi (Action/Execution)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 Akhir (End/Closing)</a:t>
            </a:r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82040-B79E-77B1-9367-26749632ECD8}"/>
              </a:ext>
            </a:extLst>
          </p:cNvPr>
          <p:cNvSpPr txBox="1"/>
          <p:nvPr/>
        </p:nvSpPr>
        <p:spPr>
          <a:xfrm>
            <a:off x="6096000" y="3429000"/>
            <a:ext cx="331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Struktur Umum State Machine</a:t>
            </a:r>
          </a:p>
        </p:txBody>
      </p:sp>
    </p:spTree>
    <p:extLst>
      <p:ext uri="{BB962C8B-B14F-4D97-AF65-F5344CB8AC3E}">
        <p14:creationId xmlns:p14="http://schemas.microsoft.com/office/powerpoint/2010/main" val="238814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4EDC-AE1D-278E-3A06-21D1610F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State Machine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FD8FD-6865-3246-0F55-3FACA212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98" y="2290444"/>
            <a:ext cx="6072655" cy="3106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B0C6D-AC7F-9BD7-A64E-4BCF0F8F30EA}"/>
              </a:ext>
            </a:extLst>
          </p:cNvPr>
          <p:cNvSpPr txBox="1"/>
          <p:nvPr/>
        </p:nvSpPr>
        <p:spPr>
          <a:xfrm>
            <a:off x="7643191" y="705177"/>
            <a:ext cx="4104860" cy="5447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600"/>
              <a:t># Definisi state</a:t>
            </a:r>
          </a:p>
          <a:p>
            <a:r>
              <a:rPr lang="en-ID" sz="600"/>
              <a:t>STATE_START = "START"</a:t>
            </a:r>
          </a:p>
          <a:p>
            <a:r>
              <a:rPr lang="en-ID" sz="600"/>
              <a:t>STATE_TANYA_TUJUAN = "TANYA_TUJUAN"</a:t>
            </a:r>
          </a:p>
          <a:p>
            <a:r>
              <a:rPr lang="en-ID" sz="600"/>
              <a:t>STATE_TANYA_TANGGAL = "TANYA_TANGGAL"</a:t>
            </a:r>
          </a:p>
          <a:p>
            <a:r>
              <a:rPr lang="en-ID" sz="600"/>
              <a:t>STATE_TANYA_PENUMPANG = "TANYA_PENUMPANG"</a:t>
            </a:r>
          </a:p>
          <a:p>
            <a:r>
              <a:rPr lang="en-ID" sz="600"/>
              <a:t>STATE_KONFIRMASI = "KONFIRMASI"</a:t>
            </a:r>
          </a:p>
          <a:p>
            <a:r>
              <a:rPr lang="en-ID" sz="600"/>
              <a:t>STATE_SELESAI = "SELESAI"</a:t>
            </a:r>
          </a:p>
          <a:p>
            <a:endParaRPr lang="en-ID" sz="600"/>
          </a:p>
          <a:p>
            <a:r>
              <a:rPr lang="en-ID" sz="600"/>
              <a:t># Inisialisasi variabel</a:t>
            </a:r>
          </a:p>
          <a:p>
            <a:r>
              <a:rPr lang="en-ID" sz="600"/>
              <a:t>state = STATE_START</a:t>
            </a:r>
          </a:p>
          <a:p>
            <a:r>
              <a:rPr lang="en-ID" sz="600"/>
              <a:t>slots = {"tujuan": None, "tanggal": None, "penumpang": None}</a:t>
            </a:r>
          </a:p>
          <a:p>
            <a:endParaRPr lang="en-ID" sz="600"/>
          </a:p>
          <a:p>
            <a:r>
              <a:rPr lang="en-ID" sz="600"/>
              <a:t>def chatbot(user_input):</a:t>
            </a:r>
          </a:p>
          <a:p>
            <a:r>
              <a:rPr lang="en-ID" sz="600"/>
              <a:t>    global state, slots</a:t>
            </a:r>
          </a:p>
          <a:p>
            <a:endParaRPr lang="en-ID" sz="600"/>
          </a:p>
          <a:p>
            <a:r>
              <a:rPr lang="en-ID" sz="600"/>
              <a:t>    if state == STATE_START:</a:t>
            </a:r>
          </a:p>
          <a:p>
            <a:r>
              <a:rPr lang="en-ID" sz="600"/>
              <a:t>        state = STATE_TANYA_TUJUAN</a:t>
            </a:r>
          </a:p>
          <a:p>
            <a:r>
              <a:rPr lang="en-ID" sz="600"/>
              <a:t>        return "Halo! Mau pesan tiket ke mana?"</a:t>
            </a:r>
          </a:p>
          <a:p>
            <a:endParaRPr lang="en-ID" sz="600"/>
          </a:p>
          <a:p>
            <a:r>
              <a:rPr lang="en-ID" sz="600"/>
              <a:t>    elif state == STATE_TANYA_TUJUAN:</a:t>
            </a:r>
          </a:p>
          <a:p>
            <a:r>
              <a:rPr lang="en-ID" sz="600"/>
              <a:t>        slots["tujuan"] = user_input</a:t>
            </a:r>
          </a:p>
          <a:p>
            <a:r>
              <a:rPr lang="en-ID" sz="600"/>
              <a:t>        state = STATE_TANYA_TANGGAL</a:t>
            </a:r>
          </a:p>
          <a:p>
            <a:r>
              <a:rPr lang="en-ID" sz="600"/>
              <a:t>        return f"Baik, ke {slots['tujuan']}. Kapan tanggal berangkatnya?"</a:t>
            </a:r>
          </a:p>
          <a:p>
            <a:endParaRPr lang="en-ID" sz="600"/>
          </a:p>
          <a:p>
            <a:r>
              <a:rPr lang="en-ID" sz="600"/>
              <a:t>    elif state == STATE_TANYA_TANGGAL:</a:t>
            </a:r>
          </a:p>
          <a:p>
            <a:r>
              <a:rPr lang="en-ID" sz="600"/>
              <a:t>        slots["tanggal"] = user_input</a:t>
            </a:r>
          </a:p>
          <a:p>
            <a:r>
              <a:rPr lang="en-ID" sz="600"/>
              <a:t>        state = STATE_TANYA_PENUMPANG</a:t>
            </a:r>
          </a:p>
          <a:p>
            <a:r>
              <a:rPr lang="en-ID" sz="600"/>
              <a:t>        return "Untuk berapa orang?"</a:t>
            </a:r>
          </a:p>
          <a:p>
            <a:endParaRPr lang="en-ID" sz="600"/>
          </a:p>
          <a:p>
            <a:r>
              <a:rPr lang="en-ID" sz="600"/>
              <a:t>    elif state == STATE_TANYA_PENUMPANG:</a:t>
            </a:r>
          </a:p>
          <a:p>
            <a:r>
              <a:rPr lang="en-ID" sz="600"/>
              <a:t>        slots["penumpang"] = user_input</a:t>
            </a:r>
          </a:p>
          <a:p>
            <a:r>
              <a:rPr lang="en-ID" sz="600"/>
              <a:t>        state = STATE_KONFIRMASI</a:t>
            </a:r>
          </a:p>
          <a:p>
            <a:r>
              <a:rPr lang="en-ID" sz="600"/>
              <a:t>        return (f"Konfirmasi: tiket ke {slots['tujuan']} pada {slots['tanggal']} "</a:t>
            </a:r>
          </a:p>
          <a:p>
            <a:r>
              <a:rPr lang="en-ID" sz="600"/>
              <a:t>                f"untuk {slots['penumpang']} orang. Benar? (ya/tidak)")</a:t>
            </a:r>
          </a:p>
          <a:p>
            <a:endParaRPr lang="en-ID" sz="600"/>
          </a:p>
          <a:p>
            <a:r>
              <a:rPr lang="en-ID" sz="600"/>
              <a:t>    elif state == STATE_KONFIRMASI:</a:t>
            </a:r>
          </a:p>
          <a:p>
            <a:r>
              <a:rPr lang="en-ID" sz="600"/>
              <a:t>        if user_input.lower() in ["ya", "betul", "oke"]:</a:t>
            </a:r>
          </a:p>
          <a:p>
            <a:r>
              <a:rPr lang="en-ID" sz="600"/>
              <a:t>            state = STATE_SELESAI</a:t>
            </a:r>
          </a:p>
          <a:p>
            <a:r>
              <a:rPr lang="en-ID" sz="600"/>
              <a:t>            return "Pesanan tiket Anda sudah dicatat. Terima kasih!"</a:t>
            </a:r>
          </a:p>
          <a:p>
            <a:r>
              <a:rPr lang="en-ID" sz="600"/>
              <a:t>        else:</a:t>
            </a:r>
          </a:p>
          <a:p>
            <a:r>
              <a:rPr lang="en-ID" sz="600"/>
              <a:t>            # Reset untuk ulangi</a:t>
            </a:r>
          </a:p>
          <a:p>
            <a:r>
              <a:rPr lang="en-ID" sz="600"/>
              <a:t>            slots = {"tujuan": None, "tanggal": None, "penumpang": None}</a:t>
            </a:r>
          </a:p>
          <a:p>
            <a:r>
              <a:rPr lang="en-ID" sz="600"/>
              <a:t>            state = STATE_TANYA_TUJUAN</a:t>
            </a:r>
          </a:p>
          <a:p>
            <a:r>
              <a:rPr lang="en-ID" sz="600"/>
              <a:t>            return "Baik, mari kita ulangi. Mau pesan tiket ke mana?"</a:t>
            </a:r>
          </a:p>
          <a:p>
            <a:endParaRPr lang="en-ID" sz="600"/>
          </a:p>
          <a:p>
            <a:r>
              <a:rPr lang="en-ID" sz="600"/>
              <a:t>    elif state == STATE_SELESAI:</a:t>
            </a:r>
          </a:p>
          <a:p>
            <a:r>
              <a:rPr lang="en-ID" sz="600"/>
              <a:t>        return "Percakapan selesai. Sampai jumpa!"</a:t>
            </a:r>
          </a:p>
          <a:p>
            <a:endParaRPr lang="en-ID" sz="600"/>
          </a:p>
          <a:p>
            <a:r>
              <a:rPr lang="en-ID" sz="600"/>
              <a:t># --- Simulasi Percakapan ---</a:t>
            </a:r>
          </a:p>
          <a:p>
            <a:r>
              <a:rPr lang="en-ID" sz="600"/>
              <a:t>if __name__ == "__main__":</a:t>
            </a:r>
          </a:p>
          <a:p>
            <a:r>
              <a:rPr lang="en-ID" sz="600"/>
              <a:t>    print("Ketik 'exit' untuk keluar.\n")</a:t>
            </a:r>
          </a:p>
          <a:p>
            <a:r>
              <a:rPr lang="en-ID" sz="600"/>
              <a:t>    while True:</a:t>
            </a:r>
          </a:p>
          <a:p>
            <a:r>
              <a:rPr lang="en-ID" sz="600"/>
              <a:t>        user = input("User: ")</a:t>
            </a:r>
          </a:p>
          <a:p>
            <a:r>
              <a:rPr lang="en-ID" sz="600"/>
              <a:t>        if user.lower() == "exit":</a:t>
            </a:r>
          </a:p>
          <a:p>
            <a:r>
              <a:rPr lang="en-ID" sz="600"/>
              <a:t>            break</a:t>
            </a:r>
          </a:p>
          <a:p>
            <a:r>
              <a:rPr lang="en-ID" sz="600"/>
              <a:t>        bot = chatbot(user)</a:t>
            </a:r>
          </a:p>
          <a:p>
            <a:r>
              <a:rPr lang="en-ID" sz="600"/>
              <a:t>        print("Bot :", bot)</a:t>
            </a:r>
          </a:p>
          <a:p>
            <a:endParaRPr lang="en-ID" sz="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F58FB-E03E-24B1-84EA-ECDA8CBD8B42}"/>
              </a:ext>
            </a:extLst>
          </p:cNvPr>
          <p:cNvSpPr txBox="1"/>
          <p:nvPr/>
        </p:nvSpPr>
        <p:spPr>
          <a:xfrm>
            <a:off x="1967948" y="5764696"/>
            <a:ext cx="45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</a:t>
            </a:r>
            <a:r>
              <a:rPr lang="en-ID"/>
              <a:t>okus pada urutan percakapan.</a:t>
            </a:r>
          </a:p>
        </p:txBody>
      </p:sp>
    </p:spTree>
    <p:extLst>
      <p:ext uri="{BB962C8B-B14F-4D97-AF65-F5344CB8AC3E}">
        <p14:creationId xmlns:p14="http://schemas.microsoft.com/office/powerpoint/2010/main" val="1724952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C8E4-B3A5-5C5B-AB28-7C935C11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9B14-C51B-B48F-C1B4-65C4C877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99513" cy="1325563"/>
          </a:xfrm>
        </p:spPr>
        <p:txBody>
          <a:bodyPr/>
          <a:lstStyle/>
          <a:p>
            <a:r>
              <a:rPr lang="en-ID"/>
              <a:t>Konsep Basic Dialog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AF0A-75EE-2ED5-5B1B-ED267CB60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8400" cy="4351338"/>
          </a:xfrm>
        </p:spPr>
        <p:txBody>
          <a:bodyPr>
            <a:normAutofit/>
          </a:bodyPr>
          <a:lstStyle/>
          <a:p>
            <a:r>
              <a:rPr lang="en-ID" b="1"/>
              <a:t>Slot Filling</a:t>
            </a:r>
          </a:p>
          <a:p>
            <a:pPr lvl="1"/>
            <a:r>
              <a:rPr lang="en-ID"/>
              <a:t>Chatbot mengumpulkan </a:t>
            </a:r>
            <a:r>
              <a:rPr lang="en-ID" b="1"/>
              <a:t>informasi</a:t>
            </a:r>
            <a:r>
              <a:rPr lang="en-ID"/>
              <a:t> (</a:t>
            </a:r>
            <a:r>
              <a:rPr lang="en-ID" b="1"/>
              <a:t>slot</a:t>
            </a:r>
            <a:r>
              <a:rPr lang="en-ID"/>
              <a:t>) yang dibutuhkan untuk menyelesaikan sebuah task.</a:t>
            </a:r>
          </a:p>
          <a:p>
            <a:pPr lvl="1"/>
            <a:r>
              <a:rPr lang="en-ID"/>
              <a:t>Bot bisa menanyakan slot yang belum terisi </a:t>
            </a:r>
            <a:r>
              <a:rPr lang="en-ID">
                <a:sym typeface="Wingdings" panose="05000000000000000000" pitchFamily="2" charset="2"/>
              </a:rPr>
              <a:t> urutan sudah ditentukan</a:t>
            </a:r>
            <a:endParaRPr lang="en-ID"/>
          </a:p>
          <a:p>
            <a:pPr lvl="1"/>
            <a:r>
              <a:rPr lang="en-ID"/>
              <a:t>Contoh: pemesanan tiket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93826-1DC7-133D-2FA5-9417BF360ADA}"/>
              </a:ext>
            </a:extLst>
          </p:cNvPr>
          <p:cNvSpPr txBox="1"/>
          <p:nvPr/>
        </p:nvSpPr>
        <p:spPr>
          <a:xfrm>
            <a:off x="1617369" y="4473630"/>
            <a:ext cx="5456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User: "Saya mau pesan tiket ke Surabaya."→ Bot mengisi slot tujuan = Surabaya.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Bot: "Kapan tanggal berangkatnya?"→ Setelah user menjawab → slot tanggal terisi.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Bot: "Untuk berapa orang?"→ Setelah user menjawab → slot jumlah_penumpang terisi.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Jika semua slot sudah terisi → Bot bisa melakukan aksi (misalnya: menampilkan total biaya).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C6DFA-F5B5-DD37-9C9C-2A73F155CB13}"/>
              </a:ext>
            </a:extLst>
          </p:cNvPr>
          <p:cNvSpPr txBox="1"/>
          <p:nvPr/>
        </p:nvSpPr>
        <p:spPr>
          <a:xfrm>
            <a:off x="7163403" y="1690688"/>
            <a:ext cx="4892762" cy="483209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2800" dirty="0" err="1"/>
              <a:t>dialog_state</a:t>
            </a:r>
            <a:r>
              <a:rPr lang="en-ID" sz="2800" dirty="0"/>
              <a:t> = {</a:t>
            </a:r>
          </a:p>
          <a:p>
            <a:r>
              <a:rPr lang="en-ID" sz="2800" dirty="0"/>
              <a:t>    "intent": "</a:t>
            </a:r>
            <a:r>
              <a:rPr lang="en-ID" sz="2800" dirty="0" err="1"/>
              <a:t>book_flight</a:t>
            </a:r>
            <a:r>
              <a:rPr lang="en-ID" sz="2800" dirty="0"/>
              <a:t>",</a:t>
            </a:r>
          </a:p>
          <a:p>
            <a:r>
              <a:rPr lang="en-ID" sz="2800" dirty="0"/>
              <a:t>    "slots": {</a:t>
            </a:r>
          </a:p>
          <a:p>
            <a:r>
              <a:rPr lang="en-ID" sz="2800" dirty="0"/>
              <a:t>        "</a:t>
            </a:r>
            <a:r>
              <a:rPr lang="en-ID" sz="2800" dirty="0" err="1"/>
              <a:t>departure_city</a:t>
            </a:r>
            <a:r>
              <a:rPr lang="en-ID" sz="2800"/>
              <a:t>": None,</a:t>
            </a:r>
            <a:endParaRPr lang="en-ID" sz="2800" dirty="0"/>
          </a:p>
          <a:p>
            <a:r>
              <a:rPr lang="en-ID" sz="2800" dirty="0"/>
              <a:t>        "</a:t>
            </a:r>
            <a:r>
              <a:rPr lang="en-ID" sz="2800" dirty="0" err="1"/>
              <a:t>arrival_city</a:t>
            </a:r>
            <a:r>
              <a:rPr lang="en-ID" sz="2800"/>
              <a:t>": None,</a:t>
            </a:r>
            <a:endParaRPr lang="en-ID" sz="2800" dirty="0"/>
          </a:p>
          <a:p>
            <a:r>
              <a:rPr lang="en-ID" sz="2800" dirty="0"/>
              <a:t>        "</a:t>
            </a:r>
            <a:r>
              <a:rPr lang="en-ID" sz="2800" dirty="0" err="1"/>
              <a:t>departure_date</a:t>
            </a:r>
            <a:r>
              <a:rPr lang="en-ID" sz="2800"/>
              <a:t>": None,</a:t>
            </a:r>
          </a:p>
          <a:p>
            <a:r>
              <a:rPr lang="en-ID" sz="2800"/>
              <a:t>        “passengers_num": None,</a:t>
            </a:r>
            <a:endParaRPr lang="en-ID" sz="2800" dirty="0"/>
          </a:p>
          <a:p>
            <a:r>
              <a:rPr lang="en-ID" sz="2800" dirty="0"/>
              <a:t>    },</a:t>
            </a:r>
          </a:p>
          <a:p>
            <a:r>
              <a:rPr lang="en-ID" sz="2800" dirty="0"/>
              <a:t>    "turn</a:t>
            </a:r>
            <a:r>
              <a:rPr lang="en-ID" sz="2800"/>
              <a:t>": 0,</a:t>
            </a:r>
            <a:endParaRPr lang="en-ID" sz="2800" dirty="0"/>
          </a:p>
          <a:p>
            <a:r>
              <a:rPr lang="en-ID" sz="2800" dirty="0"/>
              <a:t>    "status</a:t>
            </a:r>
            <a:r>
              <a:rPr lang="en-ID" sz="2800"/>
              <a:t>": “unfilled"</a:t>
            </a:r>
            <a:endParaRPr lang="en-ID" sz="2800" dirty="0"/>
          </a:p>
          <a:p>
            <a:r>
              <a:rPr lang="en-ID" sz="2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8EC99-69C8-2993-90FB-04647FE18FE4}"/>
              </a:ext>
            </a:extLst>
          </p:cNvPr>
          <p:cNvSpPr txBox="1"/>
          <p:nvPr/>
        </p:nvSpPr>
        <p:spPr>
          <a:xfrm>
            <a:off x="7163403" y="230188"/>
            <a:ext cx="37470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Unfilled</a:t>
            </a:r>
            <a:r>
              <a:rPr lang="en-US" sz="1000"/>
              <a:t> → no slots have been filled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Partial</a:t>
            </a:r>
            <a:r>
              <a:rPr lang="en-US" sz="1000"/>
              <a:t> → some slots have been filled, but some are still empty.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Requesting</a:t>
            </a:r>
            <a:r>
              <a:rPr lang="en-US" sz="1000"/>
              <a:t>_</a:t>
            </a:r>
            <a:r>
              <a:rPr lang="en-US" sz="1000" b="1"/>
              <a:t>Slot</a:t>
            </a:r>
            <a:r>
              <a:rPr lang="en-US" sz="1000"/>
              <a:t>_X → the chatbot is requesting a specific slot (e.g., Requesting_Date).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Filled</a:t>
            </a:r>
            <a:r>
              <a:rPr lang="en-US" sz="1000"/>
              <a:t> → all required slots have been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Confirmed</a:t>
            </a:r>
            <a:r>
              <a:rPr lang="en-US" sz="1000"/>
              <a:t> → the user approves the slot (e.g., after the bot completes the recap).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Completed</a:t>
            </a:r>
            <a:r>
              <a:rPr lang="en-US" sz="1000"/>
              <a:t> → the task has finished executing.</a:t>
            </a:r>
            <a:endParaRPr lang="en-ID" sz="10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BF213B-CDCB-97CC-A1AD-4161490A44E6}"/>
              </a:ext>
            </a:extLst>
          </p:cNvPr>
          <p:cNvCxnSpPr/>
          <p:nvPr/>
        </p:nvCxnSpPr>
        <p:spPr>
          <a:xfrm flipV="1">
            <a:off x="5108713" y="3677478"/>
            <a:ext cx="2623930" cy="1302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4C32E-B7F1-C032-3CD8-5ADE21034A9B}"/>
              </a:ext>
            </a:extLst>
          </p:cNvPr>
          <p:cNvCxnSpPr/>
          <p:nvPr/>
        </p:nvCxnSpPr>
        <p:spPr>
          <a:xfrm flipV="1">
            <a:off x="4979504" y="4194313"/>
            <a:ext cx="2753139" cy="1321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0950E7-1D27-4B41-DAC5-F0BA76078B49}"/>
              </a:ext>
            </a:extLst>
          </p:cNvPr>
          <p:cNvCxnSpPr/>
          <p:nvPr/>
        </p:nvCxnSpPr>
        <p:spPr>
          <a:xfrm flipV="1">
            <a:off x="6096000" y="4611757"/>
            <a:ext cx="1636643" cy="1391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9214BFF-0C61-2478-A826-CA795E4ADADA}"/>
              </a:ext>
            </a:extLst>
          </p:cNvPr>
          <p:cNvSpPr txBox="1"/>
          <p:nvPr/>
        </p:nvSpPr>
        <p:spPr>
          <a:xfrm>
            <a:off x="10574631" y="4959625"/>
            <a:ext cx="153062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mandatory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optional</a:t>
            </a:r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EF8993-421B-36F2-E14C-89C273A057AE}"/>
              </a:ext>
            </a:extLst>
          </p:cNvPr>
          <p:cNvSpPr txBox="1"/>
          <p:nvPr/>
        </p:nvSpPr>
        <p:spPr>
          <a:xfrm>
            <a:off x="4363278" y="1553627"/>
            <a:ext cx="232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/>
              <a:t>mengisi formulir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312D7C-C755-DFE2-C125-7C7D597A72DF}"/>
              </a:ext>
            </a:extLst>
          </p:cNvPr>
          <p:cNvCxnSpPr>
            <a:endCxn id="15" idx="1"/>
          </p:cNvCxnSpPr>
          <p:nvPr/>
        </p:nvCxnSpPr>
        <p:spPr>
          <a:xfrm flipV="1">
            <a:off x="2882348" y="1738293"/>
            <a:ext cx="1480930" cy="299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47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AB27-AF3E-2204-7447-61116B6C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4853-903D-8896-0E34-EC45B044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Kerja Slot Filling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AB7A9-E593-36C7-4563-BAEA20BAF949}"/>
              </a:ext>
            </a:extLst>
          </p:cNvPr>
          <p:cNvSpPr txBox="1"/>
          <p:nvPr/>
        </p:nvSpPr>
        <p:spPr>
          <a:xfrm>
            <a:off x="5791200" y="1549281"/>
            <a:ext cx="619207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/>
              <a:t>Tentukan daftar slot yang wajib diisi (misal: {tujuan, tanggal, penumpang}).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Cek slot mana yang masih kosong.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Jika ada slot kosong → bot menanyakan slot tersebut.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Jika user memberi jawaban yang bisa mengisi beberapa slot sekaligus, langsung simpan.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Ulangi sampai semua slot terisi.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Setelah lengkap → bot konfirmasi &amp; lakukan aksi.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CB4334-0410-11DB-274B-DBF98CA6EFB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08443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/>
              <a:t>Percakapan dilakukan dengan tujuan untuk mengisi semua slot (informasi) yang dibutuhkan untuk menyelesaikan suatu task.</a:t>
            </a:r>
          </a:p>
          <a:p>
            <a:r>
              <a:rPr lang="en-ID"/>
              <a:t>Slot = informasi penting yang harus dikumpulkan dari user. </a:t>
            </a:r>
          </a:p>
          <a:p>
            <a:r>
              <a:rPr lang="en-ID"/>
              <a:t>Percakapan dianggap selesai setelah semua slot terisi lengkap.</a:t>
            </a:r>
          </a:p>
          <a:p>
            <a:r>
              <a:rPr lang="en-ID"/>
              <a:t>Urutan pengisian slot tidak harus urut, boleh loncat-loncat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CB571-8574-DA98-B59D-72310ED57F95}"/>
              </a:ext>
            </a:extLst>
          </p:cNvPr>
          <p:cNvSpPr txBox="1"/>
          <p:nvPr/>
        </p:nvSpPr>
        <p:spPr>
          <a:xfrm>
            <a:off x="5791200" y="4154557"/>
            <a:ext cx="58872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Berbasis data → fokus pada slot yang harus dipenuhi, bukan urutan percakapan.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Fleksibel → user bisa memberikan informasi parsial atau loncat-loncat.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Natural → menyerupai percakapan manusia (misalnya langsung menjawab semua dalam satu kalimat).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Cocok untuk task yang membutuhkan beberapa informasi tetap, misalnya booking tiket, pemesanan makanan, pendaftaran layanan, dll.</a:t>
            </a:r>
          </a:p>
        </p:txBody>
      </p:sp>
    </p:spTree>
    <p:extLst>
      <p:ext uri="{BB962C8B-B14F-4D97-AF65-F5344CB8AC3E}">
        <p14:creationId xmlns:p14="http://schemas.microsoft.com/office/powerpoint/2010/main" val="126721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581F-5C72-B1D8-1672-F1F85419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Slot Filling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28DF-99D0-C331-7A13-528A53DFE723}"/>
              </a:ext>
            </a:extLst>
          </p:cNvPr>
          <p:cNvSpPr txBox="1"/>
          <p:nvPr/>
        </p:nvSpPr>
        <p:spPr>
          <a:xfrm>
            <a:off x="7643191" y="705177"/>
            <a:ext cx="4104860" cy="5447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600"/>
              <a:t># Definisi state</a:t>
            </a:r>
          </a:p>
          <a:p>
            <a:r>
              <a:rPr lang="en-ID" sz="600"/>
              <a:t>STATE_START = "START"</a:t>
            </a:r>
          </a:p>
          <a:p>
            <a:r>
              <a:rPr lang="en-ID" sz="600"/>
              <a:t>STATE_TANYA_TUJUAN = "TANYA_TUJUAN"</a:t>
            </a:r>
          </a:p>
          <a:p>
            <a:r>
              <a:rPr lang="en-ID" sz="600"/>
              <a:t>STATE_TANYA_TANGGAL = "TANYA_TANGGAL"</a:t>
            </a:r>
          </a:p>
          <a:p>
            <a:r>
              <a:rPr lang="en-ID" sz="600"/>
              <a:t>STATE_TANYA_PENUMPANG = "TANYA_PENUMPANG"</a:t>
            </a:r>
          </a:p>
          <a:p>
            <a:r>
              <a:rPr lang="en-ID" sz="600"/>
              <a:t>STATE_KONFIRMASI = "KONFIRMASI"</a:t>
            </a:r>
          </a:p>
          <a:p>
            <a:r>
              <a:rPr lang="en-ID" sz="600"/>
              <a:t>STATE_SELESAI = "SELESAI"</a:t>
            </a:r>
          </a:p>
          <a:p>
            <a:endParaRPr lang="en-ID" sz="600"/>
          </a:p>
          <a:p>
            <a:r>
              <a:rPr lang="en-ID" sz="600"/>
              <a:t># Inisialisasi variabel</a:t>
            </a:r>
          </a:p>
          <a:p>
            <a:r>
              <a:rPr lang="en-ID" sz="600"/>
              <a:t>state = STATE_START</a:t>
            </a:r>
          </a:p>
          <a:p>
            <a:r>
              <a:rPr lang="en-ID" sz="600"/>
              <a:t>slots = {"tujuan": None, "tanggal": None, "penumpang": None}</a:t>
            </a:r>
          </a:p>
          <a:p>
            <a:endParaRPr lang="en-ID" sz="600"/>
          </a:p>
          <a:p>
            <a:r>
              <a:rPr lang="en-ID" sz="600"/>
              <a:t>def chatbot(user_input):</a:t>
            </a:r>
          </a:p>
          <a:p>
            <a:r>
              <a:rPr lang="en-ID" sz="600"/>
              <a:t>    global state, slots</a:t>
            </a:r>
          </a:p>
          <a:p>
            <a:endParaRPr lang="en-ID" sz="600"/>
          </a:p>
          <a:p>
            <a:r>
              <a:rPr lang="en-ID" sz="600"/>
              <a:t>    if state == STATE_START:</a:t>
            </a:r>
          </a:p>
          <a:p>
            <a:r>
              <a:rPr lang="en-ID" sz="600"/>
              <a:t>        state = STATE_TANYA_TUJUAN</a:t>
            </a:r>
          </a:p>
          <a:p>
            <a:r>
              <a:rPr lang="en-ID" sz="600"/>
              <a:t>        return "Halo! Mau pesan tiket ke mana?"</a:t>
            </a:r>
          </a:p>
          <a:p>
            <a:endParaRPr lang="en-ID" sz="600"/>
          </a:p>
          <a:p>
            <a:r>
              <a:rPr lang="en-ID" sz="600"/>
              <a:t>    elif state == STATE_TANYA_TUJUAN:</a:t>
            </a:r>
          </a:p>
          <a:p>
            <a:r>
              <a:rPr lang="en-ID" sz="600"/>
              <a:t>        slots["tujuan"] = user_input</a:t>
            </a:r>
          </a:p>
          <a:p>
            <a:r>
              <a:rPr lang="en-ID" sz="600"/>
              <a:t>        state = STATE_TANYA_TANGGAL</a:t>
            </a:r>
          </a:p>
          <a:p>
            <a:r>
              <a:rPr lang="en-ID" sz="600"/>
              <a:t>        return f"Baik, ke {slots['tujuan']}. Kapan tanggal berangkatnya?"</a:t>
            </a:r>
          </a:p>
          <a:p>
            <a:endParaRPr lang="en-ID" sz="600"/>
          </a:p>
          <a:p>
            <a:r>
              <a:rPr lang="en-ID" sz="600"/>
              <a:t>    elif state == STATE_TANYA_TANGGAL:</a:t>
            </a:r>
          </a:p>
          <a:p>
            <a:r>
              <a:rPr lang="en-ID" sz="600"/>
              <a:t>        slots["tanggal"] = user_input</a:t>
            </a:r>
          </a:p>
          <a:p>
            <a:r>
              <a:rPr lang="en-ID" sz="600"/>
              <a:t>        state = STATE_TANYA_PENUMPANG</a:t>
            </a:r>
          </a:p>
          <a:p>
            <a:r>
              <a:rPr lang="en-ID" sz="600"/>
              <a:t>        return "Untuk berapa orang?"</a:t>
            </a:r>
          </a:p>
          <a:p>
            <a:endParaRPr lang="en-ID" sz="600"/>
          </a:p>
          <a:p>
            <a:r>
              <a:rPr lang="en-ID" sz="600"/>
              <a:t>    elif state == STATE_TANYA_PENUMPANG:</a:t>
            </a:r>
          </a:p>
          <a:p>
            <a:r>
              <a:rPr lang="en-ID" sz="600"/>
              <a:t>        slots["penumpang"] = user_input</a:t>
            </a:r>
          </a:p>
          <a:p>
            <a:r>
              <a:rPr lang="en-ID" sz="600"/>
              <a:t>        state = STATE_KONFIRMASI</a:t>
            </a:r>
          </a:p>
          <a:p>
            <a:r>
              <a:rPr lang="en-ID" sz="600"/>
              <a:t>        return (f"Konfirmasi: tiket ke {slots['tujuan']} pada {slots['tanggal']} "</a:t>
            </a:r>
          </a:p>
          <a:p>
            <a:r>
              <a:rPr lang="en-ID" sz="600"/>
              <a:t>                f"untuk {slots['penumpang']} orang. Benar? (ya/tidak)")</a:t>
            </a:r>
          </a:p>
          <a:p>
            <a:endParaRPr lang="en-ID" sz="600"/>
          </a:p>
          <a:p>
            <a:r>
              <a:rPr lang="en-ID" sz="600"/>
              <a:t>    elif state == STATE_KONFIRMASI:</a:t>
            </a:r>
          </a:p>
          <a:p>
            <a:r>
              <a:rPr lang="en-ID" sz="600"/>
              <a:t>        if user_input.lower() in ["ya", "betul", "oke"]:</a:t>
            </a:r>
          </a:p>
          <a:p>
            <a:r>
              <a:rPr lang="en-ID" sz="600"/>
              <a:t>            state = STATE_SELESAI</a:t>
            </a:r>
          </a:p>
          <a:p>
            <a:r>
              <a:rPr lang="en-ID" sz="600"/>
              <a:t>            return "Pesanan tiket Anda sudah dicatat. Terima kasih!"</a:t>
            </a:r>
          </a:p>
          <a:p>
            <a:r>
              <a:rPr lang="en-ID" sz="600"/>
              <a:t>        else:</a:t>
            </a:r>
          </a:p>
          <a:p>
            <a:r>
              <a:rPr lang="en-ID" sz="600"/>
              <a:t>            # Reset untuk ulangi</a:t>
            </a:r>
          </a:p>
          <a:p>
            <a:r>
              <a:rPr lang="en-ID" sz="600"/>
              <a:t>            slots = {"tujuan": None, "tanggal": None, "penumpang": None}</a:t>
            </a:r>
          </a:p>
          <a:p>
            <a:r>
              <a:rPr lang="en-ID" sz="600"/>
              <a:t>            state = STATE_TANYA_TUJUAN</a:t>
            </a:r>
          </a:p>
          <a:p>
            <a:r>
              <a:rPr lang="en-ID" sz="600"/>
              <a:t>            return "Baik, mari kita ulangi. Mau pesan tiket ke mana?"</a:t>
            </a:r>
          </a:p>
          <a:p>
            <a:endParaRPr lang="en-ID" sz="600"/>
          </a:p>
          <a:p>
            <a:r>
              <a:rPr lang="en-ID" sz="600"/>
              <a:t>    elif state == STATE_SELESAI:</a:t>
            </a:r>
          </a:p>
          <a:p>
            <a:r>
              <a:rPr lang="en-ID" sz="600"/>
              <a:t>        return "Percakapan selesai. Sampai jumpa!"</a:t>
            </a:r>
          </a:p>
          <a:p>
            <a:endParaRPr lang="en-ID" sz="600"/>
          </a:p>
          <a:p>
            <a:r>
              <a:rPr lang="en-ID" sz="600"/>
              <a:t># --- Simulasi Percakapan ---</a:t>
            </a:r>
          </a:p>
          <a:p>
            <a:r>
              <a:rPr lang="en-ID" sz="600"/>
              <a:t>if __name__ == "__main__":</a:t>
            </a:r>
          </a:p>
          <a:p>
            <a:r>
              <a:rPr lang="en-ID" sz="600"/>
              <a:t>    print("Ketik 'exit' untuk keluar.\n")</a:t>
            </a:r>
          </a:p>
          <a:p>
            <a:r>
              <a:rPr lang="en-ID" sz="600"/>
              <a:t>    while True:</a:t>
            </a:r>
          </a:p>
          <a:p>
            <a:r>
              <a:rPr lang="en-ID" sz="600"/>
              <a:t>        user = input("User: ")</a:t>
            </a:r>
          </a:p>
          <a:p>
            <a:r>
              <a:rPr lang="en-ID" sz="600"/>
              <a:t>        if user.lower() == "exit":</a:t>
            </a:r>
          </a:p>
          <a:p>
            <a:r>
              <a:rPr lang="en-ID" sz="600"/>
              <a:t>            break</a:t>
            </a:r>
          </a:p>
          <a:p>
            <a:r>
              <a:rPr lang="en-ID" sz="600"/>
              <a:t>        bot = chatbot(user)</a:t>
            </a:r>
          </a:p>
          <a:p>
            <a:r>
              <a:rPr lang="en-ID" sz="600"/>
              <a:t>        print("Bot :", bot)</a:t>
            </a:r>
          </a:p>
          <a:p>
            <a:endParaRPr lang="en-ID" sz="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B601F-88FA-F2B9-710C-1D4D57402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13" y="1970868"/>
            <a:ext cx="6296904" cy="2657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7628E-7800-E752-BC86-8FECCF90FD22}"/>
              </a:ext>
            </a:extLst>
          </p:cNvPr>
          <p:cNvSpPr txBox="1"/>
          <p:nvPr/>
        </p:nvSpPr>
        <p:spPr>
          <a:xfrm>
            <a:off x="7901609" y="6216135"/>
            <a:ext cx="314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Ini hanya simulasi sederhana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498E8-3E68-1917-CE7B-0319200F5DD0}"/>
              </a:ext>
            </a:extLst>
          </p:cNvPr>
          <p:cNvSpPr txBox="1"/>
          <p:nvPr/>
        </p:nvSpPr>
        <p:spPr>
          <a:xfrm>
            <a:off x="1550504" y="5416826"/>
            <a:ext cx="5009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</a:t>
            </a:r>
            <a:r>
              <a:rPr lang="en-ID"/>
              <a:t>okus pada upaya melengkapi slot informasi</a:t>
            </a:r>
          </a:p>
        </p:txBody>
      </p:sp>
    </p:spTree>
    <p:extLst>
      <p:ext uri="{BB962C8B-B14F-4D97-AF65-F5344CB8AC3E}">
        <p14:creationId xmlns:p14="http://schemas.microsoft.com/office/powerpoint/2010/main" val="287478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6167-91D5-FE03-3FD2-24372DF2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AFCB-B87B-A299-F611-26E662A8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99513" cy="1325563"/>
          </a:xfrm>
        </p:spPr>
        <p:txBody>
          <a:bodyPr/>
          <a:lstStyle/>
          <a:p>
            <a:r>
              <a:rPr lang="en-ID"/>
              <a:t>Konsep Basic Dialog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0CBD-E55B-E979-A3EA-9A807DDBF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8400" cy="4351338"/>
          </a:xfrm>
        </p:spPr>
        <p:txBody>
          <a:bodyPr>
            <a:normAutofit/>
          </a:bodyPr>
          <a:lstStyle/>
          <a:p>
            <a:r>
              <a:rPr lang="en-ID" b="1"/>
              <a:t>Context Tracking</a:t>
            </a:r>
          </a:p>
          <a:p>
            <a:pPr lvl="1"/>
            <a:r>
              <a:rPr lang="en-ID"/>
              <a:t>Chatbot menyimpan riwayat percakapan agar tetap konsisten </a:t>
            </a:r>
            <a:r>
              <a:rPr lang="en-ID">
                <a:sym typeface="Wingdings" panose="05000000000000000000" pitchFamily="2" charset="2"/>
              </a:rPr>
              <a:t> urutan </a:t>
            </a:r>
            <a:r>
              <a:rPr lang="en-ID" b="1" i="1">
                <a:sym typeface="Wingdings" panose="05000000000000000000" pitchFamily="2" charset="2"/>
              </a:rPr>
              <a:t>fleksibel</a:t>
            </a:r>
            <a:endParaRPr lang="en-ID" b="1" i="1"/>
          </a:p>
          <a:p>
            <a:pPr lvl="1"/>
            <a:r>
              <a:rPr lang="en-ID"/>
              <a:t>Konteks digunakan untuk memahami maksud user tanpa harus mengulang semua detail.</a:t>
            </a:r>
          </a:p>
          <a:p>
            <a:pPr lvl="1"/>
            <a:r>
              <a:rPr lang="en-ID"/>
              <a:t>Contoh: pemesanan tiket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A9FD4-9352-3BB9-E4D9-72806570E900}"/>
              </a:ext>
            </a:extLst>
          </p:cNvPr>
          <p:cNvSpPr txBox="1"/>
          <p:nvPr/>
        </p:nvSpPr>
        <p:spPr>
          <a:xfrm>
            <a:off x="1617369" y="4473630"/>
            <a:ext cx="5456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User: "Saya mau pesan tiket ke Bali." (bot simpan tujuan = Bali)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Bot: "Tanggal berapa?"User: "Besok." → Bot paham konteks "besok" merujuk pada slot tanggal.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User: "Oh, ganti deh ke Surabaya." → Bot memperbarui slot tujuan = Surabaya tanpa harus mengulang semua pertanyaan.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98117-5F03-B3BF-5B2C-A9B277A297EF}"/>
              </a:ext>
            </a:extLst>
          </p:cNvPr>
          <p:cNvSpPr txBox="1"/>
          <p:nvPr/>
        </p:nvSpPr>
        <p:spPr>
          <a:xfrm>
            <a:off x="7163403" y="1690688"/>
            <a:ext cx="4892762" cy="483209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2800" dirty="0" err="1"/>
              <a:t>dialog_state</a:t>
            </a:r>
            <a:r>
              <a:rPr lang="en-ID" sz="2800" dirty="0"/>
              <a:t> = {</a:t>
            </a:r>
          </a:p>
          <a:p>
            <a:r>
              <a:rPr lang="en-ID" sz="2800" dirty="0"/>
              <a:t>    "intent": "</a:t>
            </a:r>
            <a:r>
              <a:rPr lang="en-ID" sz="2800" dirty="0" err="1"/>
              <a:t>book_flight</a:t>
            </a:r>
            <a:r>
              <a:rPr lang="en-ID" sz="2800" dirty="0"/>
              <a:t>",</a:t>
            </a:r>
          </a:p>
          <a:p>
            <a:r>
              <a:rPr lang="en-ID" sz="2800" dirty="0"/>
              <a:t>    "slots": {</a:t>
            </a:r>
          </a:p>
          <a:p>
            <a:r>
              <a:rPr lang="en-ID" sz="2800" dirty="0"/>
              <a:t>        "</a:t>
            </a:r>
            <a:r>
              <a:rPr lang="en-ID" sz="2800" dirty="0" err="1"/>
              <a:t>departure_city</a:t>
            </a:r>
            <a:r>
              <a:rPr lang="en-ID" sz="2800"/>
              <a:t>": None,</a:t>
            </a:r>
            <a:endParaRPr lang="en-ID" sz="2800" dirty="0"/>
          </a:p>
          <a:p>
            <a:r>
              <a:rPr lang="en-ID" sz="2800" dirty="0"/>
              <a:t>        "</a:t>
            </a:r>
            <a:r>
              <a:rPr lang="en-ID" sz="2800" dirty="0" err="1"/>
              <a:t>arrival_city</a:t>
            </a:r>
            <a:r>
              <a:rPr lang="en-ID" sz="2800"/>
              <a:t>": None,</a:t>
            </a:r>
            <a:endParaRPr lang="en-ID" sz="2800" dirty="0"/>
          </a:p>
          <a:p>
            <a:r>
              <a:rPr lang="en-ID" sz="2800" dirty="0"/>
              <a:t>        "</a:t>
            </a:r>
            <a:r>
              <a:rPr lang="en-ID" sz="2800" dirty="0" err="1"/>
              <a:t>departure_date</a:t>
            </a:r>
            <a:r>
              <a:rPr lang="en-ID" sz="2800"/>
              <a:t>": None,</a:t>
            </a:r>
          </a:p>
          <a:p>
            <a:r>
              <a:rPr lang="en-ID" sz="2800"/>
              <a:t>        “passengers_num": None,</a:t>
            </a:r>
            <a:endParaRPr lang="en-ID" sz="2800" dirty="0"/>
          </a:p>
          <a:p>
            <a:r>
              <a:rPr lang="en-ID" sz="2800" dirty="0"/>
              <a:t>    },</a:t>
            </a:r>
          </a:p>
          <a:p>
            <a:r>
              <a:rPr lang="en-ID" sz="2800" dirty="0"/>
              <a:t>    "turn</a:t>
            </a:r>
            <a:r>
              <a:rPr lang="en-ID" sz="2800"/>
              <a:t>": 0,</a:t>
            </a:r>
            <a:endParaRPr lang="en-ID" sz="2800" dirty="0"/>
          </a:p>
          <a:p>
            <a:r>
              <a:rPr lang="en-ID" sz="2800" dirty="0"/>
              <a:t>    "status</a:t>
            </a:r>
            <a:r>
              <a:rPr lang="en-ID" sz="2800"/>
              <a:t>": “unfilled"</a:t>
            </a:r>
            <a:endParaRPr lang="en-ID" sz="2800" dirty="0"/>
          </a:p>
          <a:p>
            <a:r>
              <a:rPr lang="en-ID" sz="2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A3095-B762-3CF3-56D4-DCF442429B1D}"/>
              </a:ext>
            </a:extLst>
          </p:cNvPr>
          <p:cNvSpPr txBox="1"/>
          <p:nvPr/>
        </p:nvSpPr>
        <p:spPr>
          <a:xfrm>
            <a:off x="7163403" y="230188"/>
            <a:ext cx="37470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Unfilled</a:t>
            </a:r>
            <a:r>
              <a:rPr lang="en-US" sz="1000"/>
              <a:t> → no slots have been filled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Partial</a:t>
            </a:r>
            <a:r>
              <a:rPr lang="en-US" sz="1000"/>
              <a:t> → some slots have been filled, but some are still empty.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Requesting</a:t>
            </a:r>
            <a:r>
              <a:rPr lang="en-US" sz="1000"/>
              <a:t>_</a:t>
            </a:r>
            <a:r>
              <a:rPr lang="en-US" sz="1000" b="1"/>
              <a:t>Slot</a:t>
            </a:r>
            <a:r>
              <a:rPr lang="en-US" sz="1000"/>
              <a:t>_X → the chatbot is requesting a specific slot (e.g., Requesting_Date).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Filled</a:t>
            </a:r>
            <a:r>
              <a:rPr lang="en-US" sz="1000"/>
              <a:t> → all required slots have been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Confirmed</a:t>
            </a:r>
            <a:r>
              <a:rPr lang="en-US" sz="1000"/>
              <a:t> → the user approves the slot (e.g., after the bot completes the recap).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/>
              <a:t>Completed</a:t>
            </a:r>
            <a:r>
              <a:rPr lang="en-US" sz="1000"/>
              <a:t> → the task has finished executing.</a:t>
            </a:r>
            <a:endParaRPr lang="en-ID" sz="10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7150CE-BC8E-5E01-8387-AA9DC2F2D037}"/>
              </a:ext>
            </a:extLst>
          </p:cNvPr>
          <p:cNvCxnSpPr/>
          <p:nvPr/>
        </p:nvCxnSpPr>
        <p:spPr>
          <a:xfrm flipV="1">
            <a:off x="3478696" y="3707296"/>
            <a:ext cx="4393095" cy="122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12DDE9-9EC2-E2C8-9CB4-E329509208ED}"/>
              </a:ext>
            </a:extLst>
          </p:cNvPr>
          <p:cNvCxnSpPr/>
          <p:nvPr/>
        </p:nvCxnSpPr>
        <p:spPr>
          <a:xfrm flipV="1">
            <a:off x="6096000" y="4263887"/>
            <a:ext cx="1775791" cy="1172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890DEA-4153-43CD-2706-DCD977F92364}"/>
              </a:ext>
            </a:extLst>
          </p:cNvPr>
          <p:cNvCxnSpPr/>
          <p:nvPr/>
        </p:nvCxnSpPr>
        <p:spPr>
          <a:xfrm flipV="1">
            <a:off x="5913783" y="3906078"/>
            <a:ext cx="1798982" cy="202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C8B175-5352-AAB2-B8F6-CF7CCBAD16FA}"/>
              </a:ext>
            </a:extLst>
          </p:cNvPr>
          <p:cNvSpPr txBox="1"/>
          <p:nvPr/>
        </p:nvSpPr>
        <p:spPr>
          <a:xfrm>
            <a:off x="4760844" y="1408698"/>
            <a:ext cx="1967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/>
              <a:t>mengingat  obrolan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5E3CFF-061E-DCA7-E513-CAA87FF6186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776870" y="1731864"/>
            <a:ext cx="983974" cy="29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9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6345-9DAE-8733-B038-A4521000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114C-2907-E126-A76C-C86E4681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Kerja Context Tracking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1264A-80A7-B64A-AA65-B617EC09BF92}"/>
              </a:ext>
            </a:extLst>
          </p:cNvPr>
          <p:cNvSpPr txBox="1"/>
          <p:nvPr/>
        </p:nvSpPr>
        <p:spPr>
          <a:xfrm>
            <a:off x="5791200" y="1549281"/>
            <a:ext cx="619207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/>
              <a:t>Inisialisasi context (misal: {tujuan: null, tanggal: null, penumpang: null}).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Setiap kali user memberi input → lakukan entity extraction.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Simpan entity ke dalam context memory.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D"/>
              <a:t>Jika entity baru → tambahkan.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D"/>
              <a:t>Jika entity lama diubah → update nilai lama.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Bot hanya menanyakan slot yang belum jelas.Jika semua slot lengkap → bot melakukan aksi.</a:t>
            </a:r>
          </a:p>
          <a:p>
            <a:pPr marL="342900" indent="-342900">
              <a:buFont typeface="+mj-lt"/>
              <a:buAutoNum type="arabicPeriod"/>
            </a:pPr>
            <a:r>
              <a:rPr lang="en-ID"/>
              <a:t>Konteks tetap aktif, sehingga user bisa mengubah jawaban (“ubah tujuan ke Jakarta”) tanpa harus mengulang dari awal.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2AFB9B-5558-6DBE-AAD5-33E60305E9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08443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000"/>
              <a:t>Sistem mencatat atau mengingat konteks percakapan dan entitas (entity) yang disebutkan oleh user</a:t>
            </a:r>
          </a:p>
          <a:p>
            <a:r>
              <a:rPr lang="en-ID" sz="2000"/>
              <a:t>Memperbarui context atau informasi tersebut sepanjang interaksi.</a:t>
            </a:r>
          </a:p>
          <a:p>
            <a:r>
              <a:rPr lang="en-ID" sz="2000"/>
              <a:t>Context = memori percakapan yang berisi informasi relevan</a:t>
            </a:r>
          </a:p>
          <a:p>
            <a:pPr lvl="1"/>
            <a:r>
              <a:rPr lang="en-ID" sz="1600"/>
              <a:t>Contoh: tujuan, tanggal, jumlah penumpang</a:t>
            </a:r>
          </a:p>
          <a:p>
            <a:r>
              <a:rPr lang="en-ID" sz="2000"/>
              <a:t>Entity Tracking </a:t>
            </a:r>
            <a:r>
              <a:rPr lang="en-ID" sz="2000">
                <a:sym typeface="Wingdings" panose="05000000000000000000" pitchFamily="2" charset="2"/>
              </a:rPr>
              <a:t></a:t>
            </a:r>
            <a:r>
              <a:rPr lang="en-ID" sz="2000"/>
              <a:t> bot mendeteksi entitas baru dari input user dan menyimpannya.</a:t>
            </a:r>
          </a:p>
          <a:p>
            <a:pPr lvl="1"/>
            <a:r>
              <a:rPr lang="en-ID" sz="1600"/>
              <a:t>Contoh: "besok", "Jakarta", "2 orang"</a:t>
            </a:r>
          </a:p>
          <a:p>
            <a:r>
              <a:rPr lang="en-ID" sz="2000"/>
              <a:t>Update Mechanism = jika user mengubah jawaban maka bot memperbarui context tanpa harus mengulang percakapan. </a:t>
            </a:r>
          </a:p>
          <a:p>
            <a:pPr lvl="1"/>
            <a:r>
              <a:rPr lang="en-ID" sz="1600"/>
              <a:t>Contoh: (“bukan Jakarta, tapi Surabaya”),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54F42-717C-D854-56EB-531ADCAA9BB0}"/>
              </a:ext>
            </a:extLst>
          </p:cNvPr>
          <p:cNvSpPr txBox="1"/>
          <p:nvPr/>
        </p:nvSpPr>
        <p:spPr>
          <a:xfrm>
            <a:off x="5791200" y="4718596"/>
            <a:ext cx="5887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Memiliki memori percakapan (context store).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Bisa memperbarui informasi jika user mengoreksi jawaban.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Mendukung interupsi → user bisa menyisipkan informasi di tengah proses.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/>
              <a:t>Lebih natural dibanding state machine &amp; slot filling.</a:t>
            </a:r>
          </a:p>
        </p:txBody>
      </p:sp>
    </p:spTree>
    <p:extLst>
      <p:ext uri="{BB962C8B-B14F-4D97-AF65-F5344CB8AC3E}">
        <p14:creationId xmlns:p14="http://schemas.microsoft.com/office/powerpoint/2010/main" val="127303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B61D-1AA0-2BE5-F42E-58A25A92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B595-21FC-15C9-425E-9480C44B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Context Tracking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20F04-5AE7-A040-A3B0-CA7D870C02DA}"/>
              </a:ext>
            </a:extLst>
          </p:cNvPr>
          <p:cNvSpPr txBox="1"/>
          <p:nvPr/>
        </p:nvSpPr>
        <p:spPr>
          <a:xfrm>
            <a:off x="7520634" y="98891"/>
            <a:ext cx="4104860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600"/>
              <a:t># Entity/slot yang ingin kita lacak</a:t>
            </a:r>
          </a:p>
          <a:p>
            <a:r>
              <a:rPr lang="en-ID" sz="600"/>
              <a:t>context = {</a:t>
            </a:r>
          </a:p>
          <a:p>
            <a:r>
              <a:rPr lang="en-ID" sz="600"/>
              <a:t>    "tujuan": None,</a:t>
            </a:r>
          </a:p>
          <a:p>
            <a:r>
              <a:rPr lang="en-ID" sz="600"/>
              <a:t>    "tanggal": None,</a:t>
            </a:r>
          </a:p>
          <a:p>
            <a:r>
              <a:rPr lang="en-ID" sz="600"/>
              <a:t>    "penumpang": None</a:t>
            </a:r>
          </a:p>
          <a:p>
            <a:r>
              <a:rPr lang="en-ID" sz="600"/>
              <a:t>}</a:t>
            </a:r>
          </a:p>
          <a:p>
            <a:endParaRPr lang="en-ID" sz="600"/>
          </a:p>
          <a:p>
            <a:r>
              <a:rPr lang="en-ID" sz="600"/>
              <a:t>required_slots = ["tujuan", "tanggal", "penumpang"]</a:t>
            </a:r>
          </a:p>
          <a:p>
            <a:endParaRPr lang="en-ID" sz="600"/>
          </a:p>
          <a:p>
            <a:r>
              <a:rPr lang="en-ID" sz="600"/>
              <a:t>def update_context(user_input):</a:t>
            </a:r>
          </a:p>
          <a:p>
            <a:r>
              <a:rPr lang="en-ID" sz="600"/>
              <a:t>    """Sederhana: ekstraksi entity berdasarkan keyword"""</a:t>
            </a:r>
          </a:p>
          <a:p>
            <a:r>
              <a:rPr lang="en-ID" sz="600"/>
              <a:t>    text = user_input.lower()</a:t>
            </a:r>
          </a:p>
          <a:p>
            <a:endParaRPr lang="en-ID" sz="600"/>
          </a:p>
          <a:p>
            <a:r>
              <a:rPr lang="en-ID" sz="600"/>
              <a:t>    # Tujuan</a:t>
            </a:r>
          </a:p>
          <a:p>
            <a:r>
              <a:rPr lang="en-ID" sz="600"/>
              <a:t>    if "surabaya" in text:</a:t>
            </a:r>
          </a:p>
          <a:p>
            <a:r>
              <a:rPr lang="en-ID" sz="600"/>
              <a:t>        context["tujuan"] = "Surabaya"</a:t>
            </a:r>
          </a:p>
          <a:p>
            <a:r>
              <a:rPr lang="en-ID" sz="600"/>
              <a:t>    elif "jakarta" in text:</a:t>
            </a:r>
          </a:p>
          <a:p>
            <a:r>
              <a:rPr lang="en-ID" sz="600"/>
              <a:t>        context["tujuan"] = "Jakarta"</a:t>
            </a:r>
          </a:p>
          <a:p>
            <a:r>
              <a:rPr lang="en-ID" sz="600"/>
              <a:t>    elif "bali" in text:</a:t>
            </a:r>
          </a:p>
          <a:p>
            <a:r>
              <a:rPr lang="en-ID" sz="600"/>
              <a:t>        context["tujuan"] = "Bali"</a:t>
            </a:r>
          </a:p>
          <a:p>
            <a:endParaRPr lang="en-ID" sz="600"/>
          </a:p>
          <a:p>
            <a:r>
              <a:rPr lang="en-ID" sz="600"/>
              <a:t>    # Tanggal</a:t>
            </a:r>
          </a:p>
          <a:p>
            <a:r>
              <a:rPr lang="en-ID" sz="600"/>
              <a:t>    if "besok" in text:</a:t>
            </a:r>
          </a:p>
          <a:p>
            <a:r>
              <a:rPr lang="en-ID" sz="600"/>
              <a:t>        context["tanggal"] = "Besok"</a:t>
            </a:r>
          </a:p>
          <a:p>
            <a:r>
              <a:rPr lang="en-ID" sz="600"/>
              <a:t>    elif "lusa" in text:</a:t>
            </a:r>
          </a:p>
          <a:p>
            <a:r>
              <a:rPr lang="en-ID" sz="600"/>
              <a:t>        context["tanggal"] = "Lusa"</a:t>
            </a:r>
          </a:p>
          <a:p>
            <a:endParaRPr lang="en-ID" sz="600"/>
          </a:p>
          <a:p>
            <a:r>
              <a:rPr lang="en-ID" sz="600"/>
              <a:t>    # Penumpang</a:t>
            </a:r>
          </a:p>
          <a:p>
            <a:r>
              <a:rPr lang="en-ID" sz="600"/>
              <a:t>    if "1" in text:</a:t>
            </a:r>
          </a:p>
          <a:p>
            <a:r>
              <a:rPr lang="en-ID" sz="600"/>
              <a:t>        context["penumpang"] = "1"</a:t>
            </a:r>
          </a:p>
          <a:p>
            <a:r>
              <a:rPr lang="en-ID" sz="600"/>
              <a:t>    elif "2" in text:</a:t>
            </a:r>
          </a:p>
          <a:p>
            <a:r>
              <a:rPr lang="en-ID" sz="600"/>
              <a:t>        context["penumpang"] = "2"</a:t>
            </a:r>
          </a:p>
          <a:p>
            <a:r>
              <a:rPr lang="en-ID" sz="600"/>
              <a:t>    elif "3" in text:</a:t>
            </a:r>
          </a:p>
          <a:p>
            <a:r>
              <a:rPr lang="en-ID" sz="600"/>
              <a:t>        context["penumpang"] = "3"</a:t>
            </a:r>
          </a:p>
          <a:p>
            <a:endParaRPr lang="en-ID" sz="600"/>
          </a:p>
          <a:p>
            <a:r>
              <a:rPr lang="en-ID" sz="600"/>
              <a:t>def get_missing_slots():</a:t>
            </a:r>
          </a:p>
          <a:p>
            <a:r>
              <a:rPr lang="en-ID" sz="600"/>
              <a:t>    return [slot for slot in required_slots if context[slot] is None]</a:t>
            </a:r>
          </a:p>
          <a:p>
            <a:endParaRPr lang="en-ID" sz="600"/>
          </a:p>
          <a:p>
            <a:r>
              <a:rPr lang="en-ID" sz="600"/>
              <a:t>def chatbot(user_input):</a:t>
            </a:r>
          </a:p>
          <a:p>
            <a:r>
              <a:rPr lang="en-ID" sz="600"/>
              <a:t>    # Update context berdasarkan input user</a:t>
            </a:r>
          </a:p>
          <a:p>
            <a:r>
              <a:rPr lang="en-ID" sz="600"/>
              <a:t>    update_context(user_input)</a:t>
            </a:r>
          </a:p>
          <a:p>
            <a:endParaRPr lang="en-ID" sz="600"/>
          </a:p>
          <a:p>
            <a:r>
              <a:rPr lang="en-ID" sz="600"/>
              <a:t>    # Cek apakah masih ada slot yang kosong</a:t>
            </a:r>
          </a:p>
          <a:p>
            <a:r>
              <a:rPr lang="en-ID" sz="600"/>
              <a:t>    missing = get_missing_slots()</a:t>
            </a:r>
          </a:p>
          <a:p>
            <a:endParaRPr lang="en-ID" sz="600"/>
          </a:p>
          <a:p>
            <a:r>
              <a:rPr lang="en-ID" sz="600"/>
              <a:t>    if not missing:</a:t>
            </a:r>
          </a:p>
          <a:p>
            <a:r>
              <a:rPr lang="en-ID" sz="600"/>
              <a:t>        return (f"Konfirmasi: tiket ke {context['tujuan']} pada {context['tanggal']} "</a:t>
            </a:r>
          </a:p>
          <a:p>
            <a:r>
              <a:rPr lang="en-ID" sz="600"/>
              <a:t>                f"untuk {context['penumpang']} orang. Pesanan dicatat. Terima kasih!")</a:t>
            </a:r>
          </a:p>
          <a:p>
            <a:r>
              <a:rPr lang="en-ID" sz="600"/>
              <a:t>    else:</a:t>
            </a:r>
          </a:p>
          <a:p>
            <a:r>
              <a:rPr lang="en-ID" sz="600"/>
              <a:t>        # Bot hanya menanyakan slot yang belum lengkap</a:t>
            </a:r>
          </a:p>
          <a:p>
            <a:r>
              <a:rPr lang="en-ID" sz="600"/>
              <a:t>        if "tujuan" in missing:</a:t>
            </a:r>
          </a:p>
          <a:p>
            <a:r>
              <a:rPr lang="en-ID" sz="600"/>
              <a:t>            return "Mau pesan tiket ke mana?"</a:t>
            </a:r>
          </a:p>
          <a:p>
            <a:r>
              <a:rPr lang="en-ID" sz="600"/>
              <a:t>        elif "tanggal" in missing:</a:t>
            </a:r>
          </a:p>
          <a:p>
            <a:r>
              <a:rPr lang="en-ID" sz="600"/>
              <a:t>            return f"Baik, ke {context['tujuan']}. Kapan tanggal berangkatnya?"</a:t>
            </a:r>
          </a:p>
          <a:p>
            <a:r>
              <a:rPr lang="en-ID" sz="600"/>
              <a:t>        elif "penumpang" in missing:</a:t>
            </a:r>
          </a:p>
          <a:p>
            <a:r>
              <a:rPr lang="en-ID" sz="600"/>
              <a:t>            return "Untuk berapa orang?"</a:t>
            </a:r>
          </a:p>
          <a:p>
            <a:endParaRPr lang="en-ID" sz="600"/>
          </a:p>
          <a:p>
            <a:r>
              <a:rPr lang="en-ID" sz="600"/>
              <a:t># --- Simulasi Percakapan ---</a:t>
            </a:r>
          </a:p>
          <a:p>
            <a:r>
              <a:rPr lang="en-ID" sz="600"/>
              <a:t>if __name__ == "__main__":</a:t>
            </a:r>
          </a:p>
          <a:p>
            <a:r>
              <a:rPr lang="en-ID" sz="600"/>
              <a:t>    print("Ketik 'exit' untuk keluar.\n")</a:t>
            </a:r>
          </a:p>
          <a:p>
            <a:r>
              <a:rPr lang="en-ID" sz="600"/>
              <a:t>    while True:</a:t>
            </a:r>
          </a:p>
          <a:p>
            <a:r>
              <a:rPr lang="en-ID" sz="600"/>
              <a:t>        user = input("User: ")</a:t>
            </a:r>
          </a:p>
          <a:p>
            <a:r>
              <a:rPr lang="en-ID" sz="600"/>
              <a:t>        if user.lower() == "exit":</a:t>
            </a:r>
          </a:p>
          <a:p>
            <a:r>
              <a:rPr lang="en-ID" sz="600"/>
              <a:t>            break</a:t>
            </a:r>
          </a:p>
          <a:p>
            <a:r>
              <a:rPr lang="en-ID" sz="600"/>
              <a:t>        bot = chatbot(user)</a:t>
            </a:r>
          </a:p>
          <a:p>
            <a:r>
              <a:rPr lang="en-ID" sz="600"/>
              <a:t>        print("Bot :", bot)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14F1D-C985-4068-9E1D-8D07F4758EF3}"/>
              </a:ext>
            </a:extLst>
          </p:cNvPr>
          <p:cNvSpPr txBox="1"/>
          <p:nvPr/>
        </p:nvSpPr>
        <p:spPr>
          <a:xfrm>
            <a:off x="7901609" y="6285708"/>
            <a:ext cx="314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Ini hanya simulasi sederhana</a:t>
            </a:r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60993C-2F90-CD5B-877F-E04033F0D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45" y="2061970"/>
            <a:ext cx="6268325" cy="2734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926ACB-89A9-3EEA-8213-C9D3CF58DB01}"/>
              </a:ext>
            </a:extLst>
          </p:cNvPr>
          <p:cNvSpPr txBox="1"/>
          <p:nvPr/>
        </p:nvSpPr>
        <p:spPr>
          <a:xfrm>
            <a:off x="1003852" y="5615609"/>
            <a:ext cx="5665305" cy="66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/>
              <a:t>Fokus pada upaya menyimpan &amp; memperbarui konteks percakapan dengan lebih dinamis.</a:t>
            </a:r>
          </a:p>
        </p:txBody>
      </p:sp>
    </p:spTree>
    <p:extLst>
      <p:ext uri="{BB962C8B-B14F-4D97-AF65-F5344CB8AC3E}">
        <p14:creationId xmlns:p14="http://schemas.microsoft.com/office/powerpoint/2010/main" val="3635173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Quad Arrow 1">
            <a:extLst>
              <a:ext uri="{FF2B5EF4-FFF2-40B4-BE49-F238E27FC236}">
                <a16:creationId xmlns:a16="http://schemas.microsoft.com/office/drawing/2014/main" id="{D8746ADE-1C3B-6F2D-6617-445A06CE64C1}"/>
              </a:ext>
            </a:extLst>
          </p:cNvPr>
          <p:cNvSpPr/>
          <p:nvPr/>
        </p:nvSpPr>
        <p:spPr>
          <a:xfrm>
            <a:off x="3965713" y="2454965"/>
            <a:ext cx="3637722" cy="2554357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9454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9D7C-1BF6-32E7-AE10-14374B12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Entity domain-spesifik untuk pemesanan tiket?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9309-923D-03F2-528E-C0ACE8597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Model pretrained seperti BERT biasanya:</a:t>
            </a:r>
          </a:p>
          <a:p>
            <a:pPr lvl="1"/>
            <a:r>
              <a:rPr lang="en-US"/>
              <a:t>Bagus di entity umum → nama kota, tanggal, angka.</a:t>
            </a:r>
          </a:p>
          <a:p>
            <a:pPr lvl="1"/>
            <a:r>
              <a:rPr lang="en-US"/>
              <a:t>Lemah di entity domain-spesifik → kode bandara (CGK, DPS), nama maskapai lokal (Garuda, Batik Air), kelas kabin (Ekonomi, Bisnis).</a:t>
            </a:r>
          </a:p>
          <a:p>
            <a:endParaRPr lang="en-US"/>
          </a:p>
          <a:p>
            <a:r>
              <a:rPr lang="en-US"/>
              <a:t>Bagaimana mengatasinya?</a:t>
            </a:r>
          </a:p>
          <a:p>
            <a:pPr lvl="1"/>
            <a:r>
              <a:rPr lang="en-ID"/>
              <a:t>Fine-tuning BERT dengan Dataset Domain</a:t>
            </a:r>
          </a:p>
          <a:p>
            <a:pPr lvl="2"/>
            <a:r>
              <a:rPr lang="en-ID"/>
              <a:t>Tambahkan label entity khusus seperti AIRLINE, AIRPORT_CODE, CABIN_CLASS.</a:t>
            </a:r>
          </a:p>
          <a:p>
            <a:pPr lvl="1"/>
            <a:r>
              <a:rPr lang="en-US"/>
              <a:t>Hybrid Approach (BERT + Regex/Dictionary)</a:t>
            </a:r>
            <a:endParaRPr lang="en-ID"/>
          </a:p>
          <a:p>
            <a:pPr lvl="1"/>
            <a:r>
              <a:rPr lang="en-ID"/>
              <a:t>Entity Gazetteer</a:t>
            </a:r>
          </a:p>
        </p:txBody>
      </p:sp>
    </p:spTree>
    <p:extLst>
      <p:ext uri="{BB962C8B-B14F-4D97-AF65-F5344CB8AC3E}">
        <p14:creationId xmlns:p14="http://schemas.microsoft.com/office/powerpoint/2010/main" val="4232191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8F86-D1F2-3984-62C0-ADD93511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Entity pada pemesanan tiket</a:t>
            </a:r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8401A-CB59-3C60-7C6C-777FD869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19" y="1974574"/>
            <a:ext cx="10134258" cy="405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4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489D-E58C-74A9-FFDA-963AA5E4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Modifikasi Entity Recognition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F102E-96C9-18FD-2AFA-D6E5E8D9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42" y="1690688"/>
            <a:ext cx="5732276" cy="34879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EB294-28C7-DF1C-10A3-410702ACFD9B}"/>
              </a:ext>
            </a:extLst>
          </p:cNvPr>
          <p:cNvSpPr txBox="1"/>
          <p:nvPr/>
        </p:nvSpPr>
        <p:spPr>
          <a:xfrm>
            <a:off x="7295321" y="1580322"/>
            <a:ext cx="4174435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300"/>
              <a:t>from transformers import pipeline</a:t>
            </a:r>
          </a:p>
          <a:p>
            <a:r>
              <a:rPr lang="en-ID" sz="300"/>
              <a:t>import re</a:t>
            </a:r>
          </a:p>
          <a:p>
            <a:r>
              <a:rPr lang="en-ID" sz="300"/>
              <a:t>import dateparser</a:t>
            </a:r>
          </a:p>
          <a:p>
            <a:endParaRPr lang="en-ID" sz="300"/>
          </a:p>
          <a:p>
            <a:r>
              <a:rPr lang="en-ID" sz="300"/>
              <a:t># === 1. Load Pretrained NER (BERT fine-tuned) ===</a:t>
            </a:r>
          </a:p>
          <a:p>
            <a:r>
              <a:rPr lang="en-ID" sz="300"/>
              <a:t>ner_pipeline = pipeline("ner", model="dslim/bert-base-NER", aggregation_strategy="simple")</a:t>
            </a:r>
          </a:p>
          <a:p>
            <a:endParaRPr lang="en-ID" sz="300"/>
          </a:p>
          <a:p>
            <a:r>
              <a:rPr lang="en-ID" sz="300"/>
              <a:t># === 2. Dictionary / Gazetteer ===</a:t>
            </a:r>
          </a:p>
          <a:p>
            <a:r>
              <a:rPr lang="en-ID" sz="300"/>
              <a:t>MASKAPAI = ["Garuda", "Lion Air", "AirAsia", "Batik Air", "Citilink"]</a:t>
            </a:r>
          </a:p>
          <a:p>
            <a:r>
              <a:rPr lang="en-ID" sz="300"/>
              <a:t>KELAS_KABIN = ["ekonomi", "bisnis", "first class"]</a:t>
            </a:r>
          </a:p>
          <a:p>
            <a:r>
              <a:rPr lang="en-ID" sz="300"/>
              <a:t>KOTA = ["Jakarta", "Denpasar", "Surabaya", "Medan", "Bandung", "Yogyakarta", "Makassar", "Balikpapan"]</a:t>
            </a:r>
          </a:p>
          <a:p>
            <a:r>
              <a:rPr lang="en-ID" sz="300"/>
              <a:t>NAMA_ORANG = ["Budi", "Siti", "Andi", "Aris", "Dewi", "Agus"]</a:t>
            </a:r>
          </a:p>
          <a:p>
            <a:endParaRPr lang="en-ID" sz="300"/>
          </a:p>
          <a:p>
            <a:r>
              <a:rPr lang="en-ID" sz="300"/>
              <a:t># === 3. Regex Patterns ===</a:t>
            </a:r>
          </a:p>
          <a:p>
            <a:r>
              <a:rPr lang="en-ID" sz="300"/>
              <a:t>PATTERN_PENUMPANG = re.compile(r"(\d+)\s*(orang|penumpang|tiket)", re.IGNORECASE)</a:t>
            </a:r>
          </a:p>
          <a:p>
            <a:r>
              <a:rPr lang="en-ID" sz="300"/>
              <a:t>PATTERN_KODE_BANDARA = re.compile(r"\b[A-Z]{3}\b")  # contoh: CGK, DPS</a:t>
            </a:r>
          </a:p>
          <a:p>
            <a:r>
              <a:rPr lang="en-ID" sz="300"/>
              <a:t>PATTERN_EMAIL = re.compile(r"[A-Za-z0-9._%+-]+@[A-Za-z0-9.-]+\.[A-Z|a-z]{2,}")</a:t>
            </a:r>
          </a:p>
          <a:p>
            <a:r>
              <a:rPr lang="en-ID" sz="300"/>
              <a:t>PATTERN_NAMA = re.compile(r"\b([A-Z][a-z]+(?:\s[A-Z][a-z]+)*)\b")  # deteksi nama kapital</a:t>
            </a:r>
          </a:p>
          <a:p>
            <a:r>
              <a:rPr lang="en-ID" sz="300"/>
              <a:t>PATTERN_TANGGAL = PATTERN_TANGGAL = re.compile(r"(\d{1,2}\s*(Januari|Februari|Maret|April|Mei|Juni|Juli|Agustus|September|Oktober|November|Desember)(\s*\d{4})?)", re.IGNORECASE)</a:t>
            </a:r>
          </a:p>
          <a:p>
            <a:endParaRPr lang="en-ID" sz="300"/>
          </a:p>
          <a:p>
            <a:endParaRPr lang="en-ID" sz="300"/>
          </a:p>
          <a:p>
            <a:r>
              <a:rPr lang="en-ID" sz="300"/>
              <a:t># === 4. Hybrid Extraction Function ===</a:t>
            </a:r>
          </a:p>
          <a:p>
            <a:r>
              <a:rPr lang="en-ID" sz="300"/>
              <a:t>def extract_entities(text):</a:t>
            </a:r>
          </a:p>
          <a:p>
            <a:r>
              <a:rPr lang="en-ID" sz="300"/>
              <a:t>    entities = {</a:t>
            </a:r>
          </a:p>
          <a:p>
            <a:r>
              <a:rPr lang="en-ID" sz="300"/>
              <a:t>        "asal": None,</a:t>
            </a:r>
          </a:p>
          <a:p>
            <a:r>
              <a:rPr lang="en-ID" sz="300"/>
              <a:t>        "tujuan": None,</a:t>
            </a:r>
          </a:p>
          <a:p>
            <a:r>
              <a:rPr lang="en-ID" sz="300"/>
              <a:t>        "tanggal": None,</a:t>
            </a:r>
          </a:p>
          <a:p>
            <a:r>
              <a:rPr lang="en-ID" sz="300"/>
              <a:t>        "penumpang": None,</a:t>
            </a:r>
          </a:p>
          <a:p>
            <a:r>
              <a:rPr lang="en-ID" sz="300"/>
              <a:t>        "maskapai": None,</a:t>
            </a:r>
          </a:p>
          <a:p>
            <a:r>
              <a:rPr lang="en-ID" sz="300"/>
              <a:t>        "kelas": None,</a:t>
            </a:r>
          </a:p>
          <a:p>
            <a:r>
              <a:rPr lang="en-ID" sz="300"/>
              <a:t>        "kode_bandara": [],</a:t>
            </a:r>
          </a:p>
          <a:p>
            <a:r>
              <a:rPr lang="en-ID" sz="300"/>
              <a:t>        "email": None,</a:t>
            </a:r>
          </a:p>
          <a:p>
            <a:r>
              <a:rPr lang="en-ID" sz="300"/>
              <a:t>        "nama": None,  </a:t>
            </a:r>
          </a:p>
          <a:p>
            <a:r>
              <a:rPr lang="en-ID" sz="300"/>
              <a:t>  }</a:t>
            </a:r>
          </a:p>
          <a:p>
            <a:endParaRPr lang="en-ID" sz="300"/>
          </a:p>
          <a:p>
            <a:r>
              <a:rPr lang="en-ID" sz="300"/>
              <a:t>    # --- Step 1: NER with BERT ---</a:t>
            </a:r>
          </a:p>
          <a:p>
            <a:r>
              <a:rPr lang="en-ID" sz="300"/>
              <a:t>    ner_results = ner_pipeline(text)</a:t>
            </a:r>
          </a:p>
          <a:p>
            <a:r>
              <a:rPr lang="en-ID" sz="300"/>
              <a:t>    for ent in ner_results:</a:t>
            </a:r>
          </a:p>
          <a:p>
            <a:r>
              <a:rPr lang="en-ID" sz="300"/>
              <a:t>        if ent["entity_group"] == "LOC":</a:t>
            </a:r>
          </a:p>
          <a:p>
            <a:r>
              <a:rPr lang="en-ID" sz="300"/>
              <a:t>            if entities["asal"] is None:</a:t>
            </a:r>
          </a:p>
          <a:p>
            <a:r>
              <a:rPr lang="en-ID" sz="300"/>
              <a:t>                entities["asal"] = ent["word"]</a:t>
            </a:r>
          </a:p>
          <a:p>
            <a:r>
              <a:rPr lang="en-ID" sz="300"/>
              <a:t>            elif entities["tujuan"] is None:</a:t>
            </a:r>
          </a:p>
          <a:p>
            <a:r>
              <a:rPr lang="en-ID" sz="300"/>
              <a:t>                entities["tujuan"] = ent["word"]</a:t>
            </a:r>
          </a:p>
          <a:p>
            <a:r>
              <a:rPr lang="en-ID" sz="300"/>
              <a:t>        elif ent["entity_group"] == "DATE" and entities["tanggal"] is None:</a:t>
            </a:r>
          </a:p>
          <a:p>
            <a:r>
              <a:rPr lang="en-ID" sz="300"/>
              <a:t>            parsed = dateparser.parse(ent["word"], languages=["id"])</a:t>
            </a:r>
          </a:p>
          <a:p>
            <a:r>
              <a:rPr lang="en-ID" sz="300"/>
              <a:t>            if parsed:</a:t>
            </a:r>
          </a:p>
          <a:p>
            <a:r>
              <a:rPr lang="en-ID" sz="300"/>
              <a:t>                entities["tanggal"] = parsed.strftime("%Y-%m-%d")       </a:t>
            </a:r>
          </a:p>
          <a:p>
            <a:r>
              <a:rPr lang="en-ID" sz="300"/>
              <a:t>            elif ent["entity_group"] == "PER" and entities["nama"] is None:</a:t>
            </a:r>
          </a:p>
          <a:p>
            <a:r>
              <a:rPr lang="en-ID" sz="300"/>
              <a:t>                entities["nama"] = ent["word"]</a:t>
            </a:r>
          </a:p>
          <a:p>
            <a:endParaRPr lang="en-ID" sz="300"/>
          </a:p>
          <a:p>
            <a:r>
              <a:rPr lang="en-ID" sz="300"/>
              <a:t>    # --- Step 2: Dictionary Lookup ---</a:t>
            </a:r>
          </a:p>
          <a:p>
            <a:r>
              <a:rPr lang="en-ID" sz="300"/>
              <a:t>    for maskapai in MASKAPAI:</a:t>
            </a:r>
          </a:p>
          <a:p>
            <a:r>
              <a:rPr lang="en-ID" sz="300"/>
              <a:t>        if maskapai.lower() in text.lower():</a:t>
            </a:r>
          </a:p>
          <a:p>
            <a:r>
              <a:rPr lang="en-ID" sz="300"/>
              <a:t>            entities["maskapai"] = maskapai</a:t>
            </a:r>
          </a:p>
          <a:p>
            <a:r>
              <a:rPr lang="en-ID" sz="300"/>
              <a:t>    for kelas in KELAS_KABIN:</a:t>
            </a:r>
          </a:p>
          <a:p>
            <a:r>
              <a:rPr lang="en-ID" sz="300"/>
              <a:t>        if kelas.lower() in text.lower():</a:t>
            </a:r>
          </a:p>
          <a:p>
            <a:r>
              <a:rPr lang="en-ID" sz="300"/>
              <a:t>            entities["kelas"] = kelas</a:t>
            </a:r>
          </a:p>
          <a:p>
            <a:r>
              <a:rPr lang="en-ID" sz="300"/>
              <a:t>    for kota in KOTA:</a:t>
            </a:r>
          </a:p>
          <a:p>
            <a:r>
              <a:rPr lang="en-ID" sz="300"/>
              <a:t>        if kota.lower() in text.lower():</a:t>
            </a:r>
          </a:p>
          <a:p>
            <a:r>
              <a:rPr lang="en-ID" sz="300"/>
              <a:t>            if entities["asal"] is None:</a:t>
            </a:r>
          </a:p>
          <a:p>
            <a:r>
              <a:rPr lang="en-ID" sz="300"/>
              <a:t>                entities["asal"] = kota</a:t>
            </a:r>
          </a:p>
          <a:p>
            <a:r>
              <a:rPr lang="en-ID" sz="300"/>
              <a:t>            elif entities["tujuan"] is None:</a:t>
            </a:r>
          </a:p>
          <a:p>
            <a:r>
              <a:rPr lang="en-ID" sz="300"/>
              <a:t>                entities["tujuan"] = kota</a:t>
            </a:r>
          </a:p>
          <a:p>
            <a:r>
              <a:rPr lang="en-ID" sz="300"/>
              <a:t>    for nama in NAMA_ORANG:</a:t>
            </a:r>
          </a:p>
          <a:p>
            <a:r>
              <a:rPr lang="en-ID" sz="300"/>
              <a:t>        if nama.lower() in text.lower() and entities["nama"] is None:</a:t>
            </a:r>
          </a:p>
          <a:p>
            <a:r>
              <a:rPr lang="en-ID" sz="300"/>
              <a:t>            entities["nama"] = nama</a:t>
            </a:r>
          </a:p>
          <a:p>
            <a:endParaRPr lang="en-ID" sz="300"/>
          </a:p>
          <a:p>
            <a:r>
              <a:rPr lang="en-ID" sz="300"/>
              <a:t>    # --- Step 3: Regex Extraction ---</a:t>
            </a:r>
          </a:p>
          <a:p>
            <a:r>
              <a:rPr lang="en-ID" sz="300"/>
              <a:t>    if match := PATTERN_PENUMPANG.search(text):</a:t>
            </a:r>
          </a:p>
          <a:p>
            <a:r>
              <a:rPr lang="en-ID" sz="300"/>
              <a:t>        entities["penumpang"] = int(match.group(1))</a:t>
            </a:r>
          </a:p>
          <a:p>
            <a:r>
              <a:rPr lang="en-ID" sz="300"/>
              <a:t>    if match := PATTERN_EMAIL.search(text):</a:t>
            </a:r>
          </a:p>
          <a:p>
            <a:r>
              <a:rPr lang="en-ID" sz="300"/>
              <a:t>        entities["email"] = match.group(0)</a:t>
            </a:r>
          </a:p>
          <a:p>
            <a:r>
              <a:rPr lang="en-ID" sz="300"/>
              <a:t>    entities["kode_bandara"] = PATTERN_KODE_BANDARA.findall(text)</a:t>
            </a:r>
          </a:p>
          <a:p>
            <a:endParaRPr lang="en-ID" sz="300"/>
          </a:p>
          <a:p>
            <a:r>
              <a:rPr lang="en-ID" sz="300"/>
              <a:t>    # Regex untuk tanggal (format Indonesia)</a:t>
            </a:r>
          </a:p>
          <a:p>
            <a:r>
              <a:rPr lang="en-ID" sz="300"/>
              <a:t>    if entities["tanggal"] is None:</a:t>
            </a:r>
          </a:p>
          <a:p>
            <a:r>
              <a:rPr lang="en-ID" sz="300"/>
              <a:t>        if match := PATTERN_TANGGAL.search(text):</a:t>
            </a:r>
          </a:p>
          <a:p>
            <a:r>
              <a:rPr lang="en-ID" sz="300"/>
              <a:t>            parsed = dateparser.parse(match.group(1), languages=["id"])</a:t>
            </a:r>
          </a:p>
          <a:p>
            <a:r>
              <a:rPr lang="en-ID" sz="300"/>
              <a:t>            if parsed:</a:t>
            </a:r>
          </a:p>
          <a:p>
            <a:r>
              <a:rPr lang="en-ID" sz="300"/>
              <a:t>                entities["tanggal"] = parsed.strftime("%Y-%m-%d")</a:t>
            </a:r>
          </a:p>
          <a:p>
            <a:endParaRPr lang="en-ID" sz="300"/>
          </a:p>
          <a:p>
            <a:r>
              <a:rPr lang="en-ID" sz="300"/>
              <a:t>    if entities["nama"] is None:</a:t>
            </a:r>
          </a:p>
          <a:p>
            <a:r>
              <a:rPr lang="en-ID" sz="300"/>
              <a:t>        if match := PATTERN_NAMA.search(text):</a:t>
            </a:r>
          </a:p>
          <a:p>
            <a:r>
              <a:rPr lang="en-ID" sz="300"/>
              <a:t>            entities["nama"] = match.group(1)</a:t>
            </a:r>
          </a:p>
          <a:p>
            <a:endParaRPr lang="en-ID" sz="300"/>
          </a:p>
          <a:p>
            <a:r>
              <a:rPr lang="en-ID" sz="300"/>
              <a:t>    return entities</a:t>
            </a:r>
          </a:p>
          <a:p>
            <a:endParaRPr lang="en-ID" sz="300"/>
          </a:p>
          <a:p>
            <a:endParaRPr lang="en-ID" sz="300"/>
          </a:p>
          <a:p>
            <a:r>
              <a:rPr lang="en-ID" sz="300"/>
              <a:t># === 5. Contoh Uji ===</a:t>
            </a:r>
          </a:p>
          <a:p>
            <a:r>
              <a:rPr lang="en-ID" sz="300"/>
              <a:t>user_input = "Saya Budi mau pesan tiket Batik Air dari Jakarta (CGK) ke Denpasar (DPS)  tanggal 20 Oktober untuk 3 orang kelas ekonomi. Email saya budi@mail.com. Terima kasih."</a:t>
            </a:r>
          </a:p>
          <a:p>
            <a:r>
              <a:rPr lang="en-ID" sz="300"/>
              <a:t>result = extract_entities(user_input)</a:t>
            </a:r>
          </a:p>
          <a:p>
            <a:endParaRPr lang="en-ID" sz="300"/>
          </a:p>
          <a:p>
            <a:r>
              <a:rPr lang="en-ID" sz="300"/>
              <a:t>print("Hasil ekstraksi entity:")</a:t>
            </a:r>
          </a:p>
          <a:p>
            <a:r>
              <a:rPr lang="en-ID" sz="300"/>
              <a:t>for k, v in result.items():</a:t>
            </a:r>
          </a:p>
          <a:p>
            <a:r>
              <a:rPr lang="en-ID" sz="300"/>
              <a:t>    print(f"- {k}: {v}")</a:t>
            </a:r>
          </a:p>
          <a:p>
            <a:endParaRPr lang="en-ID" sz="3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DAC2F-6771-96F0-5C8B-B9AA2D77D573}"/>
              </a:ext>
            </a:extLst>
          </p:cNvPr>
          <p:cNvSpPr txBox="1"/>
          <p:nvPr/>
        </p:nvSpPr>
        <p:spPr>
          <a:xfrm>
            <a:off x="722243" y="5386640"/>
            <a:ext cx="61910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/>
              <a:t>"Saya Budi mau pesan tiket Batik Air dari Jakarta (CGK) ke Denpasar (DPS)  tanggal 20 Oktober untuk 3 orang kelas ekonomi. Email saya budi@mail.com. Terima kasih."</a:t>
            </a:r>
          </a:p>
        </p:txBody>
      </p:sp>
    </p:spTree>
    <p:extLst>
      <p:ext uri="{BB962C8B-B14F-4D97-AF65-F5344CB8AC3E}">
        <p14:creationId xmlns:p14="http://schemas.microsoft.com/office/powerpoint/2010/main" val="2555379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A018-053F-FAD6-2CDA-1B7F2764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Bagaimana menangani hal berikut?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F4743-BD0F-89FE-9BA3-62B0421EA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/>
              <a:t>Tanggal relatif:</a:t>
            </a:r>
          </a:p>
          <a:p>
            <a:pPr lvl="1"/>
            <a:r>
              <a:rPr lang="en-ID"/>
              <a:t>Contoh: "besok", "lusa", "minggu depan", "akhir bulan ini“, …</a:t>
            </a:r>
          </a:p>
          <a:p>
            <a:pPr lvl="1"/>
            <a:endParaRPr lang="en-ID"/>
          </a:p>
          <a:p>
            <a:pPr lvl="1"/>
            <a:endParaRPr lang="en-ID"/>
          </a:p>
          <a:p>
            <a:pPr lvl="1"/>
            <a:endParaRPr lang="en-ID"/>
          </a:p>
          <a:p>
            <a:pPr lvl="1"/>
            <a:endParaRPr lang="en-ID"/>
          </a:p>
          <a:p>
            <a:pPr lvl="1"/>
            <a:endParaRPr lang="en-ID"/>
          </a:p>
          <a:p>
            <a:r>
              <a:rPr lang="en-ID"/>
              <a:t>Jam keberangkatan (misalnya “jam 8 pagi”, “malam”, “pukul 15:30”)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5DBA4-7110-6C97-98CF-54DB277753B0}"/>
              </a:ext>
            </a:extLst>
          </p:cNvPr>
          <p:cNvSpPr txBox="1"/>
          <p:nvPr/>
        </p:nvSpPr>
        <p:spPr>
          <a:xfrm>
            <a:off x="1639956" y="2890391"/>
            <a:ext cx="9402418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3200"/>
              <a:t>"Saya mau pesan tiket Garuda dari Jakarta ke Denpasar besok untuk 1 orang"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CC4D4-81D0-BB73-C053-954772D29249}"/>
              </a:ext>
            </a:extLst>
          </p:cNvPr>
          <p:cNvSpPr txBox="1"/>
          <p:nvPr/>
        </p:nvSpPr>
        <p:spPr>
          <a:xfrm>
            <a:off x="1639956" y="5234682"/>
            <a:ext cx="9402418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3200"/>
              <a:t>"Saya mau pesan tiket Garuda dari Jakarta ke Denpasar besok pukul 15:30 untuk 1 orang"</a:t>
            </a:r>
          </a:p>
        </p:txBody>
      </p:sp>
    </p:spTree>
    <p:extLst>
      <p:ext uri="{BB962C8B-B14F-4D97-AF65-F5344CB8AC3E}">
        <p14:creationId xmlns:p14="http://schemas.microsoft.com/office/powerpoint/2010/main" val="14563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Quad Arrow 1">
            <a:extLst>
              <a:ext uri="{FF2B5EF4-FFF2-40B4-BE49-F238E27FC236}">
                <a16:creationId xmlns:a16="http://schemas.microsoft.com/office/drawing/2014/main" id="{C3270C89-8F8A-ED43-2FAF-A96D82FB4653}"/>
              </a:ext>
            </a:extLst>
          </p:cNvPr>
          <p:cNvSpPr/>
          <p:nvPr/>
        </p:nvSpPr>
        <p:spPr>
          <a:xfrm>
            <a:off x="4919870" y="2753139"/>
            <a:ext cx="2932043" cy="1918252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7720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A6B8-6954-CEBA-F68B-34708A5C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Dialog State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3EA84-93B1-91C0-2B99-2C4BD208E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6870" cy="4351338"/>
          </a:xfrm>
        </p:spPr>
        <p:txBody>
          <a:bodyPr>
            <a:normAutofit fontScale="92500" lnSpcReduction="10000"/>
          </a:bodyPr>
          <a:lstStyle/>
          <a:p>
            <a:r>
              <a:rPr lang="en-ID" dirty="0"/>
              <a:t>Proses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memantau</a:t>
            </a:r>
            <a:r>
              <a:rPr lang="en-ID" dirty="0"/>
              <a:t>, </a:t>
            </a:r>
            <a:r>
              <a:rPr lang="en-ID" dirty="0" err="1"/>
              <a:t>menyimpan</a:t>
            </a:r>
            <a:r>
              <a:rPr lang="en-ID" dirty="0"/>
              <a:t>, dan </a:t>
            </a:r>
            <a:r>
              <a:rPr lang="en-ID" dirty="0" err="1"/>
              <a:t>memperbarui</a:t>
            </a:r>
            <a:r>
              <a:rPr lang="en-ID" dirty="0"/>
              <a:t> </a:t>
            </a:r>
            <a:r>
              <a:rPr lang="en-ID" b="1" dirty="0"/>
              <a:t>status</a:t>
            </a:r>
            <a:r>
              <a:rPr lang="en-ID" dirty="0"/>
              <a:t> </a:t>
            </a:r>
            <a:r>
              <a:rPr lang="en-ID" b="1" dirty="0" err="1"/>
              <a:t>percakapan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dan chatbot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sesi</a:t>
            </a:r>
            <a:r>
              <a:rPr lang="en-ID" dirty="0"/>
              <a:t> </a:t>
            </a:r>
            <a:r>
              <a:rPr lang="en-ID" dirty="0" err="1"/>
              <a:t>interaksi</a:t>
            </a:r>
            <a:r>
              <a:rPr lang="en-ID" dirty="0"/>
              <a:t>. </a:t>
            </a:r>
          </a:p>
          <a:p>
            <a:pPr lvl="1"/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dibicarakan</a:t>
            </a:r>
            <a:endParaRPr lang="en-ID" dirty="0"/>
          </a:p>
          <a:p>
            <a:pPr lvl="1"/>
            <a:r>
              <a:rPr lang="en-ID" dirty="0" err="1"/>
              <a:t>Mengingat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disebutkan</a:t>
            </a:r>
            <a:endParaRPr lang="en-ID" dirty="0"/>
          </a:p>
          <a:p>
            <a:pPr lvl="1"/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selanjutnya</a:t>
            </a:r>
            <a:endParaRPr lang="en-ID" dirty="0"/>
          </a:p>
          <a:p>
            <a:pPr lvl="1"/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dijawab</a:t>
            </a:r>
            <a:endParaRPr lang="en-ID" dirty="0"/>
          </a:p>
          <a:p>
            <a:pPr lvl="1"/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dan intent </a:t>
            </a:r>
            <a:r>
              <a:rPr lang="en-ID" dirty="0" err="1"/>
              <a:t>pengguna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90DA51-9790-7865-87B5-1F7870868E70}"/>
              </a:ext>
            </a:extLst>
          </p:cNvPr>
          <p:cNvSpPr txBox="1">
            <a:spLocks/>
          </p:cNvSpPr>
          <p:nvPr/>
        </p:nvSpPr>
        <p:spPr>
          <a:xfrm>
            <a:off x="6324600" y="1825625"/>
            <a:ext cx="54368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process of </a:t>
            </a:r>
            <a:r>
              <a:rPr lang="en-US" b="1" dirty="0"/>
              <a:t>monitoring</a:t>
            </a:r>
            <a:r>
              <a:rPr lang="en-US" dirty="0"/>
              <a:t>, storing, and updating the </a:t>
            </a:r>
            <a:r>
              <a:rPr lang="en-US" b="1" dirty="0"/>
              <a:t>state</a:t>
            </a:r>
            <a:r>
              <a:rPr lang="en-US" dirty="0"/>
              <a:t> of a </a:t>
            </a:r>
            <a:r>
              <a:rPr lang="en-US" b="1" dirty="0"/>
              <a:t>conversation</a:t>
            </a:r>
            <a:r>
              <a:rPr lang="en-US" dirty="0"/>
              <a:t> between a user and a chatbot during an interaction session.</a:t>
            </a:r>
          </a:p>
          <a:p>
            <a:pPr lvl="1"/>
            <a:r>
              <a:rPr lang="en-US" dirty="0"/>
              <a:t>Knowing what is being talked about</a:t>
            </a:r>
          </a:p>
          <a:p>
            <a:pPr lvl="1"/>
            <a:r>
              <a:rPr lang="en-US" dirty="0"/>
              <a:t>Remembering information that has already been said</a:t>
            </a:r>
          </a:p>
          <a:p>
            <a:pPr lvl="1"/>
            <a:r>
              <a:rPr lang="en-US" dirty="0"/>
              <a:t>Determining next steps or questions</a:t>
            </a:r>
          </a:p>
          <a:p>
            <a:pPr lvl="1"/>
            <a:r>
              <a:rPr lang="en-US" dirty="0"/>
              <a:t>Avoiding questions that have already been answered</a:t>
            </a:r>
          </a:p>
          <a:p>
            <a:pPr lvl="1"/>
            <a:r>
              <a:rPr lang="en-US" dirty="0"/>
              <a:t>Managing user context and intent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77C89-05C9-D63B-8044-748AF1FBCBB0}"/>
              </a:ext>
            </a:extLst>
          </p:cNvPr>
          <p:cNvSpPr txBox="1"/>
          <p:nvPr/>
        </p:nvSpPr>
        <p:spPr>
          <a:xfrm>
            <a:off x="6495287" y="218639"/>
            <a:ext cx="1982792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900" dirty="0" err="1"/>
              <a:t>dialog_state</a:t>
            </a:r>
            <a:r>
              <a:rPr lang="en-ID" sz="900" dirty="0"/>
              <a:t> = {</a:t>
            </a:r>
          </a:p>
          <a:p>
            <a:r>
              <a:rPr lang="en-ID" sz="900" dirty="0"/>
              <a:t>    "intent": None,</a:t>
            </a:r>
          </a:p>
          <a:p>
            <a:r>
              <a:rPr lang="en-ID" sz="900" dirty="0"/>
              <a:t>    "slots": {</a:t>
            </a:r>
          </a:p>
          <a:p>
            <a:r>
              <a:rPr lang="en-ID" sz="900" dirty="0"/>
              <a:t>        "</a:t>
            </a:r>
            <a:r>
              <a:rPr lang="en-ID" sz="900" dirty="0" err="1"/>
              <a:t>departure_city</a:t>
            </a:r>
            <a:r>
              <a:rPr lang="en-ID" sz="900" dirty="0"/>
              <a:t>": None,</a:t>
            </a:r>
          </a:p>
          <a:p>
            <a:r>
              <a:rPr lang="en-ID" sz="900" dirty="0"/>
              <a:t>        "</a:t>
            </a:r>
            <a:r>
              <a:rPr lang="en-ID" sz="900" dirty="0" err="1"/>
              <a:t>arrival_city</a:t>
            </a:r>
            <a:r>
              <a:rPr lang="en-ID" sz="900" dirty="0"/>
              <a:t>": None,</a:t>
            </a:r>
          </a:p>
          <a:p>
            <a:r>
              <a:rPr lang="en-ID" sz="900" dirty="0"/>
              <a:t>        "</a:t>
            </a:r>
            <a:r>
              <a:rPr lang="en-ID" sz="900" dirty="0" err="1"/>
              <a:t>departure_date</a:t>
            </a:r>
            <a:r>
              <a:rPr lang="en-ID" sz="900" dirty="0"/>
              <a:t>": None</a:t>
            </a:r>
          </a:p>
          <a:p>
            <a:r>
              <a:rPr lang="en-ID" sz="900" dirty="0"/>
              <a:t>    },</a:t>
            </a:r>
          </a:p>
          <a:p>
            <a:r>
              <a:rPr lang="en-ID" sz="900" dirty="0"/>
              <a:t>    "turn": 1,</a:t>
            </a:r>
          </a:p>
          <a:p>
            <a:r>
              <a:rPr lang="en-ID" sz="900" dirty="0"/>
              <a:t>    "status": "</a:t>
            </a:r>
            <a:r>
              <a:rPr lang="en-ID" sz="900" dirty="0" err="1"/>
              <a:t>in_progress</a:t>
            </a:r>
            <a:r>
              <a:rPr lang="en-ID" sz="900" dirty="0"/>
              <a:t>"</a:t>
            </a:r>
          </a:p>
          <a:p>
            <a:r>
              <a:rPr lang="en-ID" sz="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1447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4876-E07E-518F-2666-B2363712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Dialog State Tracking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959D6-0372-C0B2-243B-6BBA9772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/>
              <a:t>Komponen yang bertugas melacak </a:t>
            </a:r>
            <a:r>
              <a:rPr lang="en-ID" b="1"/>
              <a:t>status</a:t>
            </a:r>
            <a:r>
              <a:rPr lang="en-ID"/>
              <a:t> </a:t>
            </a:r>
            <a:r>
              <a:rPr lang="en-ID" b="1"/>
              <a:t>percakapan</a:t>
            </a:r>
            <a:r>
              <a:rPr lang="en-ID"/>
              <a:t> antara pengguna dan chatbot agar sistem tahu “sedang di mana” dalam alur dialog.</a:t>
            </a:r>
          </a:p>
          <a:p>
            <a:pPr lvl="1"/>
            <a:r>
              <a:rPr lang="en-ID"/>
              <a:t>Mencatat posisi atau state percakapan saat ini</a:t>
            </a:r>
          </a:p>
          <a:p>
            <a:pPr lvl="2"/>
            <a:r>
              <a:rPr lang="en-ID"/>
              <a:t>Menangani transisi antar state (jika berbasis state machine)</a:t>
            </a:r>
          </a:p>
          <a:p>
            <a:pPr lvl="1"/>
            <a:r>
              <a:rPr lang="en-ID"/>
              <a:t>Memonitor informasi (slot/parameter) yang sudah diperoleh</a:t>
            </a:r>
          </a:p>
          <a:p>
            <a:pPr lvl="1"/>
            <a:r>
              <a:rPr lang="en-ID"/>
              <a:t>Mengelola riwayat percakapan (dialog history)</a:t>
            </a:r>
          </a:p>
          <a:p>
            <a:pPr lvl="1"/>
            <a:r>
              <a:rPr lang="en-ID"/>
              <a:t>Memberikan input ke Dialog Policy</a:t>
            </a:r>
          </a:p>
          <a:p>
            <a:pPr lvl="1"/>
            <a:r>
              <a:rPr lang="en-ID"/>
              <a:t>Memastikan chatbot berpindah ke state berikutnya dengan benar sesuai aturan atau kondisi.</a:t>
            </a:r>
          </a:p>
        </p:txBody>
      </p:sp>
    </p:spTree>
    <p:extLst>
      <p:ext uri="{BB962C8B-B14F-4D97-AF65-F5344CB8AC3E}">
        <p14:creationId xmlns:p14="http://schemas.microsoft.com/office/powerpoint/2010/main" val="2355036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825F-CC9F-58C0-4379-9D84CC22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State Dialog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53DEB-2EA3-3EA9-085A-EDC634CF5C5F}"/>
              </a:ext>
            </a:extLst>
          </p:cNvPr>
          <p:cNvSpPr txBox="1"/>
          <p:nvPr/>
        </p:nvSpPr>
        <p:spPr>
          <a:xfrm>
            <a:off x="1485900" y="1897380"/>
            <a:ext cx="5073926" cy="440120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2800" dirty="0" err="1"/>
              <a:t>dialog_state</a:t>
            </a:r>
            <a:r>
              <a:rPr lang="en-ID" sz="2800" dirty="0"/>
              <a:t> = {</a:t>
            </a:r>
          </a:p>
          <a:p>
            <a:r>
              <a:rPr lang="en-ID" sz="2800" dirty="0"/>
              <a:t>    "intent": "</a:t>
            </a:r>
            <a:r>
              <a:rPr lang="en-ID" sz="2800" dirty="0" err="1"/>
              <a:t>book_flight</a:t>
            </a:r>
            <a:r>
              <a:rPr lang="en-ID" sz="2800" dirty="0"/>
              <a:t>",</a:t>
            </a:r>
          </a:p>
          <a:p>
            <a:r>
              <a:rPr lang="en-ID" sz="2800" dirty="0"/>
              <a:t>    "slots": {</a:t>
            </a:r>
          </a:p>
          <a:p>
            <a:r>
              <a:rPr lang="en-ID" sz="2800" dirty="0"/>
              <a:t>        "</a:t>
            </a:r>
            <a:r>
              <a:rPr lang="en-ID" sz="2800" dirty="0" err="1"/>
              <a:t>departure_city</a:t>
            </a:r>
            <a:r>
              <a:rPr lang="en-ID" sz="2800" dirty="0"/>
              <a:t>": "Jakarta",</a:t>
            </a:r>
          </a:p>
          <a:p>
            <a:r>
              <a:rPr lang="en-ID" sz="2800" dirty="0"/>
              <a:t>        "</a:t>
            </a:r>
            <a:r>
              <a:rPr lang="en-ID" sz="2800" dirty="0" err="1"/>
              <a:t>arrival_city</a:t>
            </a:r>
            <a:r>
              <a:rPr lang="en-ID" sz="2800" dirty="0"/>
              <a:t>": “Denpasar",</a:t>
            </a:r>
          </a:p>
          <a:p>
            <a:r>
              <a:rPr lang="en-ID" sz="2800" dirty="0"/>
              <a:t>        "</a:t>
            </a:r>
            <a:r>
              <a:rPr lang="en-ID" sz="2800" dirty="0" err="1"/>
              <a:t>departure_date</a:t>
            </a:r>
            <a:r>
              <a:rPr lang="en-ID" sz="2800" dirty="0"/>
              <a:t>": None</a:t>
            </a:r>
          </a:p>
          <a:p>
            <a:r>
              <a:rPr lang="en-ID" sz="2800" dirty="0"/>
              <a:t>    },</a:t>
            </a:r>
          </a:p>
          <a:p>
            <a:r>
              <a:rPr lang="en-ID" sz="2800" dirty="0"/>
              <a:t>    "turn": 3,</a:t>
            </a:r>
          </a:p>
          <a:p>
            <a:r>
              <a:rPr lang="en-ID" sz="2800" dirty="0"/>
              <a:t>    "status": "</a:t>
            </a:r>
            <a:r>
              <a:rPr lang="en-ID" sz="2800" dirty="0" err="1"/>
              <a:t>in_progress</a:t>
            </a:r>
            <a:r>
              <a:rPr lang="en-ID" sz="2800" dirty="0"/>
              <a:t>"</a:t>
            </a:r>
          </a:p>
          <a:p>
            <a:r>
              <a:rPr lang="en-ID" sz="28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128F5-184B-1FDB-CD5C-2278AA980FA3}"/>
              </a:ext>
            </a:extLst>
          </p:cNvPr>
          <p:cNvSpPr txBox="1"/>
          <p:nvPr/>
        </p:nvSpPr>
        <p:spPr>
          <a:xfrm>
            <a:off x="7106478" y="1789044"/>
            <a:ext cx="44129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bot knows that the user wants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intent = book a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origin = Jakarta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destination = Denpasar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but has not mentioned the departure date.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1917413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F798-B609-4B9A-DC63-7BBD45E9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State Dialog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D91F-F652-9F26-782D-9A1FAC9268A7}"/>
              </a:ext>
            </a:extLst>
          </p:cNvPr>
          <p:cNvSpPr txBox="1">
            <a:spLocks/>
          </p:cNvSpPr>
          <p:nvPr/>
        </p:nvSpPr>
        <p:spPr>
          <a:xfrm>
            <a:off x="4284928" y="1982535"/>
            <a:ext cx="6709653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want to order a flight ticket.</a:t>
            </a:r>
          </a:p>
          <a:p>
            <a:endParaRPr lang="en-US" dirty="0"/>
          </a:p>
          <a:p>
            <a:pPr algn="r"/>
            <a:r>
              <a:rPr lang="en-US" dirty="0"/>
              <a:t>Sure. Which city will you depart from?</a:t>
            </a:r>
          </a:p>
          <a:p>
            <a:endParaRPr lang="en-US" dirty="0"/>
          </a:p>
          <a:p>
            <a:r>
              <a:rPr lang="en-US" dirty="0"/>
              <a:t>Jakarta</a:t>
            </a:r>
          </a:p>
          <a:p>
            <a:pPr algn="r"/>
            <a:r>
              <a:rPr lang="en-US" dirty="0"/>
              <a:t>Where do you want to go?</a:t>
            </a:r>
          </a:p>
          <a:p>
            <a:endParaRPr lang="en-US" dirty="0"/>
          </a:p>
          <a:p>
            <a:r>
              <a:rPr lang="en-US" dirty="0"/>
              <a:t>I will go to Denpasar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F3C4E-50AD-30F3-A80B-CD972AC4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49" y="1837871"/>
            <a:ext cx="632450" cy="534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421462-DEF5-760A-6737-AA7933423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49" y="3818611"/>
            <a:ext cx="632450" cy="534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70363-F779-0A59-1FC0-84909BF4D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62" y="5543989"/>
            <a:ext cx="632450" cy="534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A46006-D26B-4408-FD82-4E963BBC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771" y="2711521"/>
            <a:ext cx="684188" cy="650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52B4B6-EDBC-82B2-B954-8A6085EC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771" y="4682993"/>
            <a:ext cx="684188" cy="6502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D3B55-59D5-6175-1B68-95BBF4E254C4}"/>
              </a:ext>
            </a:extLst>
          </p:cNvPr>
          <p:cNvSpPr txBox="1"/>
          <p:nvPr/>
        </p:nvSpPr>
        <p:spPr>
          <a:xfrm>
            <a:off x="193877" y="1639935"/>
            <a:ext cx="2867375" cy="255454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1600" dirty="0" err="1"/>
              <a:t>dialog_state</a:t>
            </a:r>
            <a:r>
              <a:rPr lang="en-ID" sz="1600" dirty="0"/>
              <a:t> = {</a:t>
            </a:r>
          </a:p>
          <a:p>
            <a:r>
              <a:rPr lang="en-ID" sz="1600" dirty="0"/>
              <a:t>    "intent": None,</a:t>
            </a:r>
          </a:p>
          <a:p>
            <a:r>
              <a:rPr lang="en-ID" sz="1600" dirty="0"/>
              <a:t>    "slots": {</a:t>
            </a:r>
          </a:p>
          <a:p>
            <a:r>
              <a:rPr lang="en-ID" sz="1600" dirty="0"/>
              <a:t>        "</a:t>
            </a:r>
            <a:r>
              <a:rPr lang="en-ID" sz="1600" dirty="0" err="1"/>
              <a:t>departure_city</a:t>
            </a:r>
            <a:r>
              <a:rPr lang="en-ID" sz="1600" dirty="0"/>
              <a:t>": None,</a:t>
            </a:r>
          </a:p>
          <a:p>
            <a:r>
              <a:rPr lang="en-ID" sz="1600" dirty="0"/>
              <a:t>        "</a:t>
            </a:r>
            <a:r>
              <a:rPr lang="en-ID" sz="1600" dirty="0" err="1"/>
              <a:t>arrival_city</a:t>
            </a:r>
            <a:r>
              <a:rPr lang="en-ID" sz="1600" dirty="0"/>
              <a:t>": None,</a:t>
            </a:r>
          </a:p>
          <a:p>
            <a:r>
              <a:rPr lang="en-ID" sz="1600" dirty="0"/>
              <a:t>        "</a:t>
            </a:r>
            <a:r>
              <a:rPr lang="en-ID" sz="1600" dirty="0" err="1"/>
              <a:t>departure_date</a:t>
            </a:r>
            <a:r>
              <a:rPr lang="en-ID" sz="1600" dirty="0"/>
              <a:t>": None</a:t>
            </a:r>
          </a:p>
          <a:p>
            <a:r>
              <a:rPr lang="en-ID" sz="1600" dirty="0"/>
              <a:t>    },</a:t>
            </a:r>
          </a:p>
          <a:p>
            <a:r>
              <a:rPr lang="en-ID" sz="1600" dirty="0"/>
              <a:t>    "turn": 1,</a:t>
            </a:r>
          </a:p>
          <a:p>
            <a:r>
              <a:rPr lang="en-ID" sz="1600" dirty="0"/>
              <a:t>    "status": "</a:t>
            </a:r>
            <a:r>
              <a:rPr lang="en-ID" sz="1600" dirty="0" err="1"/>
              <a:t>in_progress</a:t>
            </a:r>
            <a:r>
              <a:rPr lang="en-ID" sz="1600" dirty="0"/>
              <a:t>"</a:t>
            </a:r>
          </a:p>
          <a:p>
            <a:r>
              <a:rPr lang="en-ID" sz="1600" dirty="0"/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3A318E-993A-723C-C113-D09E900988FF}"/>
              </a:ext>
            </a:extLst>
          </p:cNvPr>
          <p:cNvCxnSpPr/>
          <p:nvPr/>
        </p:nvCxnSpPr>
        <p:spPr>
          <a:xfrm flipH="1" flipV="1">
            <a:off x="1858617" y="2107096"/>
            <a:ext cx="3528392" cy="26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E2FDD3-AB1C-BB33-A3C1-9AF3F7F603D3}"/>
              </a:ext>
            </a:extLst>
          </p:cNvPr>
          <p:cNvCxnSpPr>
            <a:cxnSpLocks/>
          </p:cNvCxnSpPr>
          <p:nvPr/>
        </p:nvCxnSpPr>
        <p:spPr>
          <a:xfrm flipH="1" flipV="1">
            <a:off x="2773017" y="2711521"/>
            <a:ext cx="2126974" cy="128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A72AF6-C211-179C-4231-90F5B9A69BB5}"/>
              </a:ext>
            </a:extLst>
          </p:cNvPr>
          <p:cNvCxnSpPr/>
          <p:nvPr/>
        </p:nvCxnSpPr>
        <p:spPr>
          <a:xfrm flipH="1" flipV="1">
            <a:off x="2514600" y="2832652"/>
            <a:ext cx="1770328" cy="2633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535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553E-4D39-AB6A-E8EC-69CBF6C5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How Dialog State Tracking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CCB0-90EB-A87D-B827-77B4C50E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5174" cy="4351338"/>
          </a:xfrm>
        </p:spPr>
        <p:txBody>
          <a:bodyPr>
            <a:normAutofit/>
          </a:bodyPr>
          <a:lstStyle/>
          <a:p>
            <a:r>
              <a:rPr lang="en-US" dirty="0"/>
              <a:t>Every time a user provides input:</a:t>
            </a:r>
          </a:p>
          <a:p>
            <a:pPr lvl="1"/>
            <a:r>
              <a:rPr lang="en-US"/>
              <a:t>Intent dikenali oleh modul </a:t>
            </a:r>
            <a:r>
              <a:rPr lang="en-US" b="1"/>
              <a:t>intent</a:t>
            </a:r>
            <a:r>
              <a:rPr lang="en-US"/>
              <a:t> </a:t>
            </a:r>
            <a:r>
              <a:rPr lang="en-US" b="1"/>
              <a:t>recognition</a:t>
            </a:r>
            <a:r>
              <a:rPr lang="en-US"/>
              <a:t> (misalnya: book_flight, …)</a:t>
            </a:r>
          </a:p>
          <a:p>
            <a:pPr lvl="1"/>
            <a:r>
              <a:rPr lang="en-US"/>
              <a:t>Slot diisi berdasarkan hasil dari </a:t>
            </a:r>
            <a:r>
              <a:rPr lang="en-US" b="1"/>
              <a:t>entity</a:t>
            </a:r>
            <a:r>
              <a:rPr lang="en-US"/>
              <a:t> </a:t>
            </a:r>
            <a:r>
              <a:rPr lang="en-US" b="1"/>
              <a:t>recognition</a:t>
            </a:r>
          </a:p>
          <a:p>
            <a:pPr lvl="1"/>
            <a:r>
              <a:rPr lang="en-US" b="1"/>
              <a:t>Manajer</a:t>
            </a:r>
            <a:r>
              <a:rPr lang="en-US"/>
              <a:t> </a:t>
            </a:r>
            <a:r>
              <a:rPr lang="en-US" b="1"/>
              <a:t>dialog</a:t>
            </a:r>
            <a:r>
              <a:rPr lang="en-US"/>
              <a:t> memeriksa slot kosong</a:t>
            </a:r>
          </a:p>
          <a:p>
            <a:pPr lvl="1"/>
            <a:r>
              <a:rPr lang="en-US"/>
              <a:t>Jika masih ada slot kosong, bot akan mengajukan pertanyaan</a:t>
            </a:r>
          </a:p>
          <a:p>
            <a:pPr lvl="1"/>
            <a:r>
              <a:rPr lang="en-US"/>
              <a:t>Jika semua informasi mencukupi, kueri akan dieksekusi → status = “complete"</a:t>
            </a:r>
            <a:endParaRPr lang="en-ID" dirty="0"/>
          </a:p>
        </p:txBody>
      </p:sp>
      <p:pic>
        <p:nvPicPr>
          <p:cNvPr id="1026" name="Picture 2" descr="Dialog Stock Illustrations – 212,453 ...">
            <a:extLst>
              <a:ext uri="{FF2B5EF4-FFF2-40B4-BE49-F238E27FC236}">
                <a16:creationId xmlns:a16="http://schemas.microsoft.com/office/drawing/2014/main" id="{D67536C8-D97A-C3A2-C791-F40541CFC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473" y="2178533"/>
            <a:ext cx="2890424" cy="289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531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6027-1FD1-61E2-AC49-E6705EA8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3697" cy="1325563"/>
          </a:xfrm>
        </p:spPr>
        <p:txBody>
          <a:bodyPr/>
          <a:lstStyle/>
          <a:p>
            <a:r>
              <a:rPr lang="en-US"/>
              <a:t>Skenario Pemesanan Tiket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84D85-DEBF-6C6B-2834-7117E6348E66}"/>
              </a:ext>
            </a:extLst>
          </p:cNvPr>
          <p:cNvSpPr txBox="1"/>
          <p:nvPr/>
        </p:nvSpPr>
        <p:spPr>
          <a:xfrm>
            <a:off x="556591" y="1690688"/>
            <a:ext cx="5227983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000" b="1"/>
              <a:t>User</a:t>
            </a:r>
            <a:r>
              <a:rPr lang="en-ID" sz="2000"/>
              <a:t>: “Saya mau pesan 2 tiket dari Surabaya ke Jakarta tanggal 15 September 2025 pukul 09:00”.</a:t>
            </a:r>
          </a:p>
          <a:p>
            <a:endParaRPr lang="en-ID" sz="2000"/>
          </a:p>
          <a:p>
            <a:pPr algn="r"/>
            <a:r>
              <a:rPr lang="en-ID" sz="2000" b="1"/>
              <a:t>Bot</a:t>
            </a:r>
            <a:r>
              <a:rPr lang="en-ID" sz="2000"/>
              <a:t>: “Baik, saya catat: dari Surabaya tujuan Jakarta, tanggal 15 September 2025 pukul 09:00, jumlah penumpang 2 orang. Betul?”</a:t>
            </a:r>
          </a:p>
          <a:p>
            <a:endParaRPr lang="en-ID" sz="2000"/>
          </a:p>
          <a:p>
            <a:r>
              <a:rPr lang="en-ID" sz="2000" b="1"/>
              <a:t>User</a:t>
            </a:r>
            <a:r>
              <a:rPr lang="en-ID" sz="2000"/>
              <a:t>: “Betul.”</a:t>
            </a:r>
          </a:p>
          <a:p>
            <a:endParaRPr lang="en-ID" sz="2000"/>
          </a:p>
          <a:p>
            <a:pPr algn="r"/>
            <a:r>
              <a:rPr lang="en-ID" sz="2000" b="1"/>
              <a:t>Bot</a:t>
            </a:r>
            <a:r>
              <a:rPr lang="en-ID" sz="2000"/>
              <a:t>: “Pesanan berhasil diproses. Berikut detail tiket Anda...”</a:t>
            </a:r>
          </a:p>
          <a:p>
            <a:endParaRPr lang="en-ID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4887F-AA70-EA3C-86A4-56917D0BFD49}"/>
              </a:ext>
            </a:extLst>
          </p:cNvPr>
          <p:cNvSpPr txBox="1"/>
          <p:nvPr/>
        </p:nvSpPr>
        <p:spPr>
          <a:xfrm>
            <a:off x="1451113" y="5923722"/>
            <a:ext cx="4234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One-shot scenario</a:t>
            </a:r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F9A56-B2F9-4C7F-1BAA-D4ADB5C993CE}"/>
              </a:ext>
            </a:extLst>
          </p:cNvPr>
          <p:cNvSpPr txBox="1"/>
          <p:nvPr/>
        </p:nvSpPr>
        <p:spPr>
          <a:xfrm>
            <a:off x="6308037" y="168300"/>
            <a:ext cx="5761381" cy="61247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1400" b="1"/>
              <a:t>User</a:t>
            </a:r>
            <a:r>
              <a:rPr lang="en-ID" sz="1400"/>
              <a:t>: “Saya mau pesan tiket.”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“Baik, dari kota mana Anda akan berangkat?”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“Dari Surabaya.”   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“Tujuan perjalanannya ke mana?”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“Ke Jakarta.” Slot: tujuan = Jakarta 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“Tanggal berapa Anda ingin berangkat?”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“15 September 2025.”   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“Jam berapa Anda ingin berangkat?”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“Pukul 09:00 pagi.”   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“Untuk berapa orang tiketnya?”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“2 orang.”Slot: jumlah_penumpang = 2 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“Baik, saya catat: berangkat dari Surabaya ke Jakarta, tanggal 15 September 2025 pukul 09:00, untuk 2 orang. Apakah sudah benar?”</a:t>
            </a:r>
          </a:p>
          <a:p>
            <a:endParaRPr lang="en-ID" sz="1400"/>
          </a:p>
          <a:p>
            <a:r>
              <a:rPr lang="en-ID" sz="1400" b="1"/>
              <a:t>User</a:t>
            </a:r>
            <a:r>
              <a:rPr lang="en-ID" sz="1400"/>
              <a:t>: “Ya, benar.”</a:t>
            </a:r>
          </a:p>
          <a:p>
            <a:endParaRPr lang="en-ID" sz="1400"/>
          </a:p>
          <a:p>
            <a:pPr algn="r"/>
            <a:r>
              <a:rPr lang="en-ID" sz="1400" b="1"/>
              <a:t>Bot</a:t>
            </a:r>
            <a:r>
              <a:rPr lang="en-ID" sz="1400"/>
              <a:t>: “Terima kasih, pesanan Anda akan segera diproses.”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FCF61-3740-348D-FF6A-D156CBC5F6EB}"/>
              </a:ext>
            </a:extLst>
          </p:cNvPr>
          <p:cNvSpPr txBox="1"/>
          <p:nvPr/>
        </p:nvSpPr>
        <p:spPr>
          <a:xfrm>
            <a:off x="7696200" y="6346008"/>
            <a:ext cx="4234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Multi-turn scenario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0047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4F93-98FC-45CE-FE12-06D0BB7B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Eksekusi slot yang sudah lengkap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30271-9761-A673-573C-9247150A2449}"/>
              </a:ext>
            </a:extLst>
          </p:cNvPr>
          <p:cNvSpPr txBox="1"/>
          <p:nvPr/>
        </p:nvSpPr>
        <p:spPr>
          <a:xfrm>
            <a:off x="1172817" y="1888435"/>
            <a:ext cx="282271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/>
              <a:t>{</a:t>
            </a:r>
          </a:p>
          <a:p>
            <a:r>
              <a:rPr lang="en-ID"/>
              <a:t>  "asal_kota": "Surabaya",</a:t>
            </a:r>
          </a:p>
          <a:p>
            <a:r>
              <a:rPr lang="en-ID"/>
              <a:t>  "tujuan": "Jakarta",</a:t>
            </a:r>
          </a:p>
          <a:p>
            <a:r>
              <a:rPr lang="en-ID"/>
              <a:t>  "tanggal": "2025-09-15",</a:t>
            </a:r>
          </a:p>
          <a:p>
            <a:r>
              <a:rPr lang="en-ID"/>
              <a:t>  "jam_berangkat": "09:00",</a:t>
            </a:r>
          </a:p>
          <a:p>
            <a:r>
              <a:rPr lang="en-ID"/>
              <a:t>  "jumlah_penumpang": 2</a:t>
            </a:r>
          </a:p>
          <a:p>
            <a:r>
              <a:rPr lang="en-ID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14064-A88A-DF00-4426-4BDED488E097}"/>
              </a:ext>
            </a:extLst>
          </p:cNvPr>
          <p:cNvSpPr txBox="1"/>
          <p:nvPr/>
        </p:nvSpPr>
        <p:spPr>
          <a:xfrm>
            <a:off x="4532244" y="2894158"/>
            <a:ext cx="332960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/>
              <a:t>SELECT * </a:t>
            </a:r>
          </a:p>
          <a:p>
            <a:r>
              <a:rPr lang="en-ID"/>
              <a:t>FROM tiket</a:t>
            </a:r>
          </a:p>
          <a:p>
            <a:r>
              <a:rPr lang="en-ID"/>
              <a:t>WHERE asal_kota = 'Surabaya'</a:t>
            </a:r>
          </a:p>
          <a:p>
            <a:r>
              <a:rPr lang="en-ID"/>
              <a:t>  AND tujuan = 'Jakarta'</a:t>
            </a:r>
          </a:p>
          <a:p>
            <a:r>
              <a:rPr lang="en-ID"/>
              <a:t>  AND tanggal = '2025-09-15'</a:t>
            </a:r>
          </a:p>
          <a:p>
            <a:r>
              <a:rPr lang="en-ID"/>
              <a:t>  AND jam_berangkat = '09:00'</a:t>
            </a:r>
          </a:p>
          <a:p>
            <a:r>
              <a:rPr lang="en-ID"/>
              <a:t>  AND jumlah_kursi &gt;= 2;</a:t>
            </a:r>
          </a:p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729E5-7C65-2C82-1922-55852124B9F1}"/>
              </a:ext>
            </a:extLst>
          </p:cNvPr>
          <p:cNvSpPr txBox="1"/>
          <p:nvPr/>
        </p:nvSpPr>
        <p:spPr>
          <a:xfrm>
            <a:off x="6530009" y="5387009"/>
            <a:ext cx="531743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/>
              <a:t># Endpoint service untuk eksekusi kueri tiket</a:t>
            </a:r>
          </a:p>
          <a:p>
            <a:r>
              <a:rPr lang="en-ID"/>
              <a:t>url = "https://api.tiket-service.com/search"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27EA83-C19A-7802-7BDA-26EB6BACED40}"/>
              </a:ext>
            </a:extLst>
          </p:cNvPr>
          <p:cNvSpPr/>
          <p:nvPr/>
        </p:nvSpPr>
        <p:spPr>
          <a:xfrm rot="1471185">
            <a:off x="3559260" y="4083686"/>
            <a:ext cx="904460" cy="526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AF8AB63-6967-7C04-49D7-272E8F050102}"/>
              </a:ext>
            </a:extLst>
          </p:cNvPr>
          <p:cNvSpPr/>
          <p:nvPr/>
        </p:nvSpPr>
        <p:spPr>
          <a:xfrm rot="1471185">
            <a:off x="5441069" y="5342639"/>
            <a:ext cx="904460" cy="526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718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93E3-EB11-7ED2-D761-0C482CB5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implementasi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21024-CC19-2194-60E6-7A54B4BD29FC}"/>
              </a:ext>
            </a:extLst>
          </p:cNvPr>
          <p:cNvSpPr txBox="1"/>
          <p:nvPr/>
        </p:nvSpPr>
        <p:spPr>
          <a:xfrm>
            <a:off x="1013791" y="1381540"/>
            <a:ext cx="4780722" cy="50013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1100"/>
              <a:t>import requests</a:t>
            </a:r>
          </a:p>
          <a:p>
            <a:endParaRPr lang="en-ID" sz="1100"/>
          </a:p>
          <a:p>
            <a:r>
              <a:rPr lang="en-ID" sz="1100"/>
              <a:t># Slot yang sudah lengkap</a:t>
            </a:r>
          </a:p>
          <a:p>
            <a:r>
              <a:rPr lang="en-ID" sz="1100"/>
              <a:t>payload = {</a:t>
            </a:r>
          </a:p>
          <a:p>
            <a:r>
              <a:rPr lang="en-ID" sz="1100"/>
              <a:t>    "origin": "Surabaya",</a:t>
            </a:r>
          </a:p>
          <a:p>
            <a:r>
              <a:rPr lang="en-ID" sz="1100"/>
              <a:t>    "destination": "Jakarta",</a:t>
            </a:r>
          </a:p>
          <a:p>
            <a:r>
              <a:rPr lang="en-ID" sz="1100"/>
              <a:t>    "date": "2025-09-15",</a:t>
            </a:r>
          </a:p>
          <a:p>
            <a:r>
              <a:rPr lang="en-ID" sz="1100"/>
              <a:t>    "time": "09:00",</a:t>
            </a:r>
          </a:p>
          <a:p>
            <a:r>
              <a:rPr lang="en-ID" sz="1100"/>
              <a:t>    "passengers": 2 }</a:t>
            </a:r>
          </a:p>
          <a:p>
            <a:endParaRPr lang="en-ID" sz="1100"/>
          </a:p>
          <a:p>
            <a:r>
              <a:rPr lang="en-ID" sz="1100"/>
              <a:t># Endpoint service untuk eksekusi kueri tiket</a:t>
            </a:r>
          </a:p>
          <a:p>
            <a:r>
              <a:rPr lang="en-ID" sz="1100"/>
              <a:t>url = "https://api.tiket-service.com/search"</a:t>
            </a:r>
          </a:p>
          <a:p>
            <a:endParaRPr lang="en-ID" sz="1100"/>
          </a:p>
          <a:p>
            <a:r>
              <a:rPr lang="en-ID" sz="1100"/>
              <a:t>try:</a:t>
            </a:r>
          </a:p>
          <a:p>
            <a:r>
              <a:rPr lang="en-ID" sz="1100"/>
              <a:t>    # Kirim request POST dengan payload JSON</a:t>
            </a:r>
          </a:p>
          <a:p>
            <a:r>
              <a:rPr lang="en-ID" sz="1100"/>
              <a:t>    response = requests.post(url, json=payload)</a:t>
            </a:r>
          </a:p>
          <a:p>
            <a:r>
              <a:rPr lang="en-ID" sz="1100"/>
              <a:t>    response.raise_for_status()  # cek jika ada error status code</a:t>
            </a:r>
          </a:p>
          <a:p>
            <a:endParaRPr lang="en-ID" sz="1100"/>
          </a:p>
          <a:p>
            <a:r>
              <a:rPr lang="en-ID" sz="1100"/>
              <a:t>    # Ambil hasil respon (misalnya daftar tiket)</a:t>
            </a:r>
          </a:p>
          <a:p>
            <a:r>
              <a:rPr lang="en-ID" sz="1100"/>
              <a:t>    data = response.json()</a:t>
            </a:r>
          </a:p>
          <a:p>
            <a:endParaRPr lang="en-ID" sz="1100"/>
          </a:p>
          <a:p>
            <a:r>
              <a:rPr lang="en-ID" sz="1100"/>
              <a:t>    # Contoh menampilkan hasil</a:t>
            </a:r>
          </a:p>
          <a:p>
            <a:r>
              <a:rPr lang="en-ID" sz="1100"/>
              <a:t>    print("Hasil pencarian tiket:")</a:t>
            </a:r>
          </a:p>
          <a:p>
            <a:r>
              <a:rPr lang="en-ID" sz="1100"/>
              <a:t>    for item in data.get("flights", []):</a:t>
            </a:r>
          </a:p>
          <a:p>
            <a:r>
              <a:rPr lang="en-ID" sz="1100"/>
              <a:t>        print(f"- {item['maskapai']} ({item['kode_penerbangan']}), "</a:t>
            </a:r>
          </a:p>
          <a:p>
            <a:r>
              <a:rPr lang="en-ID" sz="1100"/>
              <a:t>              f"Harga: Rp {item['harga']}, Kursi tersedia: {item['kursi_tersedia']}")</a:t>
            </a:r>
          </a:p>
          <a:p>
            <a:endParaRPr lang="en-ID" sz="1100"/>
          </a:p>
          <a:p>
            <a:r>
              <a:rPr lang="en-ID" sz="1100"/>
              <a:t>except requests.exceptions.RequestException as e:</a:t>
            </a:r>
          </a:p>
          <a:p>
            <a:r>
              <a:rPr lang="en-ID" sz="1100"/>
              <a:t>    print("Terjadi kesalahan saat menghubungi service:", 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A0F47-D745-C7B1-111A-02EF26CB0C8C}"/>
              </a:ext>
            </a:extLst>
          </p:cNvPr>
          <p:cNvSpPr txBox="1"/>
          <p:nvPr/>
        </p:nvSpPr>
        <p:spPr>
          <a:xfrm>
            <a:off x="6897756" y="168973"/>
            <a:ext cx="4015409" cy="63709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800"/>
              <a:t>// install dulu: npm install express axios body-parser</a:t>
            </a:r>
          </a:p>
          <a:p>
            <a:r>
              <a:rPr lang="en-ID" sz="800"/>
              <a:t>const express = require("express");</a:t>
            </a:r>
          </a:p>
          <a:p>
            <a:r>
              <a:rPr lang="en-ID" sz="800"/>
              <a:t>const bodyParser = require("body-parser");</a:t>
            </a:r>
          </a:p>
          <a:p>
            <a:r>
              <a:rPr lang="en-ID" sz="800"/>
              <a:t>const axios = require("axios");</a:t>
            </a:r>
          </a:p>
          <a:p>
            <a:endParaRPr lang="en-ID" sz="800"/>
          </a:p>
          <a:p>
            <a:r>
              <a:rPr lang="en-ID" sz="800"/>
              <a:t>const app = express();</a:t>
            </a:r>
          </a:p>
          <a:p>
            <a:r>
              <a:rPr lang="en-ID" sz="800"/>
              <a:t>app.use(bodyParser.json());</a:t>
            </a:r>
          </a:p>
          <a:p>
            <a:endParaRPr lang="en-ID" sz="800"/>
          </a:p>
          <a:p>
            <a:r>
              <a:rPr lang="en-ID" sz="800"/>
              <a:t>// Endpoint untuk pencarian tiket</a:t>
            </a:r>
          </a:p>
          <a:p>
            <a:r>
              <a:rPr lang="en-ID" sz="800"/>
              <a:t>app.post("/search-tiket", async (req, res) =&gt; {</a:t>
            </a:r>
          </a:p>
          <a:p>
            <a:r>
              <a:rPr lang="en-ID" sz="800"/>
              <a:t>  try {</a:t>
            </a:r>
          </a:p>
          <a:p>
            <a:r>
              <a:rPr lang="en-ID" sz="800"/>
              <a:t>    // Ambil slot dari request body</a:t>
            </a:r>
          </a:p>
          <a:p>
            <a:r>
              <a:rPr lang="en-ID" sz="800"/>
              <a:t>    const { origin, destination, date, time, passengers } = req.body;</a:t>
            </a:r>
          </a:p>
          <a:p>
            <a:endParaRPr lang="en-ID" sz="800"/>
          </a:p>
          <a:p>
            <a:r>
              <a:rPr lang="en-ID" sz="800"/>
              <a:t>    // Validasi input sederhana</a:t>
            </a:r>
          </a:p>
          <a:p>
            <a:r>
              <a:rPr lang="en-ID" sz="800"/>
              <a:t>    if (!origin || !destination || !date || !time || !passengers) {</a:t>
            </a:r>
          </a:p>
          <a:p>
            <a:r>
              <a:rPr lang="en-ID" sz="800"/>
              <a:t>      return res.status(400).json({ error: "Semua parameter harus diisi." });</a:t>
            </a:r>
          </a:p>
          <a:p>
            <a:r>
              <a:rPr lang="en-ID" sz="800"/>
              <a:t>    }</a:t>
            </a:r>
          </a:p>
          <a:p>
            <a:endParaRPr lang="en-ID" sz="800"/>
          </a:p>
          <a:p>
            <a:r>
              <a:rPr lang="en-ID" sz="800"/>
              <a:t>    // Misalnya service eksternal untuk pencarian tiket</a:t>
            </a:r>
          </a:p>
          <a:p>
            <a:r>
              <a:rPr lang="en-ID" sz="800"/>
              <a:t>    const tiketServiceUrl = "https://api.tiket-service.com/search";</a:t>
            </a:r>
          </a:p>
          <a:p>
            <a:endParaRPr lang="en-ID" sz="800"/>
          </a:p>
          <a:p>
            <a:r>
              <a:rPr lang="en-ID" sz="800"/>
              <a:t>    // Kirim request ke service eksternal</a:t>
            </a:r>
          </a:p>
          <a:p>
            <a:r>
              <a:rPr lang="en-ID" sz="800"/>
              <a:t>    const response = await axios.post(tiketServiceUrl, {</a:t>
            </a:r>
          </a:p>
          <a:p>
            <a:r>
              <a:rPr lang="en-ID" sz="800"/>
              <a:t>      origin,</a:t>
            </a:r>
          </a:p>
          <a:p>
            <a:r>
              <a:rPr lang="en-ID" sz="800"/>
              <a:t>      destination,</a:t>
            </a:r>
          </a:p>
          <a:p>
            <a:r>
              <a:rPr lang="en-ID" sz="800"/>
              <a:t>      date,</a:t>
            </a:r>
          </a:p>
          <a:p>
            <a:r>
              <a:rPr lang="en-ID" sz="800"/>
              <a:t>      time,</a:t>
            </a:r>
          </a:p>
          <a:p>
            <a:r>
              <a:rPr lang="en-ID" sz="800"/>
              <a:t>      passengers</a:t>
            </a:r>
          </a:p>
          <a:p>
            <a:r>
              <a:rPr lang="en-ID" sz="800"/>
              <a:t>    });</a:t>
            </a:r>
          </a:p>
          <a:p>
            <a:endParaRPr lang="en-ID" sz="800"/>
          </a:p>
          <a:p>
            <a:r>
              <a:rPr lang="en-ID" sz="800"/>
              <a:t>    // Ambil hasil dari service eksternal</a:t>
            </a:r>
          </a:p>
          <a:p>
            <a:r>
              <a:rPr lang="en-ID" sz="800"/>
              <a:t>    const hasil = response.data;</a:t>
            </a:r>
          </a:p>
          <a:p>
            <a:endParaRPr lang="en-ID" sz="800"/>
          </a:p>
          <a:p>
            <a:r>
              <a:rPr lang="en-ID" sz="800"/>
              <a:t>    // Kirim hasil ke client/chatbot</a:t>
            </a:r>
          </a:p>
          <a:p>
            <a:r>
              <a:rPr lang="en-ID" sz="800"/>
              <a:t>    return res.json({</a:t>
            </a:r>
          </a:p>
          <a:p>
            <a:r>
              <a:rPr lang="en-ID" sz="800"/>
              <a:t>      message: "Hasil pencarian tiket berhasil ditemukan",</a:t>
            </a:r>
          </a:p>
          <a:p>
            <a:r>
              <a:rPr lang="en-ID" sz="800"/>
              <a:t>      flights: hasil.flights</a:t>
            </a:r>
          </a:p>
          <a:p>
            <a:r>
              <a:rPr lang="en-ID" sz="800"/>
              <a:t>    });</a:t>
            </a:r>
          </a:p>
          <a:p>
            <a:r>
              <a:rPr lang="en-ID" sz="800"/>
              <a:t>  } catch (error) {</a:t>
            </a:r>
          </a:p>
          <a:p>
            <a:r>
              <a:rPr lang="en-ID" sz="800"/>
              <a:t>    console.error("Error:", error.message);</a:t>
            </a:r>
          </a:p>
          <a:p>
            <a:r>
              <a:rPr lang="en-ID" sz="800"/>
              <a:t>    return res.status(500).json({ error: "Gagal mencari tiket." });</a:t>
            </a:r>
          </a:p>
          <a:p>
            <a:r>
              <a:rPr lang="en-ID" sz="800"/>
              <a:t>  }</a:t>
            </a:r>
          </a:p>
          <a:p>
            <a:r>
              <a:rPr lang="en-ID" sz="800"/>
              <a:t>});</a:t>
            </a:r>
          </a:p>
          <a:p>
            <a:endParaRPr lang="en-ID" sz="800"/>
          </a:p>
          <a:p>
            <a:r>
              <a:rPr lang="en-ID" sz="800"/>
              <a:t>// Jalankan server</a:t>
            </a:r>
          </a:p>
          <a:p>
            <a:r>
              <a:rPr lang="en-ID" sz="800"/>
              <a:t>const PORT = 3000;</a:t>
            </a:r>
          </a:p>
          <a:p>
            <a:r>
              <a:rPr lang="en-ID" sz="800"/>
              <a:t>app.listen(PORT, () =&gt; {</a:t>
            </a:r>
          </a:p>
          <a:p>
            <a:r>
              <a:rPr lang="en-ID" sz="800"/>
              <a:t>  console.log(`Server pencarian tiket berjalan di http://localhost:${PORT}`);</a:t>
            </a:r>
          </a:p>
          <a:p>
            <a:r>
              <a:rPr lang="en-ID" sz="800"/>
              <a:t>});</a:t>
            </a:r>
          </a:p>
          <a:p>
            <a:endParaRPr lang="en-ID" sz="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77CA0-13BE-E946-FC57-88A661892A79}"/>
              </a:ext>
            </a:extLst>
          </p:cNvPr>
          <p:cNvSpPr txBox="1"/>
          <p:nvPr/>
        </p:nvSpPr>
        <p:spPr>
          <a:xfrm>
            <a:off x="1905000" y="6382909"/>
            <a:ext cx="256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Chatbot query</a:t>
            </a:r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A0768-7C4B-FA6E-6365-DF1AB6B9C6CF}"/>
              </a:ext>
            </a:extLst>
          </p:cNvPr>
          <p:cNvSpPr txBox="1"/>
          <p:nvPr/>
        </p:nvSpPr>
        <p:spPr>
          <a:xfrm>
            <a:off x="7444409" y="6488668"/>
            <a:ext cx="318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API service untuk search tiket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40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05D7-AAB5-A0E4-61CB-B88F83B8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Tindak Lanjut setelah Slot terpenuhi</a:t>
            </a:r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DC0FA-76EF-CCCD-DB55-145E2502B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07" y="1584960"/>
            <a:ext cx="8531660" cy="47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0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5477</TotalTime>
  <Words>5327</Words>
  <Application>Microsoft Office PowerPoint</Application>
  <PresentationFormat>Widescreen</PresentationFormat>
  <Paragraphs>676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Dialog Management</vt:lpstr>
      <vt:lpstr>Dialog Management</vt:lpstr>
      <vt:lpstr>Konsep dialog management</vt:lpstr>
      <vt:lpstr>Konsep Basic Dialog Management</vt:lpstr>
      <vt:lpstr>Cara Kerja State Machine</vt:lpstr>
      <vt:lpstr>Contoh State Machine</vt:lpstr>
      <vt:lpstr>Konsep Basic Dialog Management</vt:lpstr>
      <vt:lpstr>Cara Kerja Slot Filling</vt:lpstr>
      <vt:lpstr>Contoh Slot Filling</vt:lpstr>
      <vt:lpstr>Konsep Basic Dialog Management</vt:lpstr>
      <vt:lpstr>Cara Kerja Context Tracking</vt:lpstr>
      <vt:lpstr>Contoh Context Tracking</vt:lpstr>
      <vt:lpstr>PowerPoint Presentation</vt:lpstr>
      <vt:lpstr>Entity domain-spesifik untuk pemesanan tiket?</vt:lpstr>
      <vt:lpstr>Contoh Entity pada pemesanan tiket</vt:lpstr>
      <vt:lpstr>Modifikasi Entity Recognition</vt:lpstr>
      <vt:lpstr>Bagaimana menangani hal berikut?</vt:lpstr>
      <vt:lpstr>PowerPoint Presentation</vt:lpstr>
      <vt:lpstr>Dialog State Tracking</vt:lpstr>
      <vt:lpstr>Dialog State Tracking</vt:lpstr>
      <vt:lpstr>State Dialog Example</vt:lpstr>
      <vt:lpstr>State Dialog Example</vt:lpstr>
      <vt:lpstr>How Dialog State Tracking Works?</vt:lpstr>
      <vt:lpstr>Skenario Pemesanan Tiket</vt:lpstr>
      <vt:lpstr>Eksekusi slot yang sudah lengkap</vt:lpstr>
      <vt:lpstr>Contoh implementasi</vt:lpstr>
      <vt:lpstr>Tindak Lanjut setelah Slot terpenuhi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71</cp:revision>
  <dcterms:created xsi:type="dcterms:W3CDTF">2025-05-20T05:35:26Z</dcterms:created>
  <dcterms:modified xsi:type="dcterms:W3CDTF">2025-09-14T09:54:13Z</dcterms:modified>
</cp:coreProperties>
</file>