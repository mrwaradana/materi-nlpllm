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79" r:id="rId4"/>
    <p:sldId id="257" r:id="rId5"/>
    <p:sldId id="258" r:id="rId6"/>
    <p:sldId id="259" r:id="rId7"/>
    <p:sldId id="260" r:id="rId8"/>
    <p:sldId id="262" r:id="rId9"/>
    <p:sldId id="261" r:id="rId10"/>
    <p:sldId id="263" r:id="rId11"/>
    <p:sldId id="264" r:id="rId12"/>
    <p:sldId id="266" r:id="rId13"/>
    <p:sldId id="267" r:id="rId14"/>
    <p:sldId id="269" r:id="rId15"/>
    <p:sldId id="270" r:id="rId16"/>
    <p:sldId id="271" r:id="rId17"/>
    <p:sldId id="272" r:id="rId18"/>
    <p:sldId id="273" r:id="rId19"/>
    <p:sldId id="268" r:id="rId20"/>
    <p:sldId id="275" r:id="rId21"/>
    <p:sldId id="276" r:id="rId22"/>
    <p:sldId id="277" r:id="rId23"/>
    <p:sldId id="274"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3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A3F3-496D-FAF2-3B06-F7C082DF73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631D12F8-545D-7397-53AC-2674011E8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74A9FFC6-E6AA-FE7A-7144-3C5C3FA76978}"/>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FECCA8A2-A22B-0CB5-88ED-AC47DF13E0E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0E0E230-BE4F-DB2A-B9C3-9BB71799942B}"/>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931076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6DF1-155F-2443-B28A-17B2412F611E}"/>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0986589-CCDE-06B8-6AFA-9CB408E2F5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D28CE46-3BC8-F5B1-3AF8-6176FEE83128}"/>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61AECE5E-B7D4-2CC3-9FF6-714D5100A11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C182921-605B-A080-B5B7-9B50DE277C5E}"/>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1622279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2D97C-CBDA-7EA3-09D5-A4F882B610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19AF68F9-2243-DA2F-CB87-5072472305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95D81A-853A-C5F5-D8B2-8B583EF5FC0F}"/>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69D336BE-6D03-867D-C383-1728C7E5E8E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35EFC9A-7802-DBFD-F643-EFE29B4E40C0}"/>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1608197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F4DD-F462-4C4A-19F6-20D73AA8927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A59E99C-D6DE-F7B0-9EFE-F1DDA95B4C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09BDA874-FBA7-E73D-FF22-BFDF5A90E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70560A42-DC3D-0517-1FFD-27DDC3A04D1C}"/>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6" name="Footer Placeholder 5">
            <a:extLst>
              <a:ext uri="{FF2B5EF4-FFF2-40B4-BE49-F238E27FC236}">
                <a16:creationId xmlns:a16="http://schemas.microsoft.com/office/drawing/2014/main" id="{A3911D5A-F94B-DB18-314A-1249146A0BEC}"/>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2D47212-B334-7D38-0BE5-CD6CD833FD39}"/>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401815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E27FE-81DB-9C9A-B1A4-DEF1EF5A72BF}"/>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9983D93B-B726-A3C3-8586-E7F74FF594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6F4770-C7DB-68E3-9C65-C68DDF4AF9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8EEF42B9-85D2-0C75-7094-155A385902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0719DA-A3A1-958D-2B96-313DB7916E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CFF59763-BD9B-205A-820E-AE66DCF993DC}"/>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8" name="Footer Placeholder 7">
            <a:extLst>
              <a:ext uri="{FF2B5EF4-FFF2-40B4-BE49-F238E27FC236}">
                <a16:creationId xmlns:a16="http://schemas.microsoft.com/office/drawing/2014/main" id="{A4321590-8349-9141-4046-8C1266E5E69B}"/>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F534D5ED-D2DB-3F95-E3FC-B531D045859F}"/>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267346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6B46-C782-603B-0273-DFDE55E0CDCF}"/>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459BCD58-B4AD-749D-90AA-8D6C46240EF8}"/>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4" name="Footer Placeholder 3">
            <a:extLst>
              <a:ext uri="{FF2B5EF4-FFF2-40B4-BE49-F238E27FC236}">
                <a16:creationId xmlns:a16="http://schemas.microsoft.com/office/drawing/2014/main" id="{DB6645D3-F303-A611-8257-07D17EC8F99C}"/>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ECC4D51D-1F5D-1CF5-06F6-3759B2D5D2AB}"/>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787031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5835E-DA87-A450-909C-826C1BBFF89A}"/>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3" name="Footer Placeholder 2">
            <a:extLst>
              <a:ext uri="{FF2B5EF4-FFF2-40B4-BE49-F238E27FC236}">
                <a16:creationId xmlns:a16="http://schemas.microsoft.com/office/drawing/2014/main" id="{BC108508-3A71-05CA-9B08-9E4728599CFE}"/>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8A09A0BB-D649-C168-C357-E545AC9A08F5}"/>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389271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8F471-F234-6211-A30A-C0B1FE3B71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88959FDB-A06B-8310-37E0-1FB2556BD8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FAD62DD8-6490-4694-4DEC-8840A4C57D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D254B8-E773-B3EC-93D6-92B4514DCF4A}"/>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6" name="Footer Placeholder 5">
            <a:extLst>
              <a:ext uri="{FF2B5EF4-FFF2-40B4-BE49-F238E27FC236}">
                <a16:creationId xmlns:a16="http://schemas.microsoft.com/office/drawing/2014/main" id="{2724F78D-90E4-0AFF-31EE-6D462B8B35B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C730BEA-9F64-5CAA-5BFB-22944F2449A4}"/>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195865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977BA-50E7-FA52-6CC5-6373873E95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0FBBE416-A5DF-CC36-4362-64E8D66781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5488BD70-D81D-A8B4-E571-059BABE230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68BC4-21BA-A035-3D41-1D477F5B3914}"/>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6" name="Footer Placeholder 5">
            <a:extLst>
              <a:ext uri="{FF2B5EF4-FFF2-40B4-BE49-F238E27FC236}">
                <a16:creationId xmlns:a16="http://schemas.microsoft.com/office/drawing/2014/main" id="{58976B66-72BA-3105-DB4D-80CA39432EA5}"/>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7AA77F74-C47F-282B-56A5-B94A05EE4BC9}"/>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3396380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EDC4-7974-1ED4-D704-3EAC1EBE997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2EBB2239-EDA6-A8E3-A380-C39B2E003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FD5A19BD-6B11-8C37-C621-B152E8ACBCBB}"/>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4BBDA054-87D4-C077-A210-D5A8BEC5164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77778F0-FC33-0901-444D-A6E5E0408AAD}"/>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2105885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8FC19B-D80B-46AE-CA39-87C56825E9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D3E22A7-0565-C2F5-6188-4F393B4AF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C212F75-E51C-BF57-A2A8-05DAB0F67D8B}"/>
              </a:ext>
            </a:extLst>
          </p:cNvPr>
          <p:cNvSpPr>
            <a:spLocks noGrp="1"/>
          </p:cNvSpPr>
          <p:nvPr>
            <p:ph type="dt" sz="half" idx="10"/>
          </p:nvPr>
        </p:nvSpPr>
        <p:spPr/>
        <p:txBody>
          <a:body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1EFDB4F3-B06F-3348-7753-85E2580B39D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E146E15-80A0-F648-D076-3FCD58EAA032}"/>
              </a:ext>
            </a:extLst>
          </p:cNvPr>
          <p:cNvSpPr>
            <a:spLocks noGrp="1"/>
          </p:cNvSpPr>
          <p:nvPr>
            <p:ph type="sldNum" sz="quarter" idx="12"/>
          </p:nvPr>
        </p:nvSpPr>
        <p:spPr/>
        <p:txBody>
          <a:bodyPr/>
          <a:lstStyle/>
          <a:p>
            <a:fld id="{1165EB0F-C36C-40E1-9B43-B77960B98600}" type="slidenum">
              <a:rPr lang="en-ID" smtClean="0"/>
              <a:t>‹#›</a:t>
            </a:fld>
            <a:endParaRPr lang="en-ID"/>
          </a:p>
        </p:txBody>
      </p:sp>
    </p:spTree>
    <p:extLst>
      <p:ext uri="{BB962C8B-B14F-4D97-AF65-F5344CB8AC3E}">
        <p14:creationId xmlns:p14="http://schemas.microsoft.com/office/powerpoint/2010/main" val="54276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09582-334F-AB15-38CF-2217B916F7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FCD5C3EC-7D75-5018-60C0-C7A58DC6AD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37F2835-4E1B-B817-A82E-AF86EF9252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71996-DE84-4218-86AE-D09C31185D76}" type="datetimeFigureOut">
              <a:rPr lang="en-ID" smtClean="0"/>
              <a:t>03/09/2025</a:t>
            </a:fld>
            <a:endParaRPr lang="en-ID"/>
          </a:p>
        </p:txBody>
      </p:sp>
      <p:sp>
        <p:nvSpPr>
          <p:cNvPr id="5" name="Footer Placeholder 4">
            <a:extLst>
              <a:ext uri="{FF2B5EF4-FFF2-40B4-BE49-F238E27FC236}">
                <a16:creationId xmlns:a16="http://schemas.microsoft.com/office/drawing/2014/main" id="{C4EBABF2-0D56-10EB-B8E7-DD5EB86F4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A46A83BF-CB37-020C-4FFA-C6A4C21D0E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5EB0F-C36C-40E1-9B43-B77960B98600}" type="slidenum">
              <a:rPr lang="en-ID" smtClean="0"/>
              <a:t>‹#›</a:t>
            </a:fld>
            <a:endParaRPr lang="en-ID"/>
          </a:p>
        </p:txBody>
      </p:sp>
    </p:spTree>
    <p:extLst>
      <p:ext uri="{BB962C8B-B14F-4D97-AF65-F5344CB8AC3E}">
        <p14:creationId xmlns:p14="http://schemas.microsoft.com/office/powerpoint/2010/main" val="4100347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69DD-8594-3E86-9E9D-B5B961866E72}"/>
              </a:ext>
            </a:extLst>
          </p:cNvPr>
          <p:cNvSpPr>
            <a:spLocks noGrp="1"/>
          </p:cNvSpPr>
          <p:nvPr>
            <p:ph type="ctrTitle"/>
          </p:nvPr>
        </p:nvSpPr>
        <p:spPr/>
        <p:txBody>
          <a:bodyPr/>
          <a:lstStyle/>
          <a:p>
            <a:r>
              <a:rPr lang="en-US" dirty="0"/>
              <a:t>Intent Recognition</a:t>
            </a:r>
            <a:endParaRPr lang="en-ID" dirty="0"/>
          </a:p>
        </p:txBody>
      </p:sp>
      <p:sp>
        <p:nvSpPr>
          <p:cNvPr id="3" name="Subtitle 2">
            <a:extLst>
              <a:ext uri="{FF2B5EF4-FFF2-40B4-BE49-F238E27FC236}">
                <a16:creationId xmlns:a16="http://schemas.microsoft.com/office/drawing/2014/main" id="{697E8280-9730-3C30-A78F-CEE1F1725F92}"/>
              </a:ext>
            </a:extLst>
          </p:cNvPr>
          <p:cNvSpPr>
            <a:spLocks noGrp="1"/>
          </p:cNvSpPr>
          <p:nvPr>
            <p:ph type="subTitle" idx="1"/>
          </p:nvPr>
        </p:nvSpPr>
        <p:spPr/>
        <p:txBody>
          <a:bodyPr/>
          <a:lstStyle/>
          <a:p>
            <a:r>
              <a:rPr lang="en-US" dirty="0"/>
              <a:t>atjahyanto@gmail.com</a:t>
            </a:r>
            <a:endParaRPr lang="en-ID" dirty="0"/>
          </a:p>
        </p:txBody>
      </p:sp>
    </p:spTree>
    <p:extLst>
      <p:ext uri="{BB962C8B-B14F-4D97-AF65-F5344CB8AC3E}">
        <p14:creationId xmlns:p14="http://schemas.microsoft.com/office/powerpoint/2010/main" val="18713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BBB7-3315-C1EC-D622-2D3500C9C0C9}"/>
              </a:ext>
            </a:extLst>
          </p:cNvPr>
          <p:cNvSpPr>
            <a:spLocks noGrp="1"/>
          </p:cNvSpPr>
          <p:nvPr>
            <p:ph type="title"/>
          </p:nvPr>
        </p:nvSpPr>
        <p:spPr/>
        <p:txBody>
          <a:bodyPr/>
          <a:lstStyle/>
          <a:p>
            <a:r>
              <a:rPr lang="en-ID"/>
              <a:t>Intent Recognition</a:t>
            </a:r>
          </a:p>
        </p:txBody>
      </p:sp>
      <p:sp>
        <p:nvSpPr>
          <p:cNvPr id="3" name="Content Placeholder 2">
            <a:extLst>
              <a:ext uri="{FF2B5EF4-FFF2-40B4-BE49-F238E27FC236}">
                <a16:creationId xmlns:a16="http://schemas.microsoft.com/office/drawing/2014/main" id="{5C0D8922-C48C-4B80-1D5E-12E95D2161B5}"/>
              </a:ext>
            </a:extLst>
          </p:cNvPr>
          <p:cNvSpPr>
            <a:spLocks noGrp="1"/>
          </p:cNvSpPr>
          <p:nvPr>
            <p:ph idx="1"/>
          </p:nvPr>
        </p:nvSpPr>
        <p:spPr>
          <a:xfrm>
            <a:off x="838200" y="1825625"/>
            <a:ext cx="6775174" cy="4351338"/>
          </a:xfrm>
        </p:spPr>
        <p:txBody>
          <a:bodyPr>
            <a:normAutofit/>
          </a:bodyPr>
          <a:lstStyle/>
          <a:p>
            <a:r>
              <a:rPr lang="en-US"/>
              <a:t>The process of understanding a user's intent from text or speech in a conversation with a system (e.g., a chatbot, voice assistant, or dialogue system).</a:t>
            </a:r>
          </a:p>
          <a:p>
            <a:r>
              <a:rPr lang="en-US"/>
              <a:t>Example:</a:t>
            </a:r>
          </a:p>
          <a:p>
            <a:pPr lvl="1"/>
            <a:r>
              <a:rPr lang="en-US"/>
              <a:t>User: "What's the weather like today?" → Intent: weather_query</a:t>
            </a:r>
          </a:p>
          <a:p>
            <a:pPr lvl="1"/>
            <a:r>
              <a:rPr lang="en-US"/>
              <a:t>User: "Book a ticket to Jakarta tomorrow morning" → Intent: book_ticket</a:t>
            </a:r>
          </a:p>
          <a:p>
            <a:pPr lvl="1"/>
            <a:r>
              <a:rPr lang="en-US"/>
              <a:t>User: "Hello" → Intent: greeting</a:t>
            </a:r>
            <a:endParaRPr lang="en-ID"/>
          </a:p>
        </p:txBody>
      </p:sp>
      <p:sp>
        <p:nvSpPr>
          <p:cNvPr id="4" name="TextBox 3">
            <a:extLst>
              <a:ext uri="{FF2B5EF4-FFF2-40B4-BE49-F238E27FC236}">
                <a16:creationId xmlns:a16="http://schemas.microsoft.com/office/drawing/2014/main" id="{BF635502-234A-BEE3-0641-44D507982D8A}"/>
              </a:ext>
            </a:extLst>
          </p:cNvPr>
          <p:cNvSpPr txBox="1"/>
          <p:nvPr/>
        </p:nvSpPr>
        <p:spPr>
          <a:xfrm>
            <a:off x="8050696" y="1182757"/>
            <a:ext cx="3697356" cy="584775"/>
          </a:xfrm>
          <a:prstGeom prst="rect">
            <a:avLst/>
          </a:prstGeom>
          <a:noFill/>
        </p:spPr>
        <p:txBody>
          <a:bodyPr wrap="square" rtlCol="0">
            <a:spAutoFit/>
          </a:bodyPr>
          <a:lstStyle/>
          <a:p>
            <a:r>
              <a:rPr lang="en-ID" sz="3200" u="sng"/>
              <a:t>Turn on</a:t>
            </a:r>
            <a:r>
              <a:rPr lang="en-ID" sz="3200"/>
              <a:t> </a:t>
            </a:r>
            <a:r>
              <a:rPr lang="en-ID" sz="3200" u="sng"/>
              <a:t>the lights</a:t>
            </a:r>
          </a:p>
        </p:txBody>
      </p:sp>
      <p:cxnSp>
        <p:nvCxnSpPr>
          <p:cNvPr id="6" name="Straight Arrow Connector 5">
            <a:extLst>
              <a:ext uri="{FF2B5EF4-FFF2-40B4-BE49-F238E27FC236}">
                <a16:creationId xmlns:a16="http://schemas.microsoft.com/office/drawing/2014/main" id="{E7AB88E7-884B-D4D2-BF25-5BC7FFD44F20}"/>
              </a:ext>
            </a:extLst>
          </p:cNvPr>
          <p:cNvCxnSpPr/>
          <p:nvPr/>
        </p:nvCxnSpPr>
        <p:spPr>
          <a:xfrm flipH="1">
            <a:off x="8269357" y="1767532"/>
            <a:ext cx="536713" cy="1224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3F61B86-710E-0808-BC16-DEF2F23E5E0F}"/>
              </a:ext>
            </a:extLst>
          </p:cNvPr>
          <p:cNvCxnSpPr/>
          <p:nvPr/>
        </p:nvCxnSpPr>
        <p:spPr>
          <a:xfrm>
            <a:off x="10147852" y="1767532"/>
            <a:ext cx="715618" cy="115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624EF3D-823A-0E89-34FC-674E0A2BDAFF}"/>
              </a:ext>
            </a:extLst>
          </p:cNvPr>
          <p:cNvSpPr txBox="1"/>
          <p:nvPr/>
        </p:nvSpPr>
        <p:spPr>
          <a:xfrm>
            <a:off x="7901608" y="3091070"/>
            <a:ext cx="904461" cy="369332"/>
          </a:xfrm>
          <a:prstGeom prst="rect">
            <a:avLst/>
          </a:prstGeom>
          <a:noFill/>
        </p:spPr>
        <p:txBody>
          <a:bodyPr wrap="square" rtlCol="0">
            <a:spAutoFit/>
          </a:bodyPr>
          <a:lstStyle/>
          <a:p>
            <a:r>
              <a:rPr lang="en-US"/>
              <a:t>intent</a:t>
            </a:r>
            <a:endParaRPr lang="en-ID"/>
          </a:p>
        </p:txBody>
      </p:sp>
      <p:sp>
        <p:nvSpPr>
          <p:cNvPr id="10" name="TextBox 9">
            <a:extLst>
              <a:ext uri="{FF2B5EF4-FFF2-40B4-BE49-F238E27FC236}">
                <a16:creationId xmlns:a16="http://schemas.microsoft.com/office/drawing/2014/main" id="{02306A7C-A12E-5918-F449-65B44AEA2ACE}"/>
              </a:ext>
            </a:extLst>
          </p:cNvPr>
          <p:cNvSpPr txBox="1"/>
          <p:nvPr/>
        </p:nvSpPr>
        <p:spPr>
          <a:xfrm>
            <a:off x="10575235" y="3101010"/>
            <a:ext cx="1007165" cy="369332"/>
          </a:xfrm>
          <a:prstGeom prst="rect">
            <a:avLst/>
          </a:prstGeom>
          <a:noFill/>
        </p:spPr>
        <p:txBody>
          <a:bodyPr wrap="square" rtlCol="0">
            <a:spAutoFit/>
          </a:bodyPr>
          <a:lstStyle/>
          <a:p>
            <a:r>
              <a:rPr lang="en-US"/>
              <a:t>entity</a:t>
            </a:r>
            <a:endParaRPr lang="en-ID"/>
          </a:p>
        </p:txBody>
      </p:sp>
      <p:sp>
        <p:nvSpPr>
          <p:cNvPr id="11" name="TextBox 10">
            <a:extLst>
              <a:ext uri="{FF2B5EF4-FFF2-40B4-BE49-F238E27FC236}">
                <a16:creationId xmlns:a16="http://schemas.microsoft.com/office/drawing/2014/main" id="{E36B4E1B-EFEC-5F13-F7A4-444DF6EC9A91}"/>
              </a:ext>
            </a:extLst>
          </p:cNvPr>
          <p:cNvSpPr txBox="1"/>
          <p:nvPr/>
        </p:nvSpPr>
        <p:spPr>
          <a:xfrm>
            <a:off x="7305261" y="4253948"/>
            <a:ext cx="4442791" cy="461665"/>
          </a:xfrm>
          <a:prstGeom prst="rect">
            <a:avLst/>
          </a:prstGeom>
          <a:noFill/>
        </p:spPr>
        <p:txBody>
          <a:bodyPr wrap="square" rtlCol="0">
            <a:spAutoFit/>
          </a:bodyPr>
          <a:lstStyle/>
          <a:p>
            <a:r>
              <a:rPr lang="en-US" sz="2400" u="sng"/>
              <a:t>Book a ticket</a:t>
            </a:r>
            <a:r>
              <a:rPr lang="en-US" sz="2400"/>
              <a:t> to </a:t>
            </a:r>
            <a:r>
              <a:rPr lang="en-US" sz="2400" u="sng"/>
              <a:t>Jakarta</a:t>
            </a:r>
            <a:r>
              <a:rPr lang="en-US" sz="2400"/>
              <a:t> </a:t>
            </a:r>
            <a:r>
              <a:rPr lang="en-US" sz="2400" u="sng"/>
              <a:t>tomorrow</a:t>
            </a:r>
            <a:r>
              <a:rPr lang="en-US" sz="2400"/>
              <a:t> </a:t>
            </a:r>
            <a:endParaRPr lang="en-ID" sz="2400"/>
          </a:p>
        </p:txBody>
      </p:sp>
      <p:cxnSp>
        <p:nvCxnSpPr>
          <p:cNvPr id="13" name="Straight Arrow Connector 12">
            <a:extLst>
              <a:ext uri="{FF2B5EF4-FFF2-40B4-BE49-F238E27FC236}">
                <a16:creationId xmlns:a16="http://schemas.microsoft.com/office/drawing/2014/main" id="{4D9818BC-6161-79F6-2A5D-453F1C499FD5}"/>
              </a:ext>
            </a:extLst>
          </p:cNvPr>
          <p:cNvCxnSpPr/>
          <p:nvPr/>
        </p:nvCxnSpPr>
        <p:spPr>
          <a:xfrm flipH="1" flipV="1">
            <a:off x="8199783" y="3470342"/>
            <a:ext cx="69574" cy="783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04E5D36-8FB5-AA44-6D93-9EE3FB01FF5A}"/>
              </a:ext>
            </a:extLst>
          </p:cNvPr>
          <p:cNvCxnSpPr/>
          <p:nvPr/>
        </p:nvCxnSpPr>
        <p:spPr>
          <a:xfrm flipV="1">
            <a:off x="10018643" y="3470342"/>
            <a:ext cx="844827" cy="783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9AB2462-5345-D204-968D-8B9D4A8DAE72}"/>
              </a:ext>
            </a:extLst>
          </p:cNvPr>
          <p:cNvCxnSpPr>
            <a:endCxn id="10" idx="2"/>
          </p:cNvCxnSpPr>
          <p:nvPr/>
        </p:nvCxnSpPr>
        <p:spPr>
          <a:xfrm flipH="1" flipV="1">
            <a:off x="11078818" y="3470342"/>
            <a:ext cx="3312" cy="783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811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EBC53-6D40-E257-D8C5-6AF22D7DC109}"/>
              </a:ext>
            </a:extLst>
          </p:cNvPr>
          <p:cNvSpPr>
            <a:spLocks noGrp="1"/>
          </p:cNvSpPr>
          <p:nvPr>
            <p:ph type="title"/>
          </p:nvPr>
        </p:nvSpPr>
        <p:spPr/>
        <p:txBody>
          <a:bodyPr/>
          <a:lstStyle/>
          <a:p>
            <a:r>
              <a:rPr lang="en-US"/>
              <a:t>Intent and Entity</a:t>
            </a:r>
            <a:endParaRPr lang="en-ID"/>
          </a:p>
        </p:txBody>
      </p:sp>
      <p:pic>
        <p:nvPicPr>
          <p:cNvPr id="3" name="Picture 2">
            <a:extLst>
              <a:ext uri="{FF2B5EF4-FFF2-40B4-BE49-F238E27FC236}">
                <a16:creationId xmlns:a16="http://schemas.microsoft.com/office/drawing/2014/main" id="{904C5132-2A37-582F-B4D2-F2B9C6B57563}"/>
              </a:ext>
            </a:extLst>
          </p:cNvPr>
          <p:cNvPicPr>
            <a:picLocks noChangeAspect="1"/>
          </p:cNvPicPr>
          <p:nvPr/>
        </p:nvPicPr>
        <p:blipFill>
          <a:blip r:embed="rId2"/>
          <a:stretch>
            <a:fillRect/>
          </a:stretch>
        </p:blipFill>
        <p:spPr>
          <a:xfrm>
            <a:off x="1695946" y="1586947"/>
            <a:ext cx="9068405" cy="4714461"/>
          </a:xfrm>
          <a:prstGeom prst="rect">
            <a:avLst/>
          </a:prstGeom>
        </p:spPr>
      </p:pic>
    </p:spTree>
    <p:extLst>
      <p:ext uri="{BB962C8B-B14F-4D97-AF65-F5344CB8AC3E}">
        <p14:creationId xmlns:p14="http://schemas.microsoft.com/office/powerpoint/2010/main" val="2210310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45CF6-5CB9-7E9F-ACEF-24C1A869BC4A}"/>
              </a:ext>
            </a:extLst>
          </p:cNvPr>
          <p:cNvSpPr>
            <a:spLocks noGrp="1"/>
          </p:cNvSpPr>
          <p:nvPr>
            <p:ph type="title"/>
          </p:nvPr>
        </p:nvSpPr>
        <p:spPr/>
        <p:txBody>
          <a:bodyPr/>
          <a:lstStyle/>
          <a:p>
            <a:r>
              <a:rPr lang="en-US" dirty="0"/>
              <a:t>Intent Recognition</a:t>
            </a:r>
            <a:endParaRPr lang="en-ID" dirty="0"/>
          </a:p>
        </p:txBody>
      </p:sp>
      <p:sp>
        <p:nvSpPr>
          <p:cNvPr id="3" name="Content Placeholder 2">
            <a:extLst>
              <a:ext uri="{FF2B5EF4-FFF2-40B4-BE49-F238E27FC236}">
                <a16:creationId xmlns:a16="http://schemas.microsoft.com/office/drawing/2014/main" id="{D378C03D-744B-9DFF-970B-FF5038C514B7}"/>
              </a:ext>
            </a:extLst>
          </p:cNvPr>
          <p:cNvSpPr>
            <a:spLocks noGrp="1"/>
          </p:cNvSpPr>
          <p:nvPr>
            <p:ph idx="1"/>
          </p:nvPr>
        </p:nvSpPr>
        <p:spPr>
          <a:xfrm>
            <a:off x="838200" y="1825625"/>
            <a:ext cx="5423452" cy="3064901"/>
          </a:xfrm>
        </p:spPr>
        <p:txBody>
          <a:bodyPr/>
          <a:lstStyle/>
          <a:p>
            <a:r>
              <a:rPr lang="en-ID" dirty="0" err="1"/>
              <a:t>Mengidentifikasi</a:t>
            </a:r>
            <a:r>
              <a:rPr lang="en-ID" dirty="0"/>
              <a:t> </a:t>
            </a:r>
            <a:r>
              <a:rPr lang="en-ID" dirty="0" err="1"/>
              <a:t>tujuan</a:t>
            </a:r>
            <a:r>
              <a:rPr lang="en-ID" dirty="0"/>
              <a:t> </a:t>
            </a:r>
            <a:r>
              <a:rPr lang="en-ID" dirty="0" err="1"/>
              <a:t>atau</a:t>
            </a:r>
            <a:r>
              <a:rPr lang="en-ID" dirty="0"/>
              <a:t> </a:t>
            </a:r>
            <a:r>
              <a:rPr lang="en-ID" b="1" dirty="0"/>
              <a:t>intent</a:t>
            </a:r>
            <a:r>
              <a:rPr lang="en-ID" dirty="0"/>
              <a:t> </a:t>
            </a:r>
            <a:r>
              <a:rPr lang="en-ID" dirty="0" err="1"/>
              <a:t>dari</a:t>
            </a:r>
            <a:r>
              <a:rPr lang="en-ID" dirty="0"/>
              <a:t> </a:t>
            </a:r>
            <a:r>
              <a:rPr lang="en-ID" dirty="0" err="1"/>
              <a:t>suatu</a:t>
            </a:r>
            <a:r>
              <a:rPr lang="en-ID" dirty="0"/>
              <a:t> </a:t>
            </a:r>
            <a:r>
              <a:rPr lang="en-ID" dirty="0" err="1"/>
              <a:t>kalimat</a:t>
            </a:r>
            <a:r>
              <a:rPr lang="en-ID" dirty="0"/>
              <a:t> </a:t>
            </a:r>
            <a:r>
              <a:rPr lang="en-ID" dirty="0" err="1"/>
              <a:t>atau</a:t>
            </a:r>
            <a:r>
              <a:rPr lang="en-ID" dirty="0"/>
              <a:t> </a:t>
            </a:r>
            <a:r>
              <a:rPr lang="en-ID" dirty="0" err="1"/>
              <a:t>pernyataan</a:t>
            </a:r>
            <a:r>
              <a:rPr lang="en-ID" dirty="0"/>
              <a:t> </a:t>
            </a:r>
            <a:r>
              <a:rPr lang="en-ID" dirty="0" err="1"/>
              <a:t>pengguna</a:t>
            </a:r>
            <a:r>
              <a:rPr lang="en-ID" dirty="0"/>
              <a:t> (user utterance). </a:t>
            </a:r>
          </a:p>
          <a:p>
            <a:r>
              <a:rPr lang="en-ID" b="1" dirty="0" err="1"/>
              <a:t>Komponen</a:t>
            </a:r>
            <a:r>
              <a:rPr lang="en-ID" dirty="0"/>
              <a:t> </a:t>
            </a:r>
            <a:r>
              <a:rPr lang="en-ID" b="1" dirty="0"/>
              <a:t>inti</a:t>
            </a:r>
            <a:r>
              <a:rPr lang="en-ID" dirty="0"/>
              <a:t> </a:t>
            </a:r>
            <a:r>
              <a:rPr lang="en-ID" dirty="0" err="1"/>
              <a:t>dalam</a:t>
            </a:r>
            <a:r>
              <a:rPr lang="en-ID" dirty="0"/>
              <a:t> </a:t>
            </a:r>
            <a:r>
              <a:rPr lang="en-ID" dirty="0" err="1"/>
              <a:t>sistem</a:t>
            </a:r>
            <a:r>
              <a:rPr lang="en-ID" dirty="0"/>
              <a:t> </a:t>
            </a:r>
            <a:r>
              <a:rPr lang="en-ID" dirty="0" err="1"/>
              <a:t>seperti</a:t>
            </a:r>
            <a:r>
              <a:rPr lang="en-ID" dirty="0"/>
              <a:t> chatbot, voice assistant, dan </a:t>
            </a:r>
            <a:r>
              <a:rPr lang="en-ID" dirty="0" err="1"/>
              <a:t>sistem</a:t>
            </a:r>
            <a:r>
              <a:rPr lang="en-ID" dirty="0"/>
              <a:t> </a:t>
            </a:r>
            <a:r>
              <a:rPr lang="en-ID" dirty="0" err="1"/>
              <a:t>tanya-jawab</a:t>
            </a:r>
            <a:r>
              <a:rPr lang="en-ID" dirty="0"/>
              <a:t> </a:t>
            </a:r>
            <a:r>
              <a:rPr lang="en-ID" dirty="0" err="1"/>
              <a:t>otomatis</a:t>
            </a:r>
            <a:r>
              <a:rPr lang="en-ID" dirty="0"/>
              <a:t>.</a:t>
            </a:r>
          </a:p>
        </p:txBody>
      </p:sp>
      <p:pic>
        <p:nvPicPr>
          <p:cNvPr id="4" name="Picture 3">
            <a:extLst>
              <a:ext uri="{FF2B5EF4-FFF2-40B4-BE49-F238E27FC236}">
                <a16:creationId xmlns:a16="http://schemas.microsoft.com/office/drawing/2014/main" id="{98C980F5-CE4B-139F-7E7A-C33BDA1DF5B0}"/>
              </a:ext>
            </a:extLst>
          </p:cNvPr>
          <p:cNvPicPr>
            <a:picLocks noChangeAspect="1"/>
          </p:cNvPicPr>
          <p:nvPr/>
        </p:nvPicPr>
        <p:blipFill>
          <a:blip r:embed="rId2"/>
          <a:stretch>
            <a:fillRect/>
          </a:stretch>
        </p:blipFill>
        <p:spPr>
          <a:xfrm>
            <a:off x="2951922" y="4890526"/>
            <a:ext cx="4474878" cy="1757987"/>
          </a:xfrm>
          <a:prstGeom prst="rect">
            <a:avLst/>
          </a:prstGeom>
        </p:spPr>
      </p:pic>
      <p:sp>
        <p:nvSpPr>
          <p:cNvPr id="5" name="Content Placeholder 2">
            <a:extLst>
              <a:ext uri="{FF2B5EF4-FFF2-40B4-BE49-F238E27FC236}">
                <a16:creationId xmlns:a16="http://schemas.microsoft.com/office/drawing/2014/main" id="{75DA552B-13E7-317F-4B1E-B1CF685D81E2}"/>
              </a:ext>
            </a:extLst>
          </p:cNvPr>
          <p:cNvSpPr txBox="1">
            <a:spLocks/>
          </p:cNvSpPr>
          <p:nvPr/>
        </p:nvSpPr>
        <p:spPr>
          <a:xfrm>
            <a:off x="6528352" y="1825625"/>
            <a:ext cx="5423452" cy="30649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Identifying the purpose or </a:t>
            </a:r>
            <a:r>
              <a:rPr lang="en-US" b="1" dirty="0"/>
              <a:t>intent</a:t>
            </a:r>
            <a:r>
              <a:rPr lang="en-US" dirty="0"/>
              <a:t> of a sentence or user statement (user utterance).</a:t>
            </a:r>
          </a:p>
          <a:p>
            <a:r>
              <a:rPr lang="en-US" b="1" dirty="0"/>
              <a:t>Core</a:t>
            </a:r>
            <a:r>
              <a:rPr lang="en-US" dirty="0"/>
              <a:t> </a:t>
            </a:r>
            <a:r>
              <a:rPr lang="en-US" b="1" dirty="0"/>
              <a:t>components</a:t>
            </a:r>
            <a:r>
              <a:rPr lang="en-US" dirty="0"/>
              <a:t> in systems such as chatbots, voice assistants, and automated question-and-answer systems.</a:t>
            </a:r>
            <a:endParaRPr lang="en-ID" dirty="0"/>
          </a:p>
        </p:txBody>
      </p:sp>
    </p:spTree>
    <p:extLst>
      <p:ext uri="{BB962C8B-B14F-4D97-AF65-F5344CB8AC3E}">
        <p14:creationId xmlns:p14="http://schemas.microsoft.com/office/powerpoint/2010/main" val="3836120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63CF-BC9B-C936-F04A-BDADCC5251A2}"/>
              </a:ext>
            </a:extLst>
          </p:cNvPr>
          <p:cNvSpPr>
            <a:spLocks noGrp="1"/>
          </p:cNvSpPr>
          <p:nvPr>
            <p:ph type="title"/>
          </p:nvPr>
        </p:nvSpPr>
        <p:spPr/>
        <p:txBody>
          <a:bodyPr/>
          <a:lstStyle/>
          <a:p>
            <a:r>
              <a:rPr lang="en-US" dirty="0"/>
              <a:t>Chatbot Architecture</a:t>
            </a:r>
            <a:endParaRPr lang="en-ID" dirty="0"/>
          </a:p>
        </p:txBody>
      </p:sp>
      <p:pic>
        <p:nvPicPr>
          <p:cNvPr id="3" name="Picture 2">
            <a:extLst>
              <a:ext uri="{FF2B5EF4-FFF2-40B4-BE49-F238E27FC236}">
                <a16:creationId xmlns:a16="http://schemas.microsoft.com/office/drawing/2014/main" id="{516F7C0E-0F34-184F-4182-924FA90798B2}"/>
              </a:ext>
            </a:extLst>
          </p:cNvPr>
          <p:cNvPicPr>
            <a:picLocks noChangeAspect="1"/>
          </p:cNvPicPr>
          <p:nvPr/>
        </p:nvPicPr>
        <p:blipFill>
          <a:blip r:embed="rId2"/>
          <a:stretch>
            <a:fillRect/>
          </a:stretch>
        </p:blipFill>
        <p:spPr>
          <a:xfrm>
            <a:off x="1535209" y="2096741"/>
            <a:ext cx="9562258" cy="3757405"/>
          </a:xfrm>
          <a:prstGeom prst="rect">
            <a:avLst/>
          </a:prstGeom>
        </p:spPr>
      </p:pic>
      <p:sp>
        <p:nvSpPr>
          <p:cNvPr id="4" name="Arrow: Down 3">
            <a:extLst>
              <a:ext uri="{FF2B5EF4-FFF2-40B4-BE49-F238E27FC236}">
                <a16:creationId xmlns:a16="http://schemas.microsoft.com/office/drawing/2014/main" id="{8797C7FD-EE70-FD44-FA21-8944E1DD1192}"/>
              </a:ext>
            </a:extLst>
          </p:cNvPr>
          <p:cNvSpPr/>
          <p:nvPr/>
        </p:nvSpPr>
        <p:spPr>
          <a:xfrm rot="2555568">
            <a:off x="6549746" y="1187096"/>
            <a:ext cx="377687" cy="22650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7C07D58F-C713-BC0D-34FD-0A2202EE72FB}"/>
              </a:ext>
            </a:extLst>
          </p:cNvPr>
          <p:cNvSpPr txBox="1"/>
          <p:nvPr/>
        </p:nvSpPr>
        <p:spPr>
          <a:xfrm>
            <a:off x="3543158" y="6112566"/>
            <a:ext cx="6390861" cy="523220"/>
          </a:xfrm>
          <a:prstGeom prst="rect">
            <a:avLst/>
          </a:prstGeom>
          <a:noFill/>
        </p:spPr>
        <p:txBody>
          <a:bodyPr wrap="square" rtlCol="0">
            <a:spAutoFit/>
          </a:bodyPr>
          <a:lstStyle/>
          <a:p>
            <a:r>
              <a:rPr lang="en-US" sz="2800" dirty="0"/>
              <a:t>User input: “I want to book a flight.” </a:t>
            </a:r>
            <a:endParaRPr lang="en-ID" sz="2800" dirty="0"/>
          </a:p>
        </p:txBody>
      </p:sp>
    </p:spTree>
    <p:extLst>
      <p:ext uri="{BB962C8B-B14F-4D97-AF65-F5344CB8AC3E}">
        <p14:creationId xmlns:p14="http://schemas.microsoft.com/office/powerpoint/2010/main" val="1134775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BF903-0C3C-1A3A-42EE-0BFB1A896093}"/>
              </a:ext>
            </a:extLst>
          </p:cNvPr>
          <p:cNvSpPr>
            <a:spLocks noGrp="1"/>
          </p:cNvSpPr>
          <p:nvPr>
            <p:ph type="title"/>
          </p:nvPr>
        </p:nvSpPr>
        <p:spPr/>
        <p:txBody>
          <a:bodyPr/>
          <a:lstStyle/>
          <a:p>
            <a:r>
              <a:rPr lang="en-ID" dirty="0"/>
              <a:t>Intent Recognition</a:t>
            </a:r>
          </a:p>
        </p:txBody>
      </p:sp>
      <p:sp>
        <p:nvSpPr>
          <p:cNvPr id="3" name="Content Placeholder 2">
            <a:extLst>
              <a:ext uri="{FF2B5EF4-FFF2-40B4-BE49-F238E27FC236}">
                <a16:creationId xmlns:a16="http://schemas.microsoft.com/office/drawing/2014/main" id="{05A88ADD-7FE2-144D-0850-34EC1BEE6E5B}"/>
              </a:ext>
            </a:extLst>
          </p:cNvPr>
          <p:cNvSpPr>
            <a:spLocks noGrp="1"/>
          </p:cNvSpPr>
          <p:nvPr>
            <p:ph idx="1"/>
          </p:nvPr>
        </p:nvSpPr>
        <p:spPr/>
        <p:txBody>
          <a:bodyPr/>
          <a:lstStyle/>
          <a:p>
            <a:r>
              <a:rPr lang="en-US" dirty="0"/>
              <a:t>“I want to book a flight.” 		→ 	</a:t>
            </a:r>
            <a:r>
              <a:rPr lang="en-US" dirty="0" err="1"/>
              <a:t>book_flight</a:t>
            </a:r>
            <a:endParaRPr lang="en-US" dirty="0"/>
          </a:p>
          <a:p>
            <a:r>
              <a:rPr lang="en-US" dirty="0"/>
              <a:t>“What’s the weather today?” 		→ 	</a:t>
            </a:r>
            <a:r>
              <a:rPr lang="en-US" dirty="0" err="1"/>
              <a:t>check_weather</a:t>
            </a:r>
            <a:endParaRPr lang="en-US" dirty="0"/>
          </a:p>
          <a:p>
            <a:r>
              <a:rPr lang="en-US" dirty="0"/>
              <a:t>“Book a flight to Jakarta.” 		</a:t>
            </a:r>
            <a:r>
              <a:rPr lang="en-US" dirty="0">
                <a:sym typeface="Wingdings" panose="05000000000000000000" pitchFamily="2" charset="2"/>
              </a:rPr>
              <a:t></a:t>
            </a:r>
            <a:r>
              <a:rPr lang="en-US" dirty="0"/>
              <a:t>	</a:t>
            </a:r>
            <a:r>
              <a:rPr lang="en-US" dirty="0" err="1"/>
              <a:t>book_flight</a:t>
            </a:r>
            <a:endParaRPr lang="en-US" dirty="0"/>
          </a:p>
          <a:p>
            <a:r>
              <a:rPr lang="en-US" dirty="0"/>
              <a:t>“Cancel my ticket.” 			</a:t>
            </a:r>
            <a:r>
              <a:rPr lang="en-US" dirty="0">
                <a:sym typeface="Wingdings" panose="05000000000000000000" pitchFamily="2" charset="2"/>
              </a:rPr>
              <a:t></a:t>
            </a:r>
            <a:r>
              <a:rPr lang="en-US" dirty="0"/>
              <a:t>	</a:t>
            </a:r>
            <a:r>
              <a:rPr lang="en-US" dirty="0" err="1"/>
              <a:t>cancel_booking</a:t>
            </a:r>
            <a:endParaRPr lang="en-US" dirty="0"/>
          </a:p>
          <a:p>
            <a:r>
              <a:rPr lang="en-US" dirty="0"/>
              <a:t>“What’s the status of my order?” 	</a:t>
            </a:r>
            <a:r>
              <a:rPr lang="en-US" dirty="0">
                <a:sym typeface="Wingdings" panose="05000000000000000000" pitchFamily="2" charset="2"/>
              </a:rPr>
              <a:t></a:t>
            </a:r>
            <a:r>
              <a:rPr lang="en-US" dirty="0"/>
              <a:t>	</a:t>
            </a:r>
            <a:r>
              <a:rPr lang="en-US" dirty="0" err="1"/>
              <a:t>check_order_status</a:t>
            </a:r>
            <a:endParaRPr lang="en-ID" dirty="0"/>
          </a:p>
        </p:txBody>
      </p:sp>
    </p:spTree>
    <p:extLst>
      <p:ext uri="{BB962C8B-B14F-4D97-AF65-F5344CB8AC3E}">
        <p14:creationId xmlns:p14="http://schemas.microsoft.com/office/powerpoint/2010/main" val="878744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D1C3-D6FD-3C19-D541-EFF833D095CE}"/>
              </a:ext>
            </a:extLst>
          </p:cNvPr>
          <p:cNvSpPr>
            <a:spLocks noGrp="1"/>
          </p:cNvSpPr>
          <p:nvPr>
            <p:ph type="title"/>
          </p:nvPr>
        </p:nvSpPr>
        <p:spPr/>
        <p:txBody>
          <a:bodyPr/>
          <a:lstStyle/>
          <a:p>
            <a:r>
              <a:rPr lang="en-ID" dirty="0"/>
              <a:t>Challenges in Intent Recognition</a:t>
            </a:r>
          </a:p>
        </p:txBody>
      </p:sp>
      <p:pic>
        <p:nvPicPr>
          <p:cNvPr id="4" name="Picture 3">
            <a:extLst>
              <a:ext uri="{FF2B5EF4-FFF2-40B4-BE49-F238E27FC236}">
                <a16:creationId xmlns:a16="http://schemas.microsoft.com/office/drawing/2014/main" id="{99E6115F-B213-B364-74FD-63B15583B258}"/>
              </a:ext>
            </a:extLst>
          </p:cNvPr>
          <p:cNvPicPr>
            <a:picLocks noChangeAspect="1"/>
          </p:cNvPicPr>
          <p:nvPr/>
        </p:nvPicPr>
        <p:blipFill>
          <a:blip r:embed="rId2"/>
          <a:stretch>
            <a:fillRect/>
          </a:stretch>
        </p:blipFill>
        <p:spPr>
          <a:xfrm>
            <a:off x="1248685" y="1891085"/>
            <a:ext cx="9888201" cy="2740550"/>
          </a:xfrm>
          <a:prstGeom prst="rect">
            <a:avLst/>
          </a:prstGeom>
        </p:spPr>
      </p:pic>
    </p:spTree>
    <p:extLst>
      <p:ext uri="{BB962C8B-B14F-4D97-AF65-F5344CB8AC3E}">
        <p14:creationId xmlns:p14="http://schemas.microsoft.com/office/powerpoint/2010/main" val="1769184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15202-E975-793F-C773-1382588A1D59}"/>
              </a:ext>
            </a:extLst>
          </p:cNvPr>
          <p:cNvSpPr>
            <a:spLocks noGrp="1"/>
          </p:cNvSpPr>
          <p:nvPr>
            <p:ph type="title"/>
          </p:nvPr>
        </p:nvSpPr>
        <p:spPr/>
        <p:txBody>
          <a:bodyPr/>
          <a:lstStyle/>
          <a:p>
            <a:r>
              <a:rPr lang="en-ID" dirty="0"/>
              <a:t>Ambiguous Sentences</a:t>
            </a:r>
          </a:p>
        </p:txBody>
      </p:sp>
      <p:sp>
        <p:nvSpPr>
          <p:cNvPr id="3" name="Content Placeholder 2">
            <a:extLst>
              <a:ext uri="{FF2B5EF4-FFF2-40B4-BE49-F238E27FC236}">
                <a16:creationId xmlns:a16="http://schemas.microsoft.com/office/drawing/2014/main" id="{B9273B34-D529-F435-22FE-E63440E0FEFC}"/>
              </a:ext>
            </a:extLst>
          </p:cNvPr>
          <p:cNvSpPr>
            <a:spLocks noGrp="1"/>
          </p:cNvSpPr>
          <p:nvPr>
            <p:ph idx="1"/>
          </p:nvPr>
        </p:nvSpPr>
        <p:spPr>
          <a:xfrm>
            <a:off x="838200" y="1825625"/>
            <a:ext cx="4866861" cy="4351338"/>
          </a:xfrm>
        </p:spPr>
        <p:txBody>
          <a:bodyPr/>
          <a:lstStyle/>
          <a:p>
            <a:r>
              <a:rPr lang="en-ID" dirty="0" err="1"/>
              <a:t>Kalimat</a:t>
            </a:r>
            <a:r>
              <a:rPr lang="en-ID" dirty="0"/>
              <a:t> yang </a:t>
            </a:r>
            <a:r>
              <a:rPr lang="en-ID" dirty="0" err="1"/>
              <a:t>memiliki</a:t>
            </a:r>
            <a:r>
              <a:rPr lang="en-ID" dirty="0"/>
              <a:t> </a:t>
            </a:r>
            <a:r>
              <a:rPr lang="en-ID" b="1" dirty="0"/>
              <a:t>dua</a:t>
            </a:r>
            <a:r>
              <a:rPr lang="en-ID" dirty="0"/>
              <a:t> </a:t>
            </a:r>
            <a:r>
              <a:rPr lang="en-ID" dirty="0" err="1"/>
              <a:t>atau</a:t>
            </a:r>
            <a:r>
              <a:rPr lang="en-ID" dirty="0"/>
              <a:t> </a:t>
            </a:r>
            <a:r>
              <a:rPr lang="en-ID" b="1" dirty="0" err="1"/>
              <a:t>lebih</a:t>
            </a:r>
            <a:r>
              <a:rPr lang="en-ID" dirty="0"/>
              <a:t> </a:t>
            </a:r>
            <a:r>
              <a:rPr lang="en-ID" b="1" dirty="0" err="1"/>
              <a:t>interpretasi</a:t>
            </a:r>
            <a:r>
              <a:rPr lang="en-ID" dirty="0"/>
              <a:t> </a:t>
            </a:r>
            <a:r>
              <a:rPr lang="en-ID" dirty="0" err="1"/>
              <a:t>makna</a:t>
            </a:r>
            <a:r>
              <a:rPr lang="en-ID" dirty="0"/>
              <a:t> </a:t>
            </a:r>
            <a:r>
              <a:rPr lang="en-ID" dirty="0" err="1"/>
              <a:t>karena</a:t>
            </a:r>
            <a:r>
              <a:rPr lang="en-ID" dirty="0"/>
              <a:t> </a:t>
            </a:r>
            <a:r>
              <a:rPr lang="en-ID" dirty="0" err="1"/>
              <a:t>struktur</a:t>
            </a:r>
            <a:r>
              <a:rPr lang="en-ID" dirty="0"/>
              <a:t>, kata, </a:t>
            </a:r>
            <a:r>
              <a:rPr lang="en-ID" dirty="0" err="1"/>
              <a:t>atau</a:t>
            </a:r>
            <a:r>
              <a:rPr lang="en-ID" dirty="0"/>
              <a:t> </a:t>
            </a:r>
            <a:r>
              <a:rPr lang="en-ID" dirty="0" err="1"/>
              <a:t>konteksnya</a:t>
            </a:r>
            <a:r>
              <a:rPr lang="en-ID" dirty="0"/>
              <a:t> yang </a:t>
            </a:r>
            <a:r>
              <a:rPr lang="en-ID" dirty="0" err="1"/>
              <a:t>tidak</a:t>
            </a:r>
            <a:r>
              <a:rPr lang="en-ID" dirty="0"/>
              <a:t> </a:t>
            </a:r>
            <a:r>
              <a:rPr lang="en-ID" dirty="0" err="1"/>
              <a:t>jelas</a:t>
            </a:r>
            <a:r>
              <a:rPr lang="en-ID" dirty="0"/>
              <a:t> </a:t>
            </a:r>
            <a:r>
              <a:rPr lang="en-ID" dirty="0" err="1"/>
              <a:t>atau</a:t>
            </a:r>
            <a:r>
              <a:rPr lang="en-ID" dirty="0"/>
              <a:t> </a:t>
            </a:r>
            <a:r>
              <a:rPr lang="en-ID" dirty="0" err="1"/>
              <a:t>bisa</a:t>
            </a:r>
            <a:r>
              <a:rPr lang="en-ID" dirty="0"/>
              <a:t> </a:t>
            </a:r>
            <a:r>
              <a:rPr lang="en-ID" dirty="0" err="1"/>
              <a:t>dimaknai</a:t>
            </a:r>
            <a:r>
              <a:rPr lang="en-ID" dirty="0"/>
              <a:t> </a:t>
            </a:r>
            <a:r>
              <a:rPr lang="en-ID" dirty="0" err="1"/>
              <a:t>ganda</a:t>
            </a:r>
            <a:r>
              <a:rPr lang="en-ID" dirty="0"/>
              <a:t>. </a:t>
            </a:r>
          </a:p>
          <a:p>
            <a:r>
              <a:rPr lang="en-ID" dirty="0"/>
              <a:t>Sulit </a:t>
            </a:r>
            <a:r>
              <a:rPr lang="en-ID" dirty="0" err="1"/>
              <a:t>dipahami</a:t>
            </a:r>
            <a:r>
              <a:rPr lang="en-ID" dirty="0"/>
              <a:t> </a:t>
            </a:r>
            <a:r>
              <a:rPr lang="en-ID" dirty="0" err="1"/>
              <a:t>secara</a:t>
            </a:r>
            <a:r>
              <a:rPr lang="en-ID" dirty="0"/>
              <a:t> </a:t>
            </a:r>
            <a:r>
              <a:rPr lang="en-ID" dirty="0" err="1"/>
              <a:t>akurat</a:t>
            </a:r>
            <a:r>
              <a:rPr lang="en-ID" dirty="0"/>
              <a:t> oleh </a:t>
            </a:r>
            <a:r>
              <a:rPr lang="en-ID" dirty="0" err="1"/>
              <a:t>sistem</a:t>
            </a:r>
            <a:r>
              <a:rPr lang="en-ID" dirty="0"/>
              <a:t> </a:t>
            </a:r>
            <a:r>
              <a:rPr lang="en-ID" dirty="0" err="1"/>
              <a:t>jika</a:t>
            </a:r>
            <a:r>
              <a:rPr lang="en-ID" dirty="0"/>
              <a:t> </a:t>
            </a:r>
            <a:r>
              <a:rPr lang="en-ID" dirty="0" err="1"/>
              <a:t>tidak</a:t>
            </a:r>
            <a:r>
              <a:rPr lang="en-ID" dirty="0"/>
              <a:t> </a:t>
            </a:r>
            <a:r>
              <a:rPr lang="en-ID" dirty="0" err="1"/>
              <a:t>disertai</a:t>
            </a:r>
            <a:r>
              <a:rPr lang="en-ID" dirty="0"/>
              <a:t> </a:t>
            </a:r>
            <a:r>
              <a:rPr lang="en-ID" dirty="0" err="1"/>
              <a:t>dengan</a:t>
            </a:r>
            <a:r>
              <a:rPr lang="en-ID" dirty="0"/>
              <a:t> </a:t>
            </a:r>
            <a:r>
              <a:rPr lang="en-ID" dirty="0" err="1"/>
              <a:t>konteks</a:t>
            </a:r>
            <a:r>
              <a:rPr lang="en-ID" dirty="0"/>
              <a:t> </a:t>
            </a:r>
            <a:r>
              <a:rPr lang="en-ID" dirty="0" err="1"/>
              <a:t>atau</a:t>
            </a:r>
            <a:r>
              <a:rPr lang="en-ID" dirty="0"/>
              <a:t> </a:t>
            </a:r>
            <a:r>
              <a:rPr lang="en-ID" dirty="0" err="1"/>
              <a:t>penanganan</a:t>
            </a:r>
            <a:r>
              <a:rPr lang="en-ID" dirty="0"/>
              <a:t> </a:t>
            </a:r>
            <a:r>
              <a:rPr lang="en-ID" dirty="0" err="1"/>
              <a:t>khusus</a:t>
            </a:r>
            <a:r>
              <a:rPr lang="en-ID" dirty="0"/>
              <a:t>.</a:t>
            </a:r>
          </a:p>
        </p:txBody>
      </p:sp>
      <p:sp>
        <p:nvSpPr>
          <p:cNvPr id="4" name="Content Placeholder 2">
            <a:extLst>
              <a:ext uri="{FF2B5EF4-FFF2-40B4-BE49-F238E27FC236}">
                <a16:creationId xmlns:a16="http://schemas.microsoft.com/office/drawing/2014/main" id="{EE79E5B4-3D9F-625A-E94D-E19B465F3D33}"/>
              </a:ext>
            </a:extLst>
          </p:cNvPr>
          <p:cNvSpPr txBox="1">
            <a:spLocks/>
          </p:cNvSpPr>
          <p:nvPr/>
        </p:nvSpPr>
        <p:spPr>
          <a:xfrm>
            <a:off x="6367669" y="1825625"/>
            <a:ext cx="48668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Sentences that have </a:t>
            </a:r>
            <a:r>
              <a:rPr lang="en-US" b="1" dirty="0"/>
              <a:t>two</a:t>
            </a:r>
            <a:r>
              <a:rPr lang="en-US" dirty="0"/>
              <a:t> or </a:t>
            </a:r>
            <a:r>
              <a:rPr lang="en-US" b="1" dirty="0"/>
              <a:t>more</a:t>
            </a:r>
            <a:r>
              <a:rPr lang="en-US" dirty="0"/>
              <a:t> </a:t>
            </a:r>
            <a:r>
              <a:rPr lang="en-US" b="1" dirty="0"/>
              <a:t>interpretations</a:t>
            </a:r>
            <a:r>
              <a:rPr lang="en-US" dirty="0"/>
              <a:t> of meaning due to unclear or ambiguous structure, words, or context.</a:t>
            </a:r>
          </a:p>
          <a:p>
            <a:r>
              <a:rPr lang="en-US" dirty="0"/>
              <a:t>Difficult to be accurately understood by the system </a:t>
            </a:r>
            <a:r>
              <a:rPr lang="en-US" b="1" dirty="0"/>
              <a:t>without</a:t>
            </a:r>
            <a:r>
              <a:rPr lang="en-US" dirty="0"/>
              <a:t> </a:t>
            </a:r>
            <a:r>
              <a:rPr lang="en-US" b="1" dirty="0"/>
              <a:t>context</a:t>
            </a:r>
            <a:r>
              <a:rPr lang="en-US" dirty="0"/>
              <a:t> or special handling.</a:t>
            </a:r>
            <a:endParaRPr lang="en-ID" dirty="0"/>
          </a:p>
        </p:txBody>
      </p:sp>
      <p:pic>
        <p:nvPicPr>
          <p:cNvPr id="5" name="Picture 4">
            <a:extLst>
              <a:ext uri="{FF2B5EF4-FFF2-40B4-BE49-F238E27FC236}">
                <a16:creationId xmlns:a16="http://schemas.microsoft.com/office/drawing/2014/main" id="{73732E0E-D55F-5D91-0FA3-67095AED8BD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78366" y="136952"/>
            <a:ext cx="2381250" cy="1497747"/>
          </a:xfrm>
          <a:prstGeom prst="rect">
            <a:avLst/>
          </a:prstGeom>
        </p:spPr>
      </p:pic>
    </p:spTree>
    <p:extLst>
      <p:ext uri="{BB962C8B-B14F-4D97-AF65-F5344CB8AC3E}">
        <p14:creationId xmlns:p14="http://schemas.microsoft.com/office/powerpoint/2010/main" val="272590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71BD3-BF38-2F80-19DB-58E5DB5B5029}"/>
              </a:ext>
            </a:extLst>
          </p:cNvPr>
          <p:cNvSpPr>
            <a:spLocks noGrp="1"/>
          </p:cNvSpPr>
          <p:nvPr>
            <p:ph type="title"/>
          </p:nvPr>
        </p:nvSpPr>
        <p:spPr/>
        <p:txBody>
          <a:bodyPr/>
          <a:lstStyle/>
          <a:p>
            <a:r>
              <a:rPr lang="en-US" dirty="0"/>
              <a:t>Ambiguous Sentences</a:t>
            </a:r>
            <a:endParaRPr lang="en-ID" dirty="0"/>
          </a:p>
        </p:txBody>
      </p:sp>
      <p:pic>
        <p:nvPicPr>
          <p:cNvPr id="3" name="Picture 2">
            <a:extLst>
              <a:ext uri="{FF2B5EF4-FFF2-40B4-BE49-F238E27FC236}">
                <a16:creationId xmlns:a16="http://schemas.microsoft.com/office/drawing/2014/main" id="{46142712-9074-EC4E-9318-6AE1D9D21103}"/>
              </a:ext>
            </a:extLst>
          </p:cNvPr>
          <p:cNvPicPr>
            <a:picLocks noChangeAspect="1"/>
          </p:cNvPicPr>
          <p:nvPr/>
        </p:nvPicPr>
        <p:blipFill>
          <a:blip r:embed="rId2"/>
          <a:stretch>
            <a:fillRect/>
          </a:stretch>
        </p:blipFill>
        <p:spPr>
          <a:xfrm>
            <a:off x="725557" y="2130567"/>
            <a:ext cx="10393435" cy="2125649"/>
          </a:xfrm>
          <a:prstGeom prst="rect">
            <a:avLst/>
          </a:prstGeom>
        </p:spPr>
      </p:pic>
      <p:sp>
        <p:nvSpPr>
          <p:cNvPr id="4" name="TextBox 3">
            <a:extLst>
              <a:ext uri="{FF2B5EF4-FFF2-40B4-BE49-F238E27FC236}">
                <a16:creationId xmlns:a16="http://schemas.microsoft.com/office/drawing/2014/main" id="{CFE05A02-5AC3-6008-5A51-50C09E5D4B1E}"/>
              </a:ext>
            </a:extLst>
          </p:cNvPr>
          <p:cNvSpPr txBox="1"/>
          <p:nvPr/>
        </p:nvSpPr>
        <p:spPr>
          <a:xfrm>
            <a:off x="725557" y="4579382"/>
            <a:ext cx="6997148" cy="369332"/>
          </a:xfrm>
          <a:prstGeom prst="rect">
            <a:avLst/>
          </a:prstGeom>
          <a:noFill/>
        </p:spPr>
        <p:txBody>
          <a:bodyPr wrap="square" rtlCol="0">
            <a:spAutoFit/>
          </a:bodyPr>
          <a:lstStyle/>
          <a:p>
            <a:r>
              <a:rPr lang="en-US" dirty="0"/>
              <a:t>"Time flies like an arrow“ </a:t>
            </a:r>
            <a:r>
              <a:rPr lang="en-US" dirty="0">
                <a:sym typeface="Wingdings" panose="05000000000000000000" pitchFamily="2" charset="2"/>
              </a:rPr>
              <a:t> syntactic ambiguity</a:t>
            </a:r>
            <a:endParaRPr lang="en-ID" dirty="0"/>
          </a:p>
        </p:txBody>
      </p:sp>
      <p:sp>
        <p:nvSpPr>
          <p:cNvPr id="5" name="TextBox 4">
            <a:extLst>
              <a:ext uri="{FF2B5EF4-FFF2-40B4-BE49-F238E27FC236}">
                <a16:creationId xmlns:a16="http://schemas.microsoft.com/office/drawing/2014/main" id="{1D787E1A-0C93-E22A-1164-D1E21D29F126}"/>
              </a:ext>
            </a:extLst>
          </p:cNvPr>
          <p:cNvSpPr txBox="1"/>
          <p:nvPr/>
        </p:nvSpPr>
        <p:spPr>
          <a:xfrm>
            <a:off x="725557" y="5284088"/>
            <a:ext cx="8945217" cy="646331"/>
          </a:xfrm>
          <a:prstGeom prst="rect">
            <a:avLst/>
          </a:prstGeom>
          <a:noFill/>
        </p:spPr>
        <p:txBody>
          <a:bodyPr wrap="square" rtlCol="0">
            <a:spAutoFit/>
          </a:bodyPr>
          <a:lstStyle/>
          <a:p>
            <a:pPr marL="285750" indent="-285750">
              <a:buFont typeface="Arial" panose="020B0604020202020204" pitchFamily="34" charset="0"/>
              <a:buChar char="•"/>
            </a:pPr>
            <a:r>
              <a:rPr lang="en-ID" dirty="0"/>
              <a:t>"Waktu </a:t>
            </a:r>
            <a:r>
              <a:rPr lang="en-ID" dirty="0" err="1"/>
              <a:t>berlalu</a:t>
            </a:r>
            <a:r>
              <a:rPr lang="en-ID" dirty="0"/>
              <a:t> </a:t>
            </a:r>
            <a:r>
              <a:rPr lang="en-ID" dirty="0" err="1"/>
              <a:t>dengan</a:t>
            </a:r>
            <a:r>
              <a:rPr lang="en-ID" dirty="0"/>
              <a:t> </a:t>
            </a:r>
            <a:r>
              <a:rPr lang="en-ID" dirty="0" err="1"/>
              <a:t>cepat</a:t>
            </a:r>
            <a:r>
              <a:rPr lang="en-ID" dirty="0"/>
              <a:t>.“ </a:t>
            </a:r>
            <a:r>
              <a:rPr lang="en-ID" dirty="0">
                <a:sym typeface="Wingdings" panose="05000000000000000000" pitchFamily="2" charset="2"/>
              </a:rPr>
              <a:t> “Time passes quickly”</a:t>
            </a:r>
            <a:endParaRPr lang="en-ID" dirty="0"/>
          </a:p>
          <a:p>
            <a:pPr marL="285750" indent="-285750">
              <a:buFont typeface="Arial" panose="020B0604020202020204" pitchFamily="34" charset="0"/>
              <a:buChar char="•"/>
            </a:pPr>
            <a:r>
              <a:rPr lang="en-US" dirty="0"/>
              <a:t>“</a:t>
            </a:r>
            <a:r>
              <a:rPr lang="en-US" dirty="0" err="1"/>
              <a:t>Serangga</a:t>
            </a:r>
            <a:r>
              <a:rPr lang="en-US" dirty="0"/>
              <a:t> </a:t>
            </a:r>
            <a:r>
              <a:rPr lang="en-US" dirty="0" err="1"/>
              <a:t>bernama</a:t>
            </a:r>
            <a:r>
              <a:rPr lang="en-US" dirty="0"/>
              <a:t> Times </a:t>
            </a:r>
            <a:r>
              <a:rPr lang="en-US" dirty="0" err="1"/>
              <a:t>seperti</a:t>
            </a:r>
            <a:r>
              <a:rPr lang="en-US" dirty="0"/>
              <a:t> </a:t>
            </a:r>
            <a:r>
              <a:rPr lang="en-US" dirty="0" err="1"/>
              <a:t>anak</a:t>
            </a:r>
            <a:r>
              <a:rPr lang="en-US" dirty="0"/>
              <a:t> </a:t>
            </a:r>
            <a:r>
              <a:rPr lang="en-US" dirty="0" err="1"/>
              <a:t>panah</a:t>
            </a:r>
            <a:r>
              <a:rPr lang="en-US" dirty="0"/>
              <a:t>” </a:t>
            </a:r>
            <a:r>
              <a:rPr lang="en-US" dirty="0">
                <a:sym typeface="Wingdings" panose="05000000000000000000" pitchFamily="2" charset="2"/>
              </a:rPr>
              <a:t> </a:t>
            </a:r>
            <a:r>
              <a:rPr lang="en-US" dirty="0"/>
              <a:t>The insect named Time is like an arrow</a:t>
            </a:r>
            <a:endParaRPr lang="en-ID" dirty="0"/>
          </a:p>
        </p:txBody>
      </p:sp>
      <p:pic>
        <p:nvPicPr>
          <p:cNvPr id="6" name="Picture 5">
            <a:extLst>
              <a:ext uri="{FF2B5EF4-FFF2-40B4-BE49-F238E27FC236}">
                <a16:creationId xmlns:a16="http://schemas.microsoft.com/office/drawing/2014/main" id="{4648746F-E4BE-E6CD-E8B6-16429F287CB5}"/>
              </a:ext>
            </a:extLst>
          </p:cNvPr>
          <p:cNvPicPr>
            <a:picLocks noChangeAspect="1"/>
          </p:cNvPicPr>
          <p:nvPr/>
        </p:nvPicPr>
        <p:blipFill>
          <a:blip r:embed="rId3"/>
          <a:stretch>
            <a:fillRect/>
          </a:stretch>
        </p:blipFill>
        <p:spPr>
          <a:xfrm>
            <a:off x="10285551" y="4977194"/>
            <a:ext cx="1906449" cy="1906449"/>
          </a:xfrm>
          <a:prstGeom prst="rect">
            <a:avLst/>
          </a:prstGeom>
        </p:spPr>
      </p:pic>
      <p:pic>
        <p:nvPicPr>
          <p:cNvPr id="9" name="Picture 8">
            <a:extLst>
              <a:ext uri="{FF2B5EF4-FFF2-40B4-BE49-F238E27FC236}">
                <a16:creationId xmlns:a16="http://schemas.microsoft.com/office/drawing/2014/main" id="{4AF47599-A6B4-3424-2983-A34EF480C53D}"/>
              </a:ext>
            </a:extLst>
          </p:cNvPr>
          <p:cNvPicPr>
            <a:picLocks noChangeAspect="1"/>
          </p:cNvPicPr>
          <p:nvPr/>
        </p:nvPicPr>
        <p:blipFill>
          <a:blip r:embed="rId4"/>
          <a:stretch>
            <a:fillRect/>
          </a:stretch>
        </p:blipFill>
        <p:spPr>
          <a:xfrm>
            <a:off x="8918194" y="4431652"/>
            <a:ext cx="1505160" cy="971686"/>
          </a:xfrm>
          <a:prstGeom prst="rect">
            <a:avLst/>
          </a:prstGeom>
        </p:spPr>
      </p:pic>
      <p:sp>
        <p:nvSpPr>
          <p:cNvPr id="10" name="TextBox 9">
            <a:extLst>
              <a:ext uri="{FF2B5EF4-FFF2-40B4-BE49-F238E27FC236}">
                <a16:creationId xmlns:a16="http://schemas.microsoft.com/office/drawing/2014/main" id="{F356A069-0983-C2A1-64A9-092AB8481C5E}"/>
              </a:ext>
            </a:extLst>
          </p:cNvPr>
          <p:cNvSpPr txBox="1"/>
          <p:nvPr/>
        </p:nvSpPr>
        <p:spPr>
          <a:xfrm>
            <a:off x="6360785" y="4765896"/>
            <a:ext cx="2246243" cy="369332"/>
          </a:xfrm>
          <a:prstGeom prst="rect">
            <a:avLst/>
          </a:prstGeom>
          <a:noFill/>
        </p:spPr>
        <p:txBody>
          <a:bodyPr wrap="square" rtlCol="0">
            <a:spAutoFit/>
          </a:bodyPr>
          <a:lstStyle/>
          <a:p>
            <a:r>
              <a:rPr lang="en-ID" dirty="0"/>
              <a:t>Idiomatic Meaning</a:t>
            </a:r>
          </a:p>
        </p:txBody>
      </p:sp>
      <p:cxnSp>
        <p:nvCxnSpPr>
          <p:cNvPr id="12" name="Straight Arrow Connector 11">
            <a:extLst>
              <a:ext uri="{FF2B5EF4-FFF2-40B4-BE49-F238E27FC236}">
                <a16:creationId xmlns:a16="http://schemas.microsoft.com/office/drawing/2014/main" id="{67C02906-7C79-3EF6-F947-5FD6F387080B}"/>
              </a:ext>
            </a:extLst>
          </p:cNvPr>
          <p:cNvCxnSpPr/>
          <p:nvPr/>
        </p:nvCxnSpPr>
        <p:spPr>
          <a:xfrm flipV="1">
            <a:off x="6013174" y="5135228"/>
            <a:ext cx="347611" cy="148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3C8530B-DA80-2435-28BA-E53C49999233}"/>
              </a:ext>
            </a:extLst>
          </p:cNvPr>
          <p:cNvSpPr txBox="1"/>
          <p:nvPr/>
        </p:nvSpPr>
        <p:spPr>
          <a:xfrm>
            <a:off x="6569765" y="6182139"/>
            <a:ext cx="2196548" cy="369332"/>
          </a:xfrm>
          <a:prstGeom prst="rect">
            <a:avLst/>
          </a:prstGeom>
          <a:noFill/>
        </p:spPr>
        <p:txBody>
          <a:bodyPr wrap="square" rtlCol="0">
            <a:spAutoFit/>
          </a:bodyPr>
          <a:lstStyle/>
          <a:p>
            <a:r>
              <a:rPr lang="en-ID" dirty="0"/>
              <a:t>Structural Meaning</a:t>
            </a:r>
          </a:p>
        </p:txBody>
      </p:sp>
      <p:cxnSp>
        <p:nvCxnSpPr>
          <p:cNvPr id="15" name="Straight Arrow Connector 14">
            <a:extLst>
              <a:ext uri="{FF2B5EF4-FFF2-40B4-BE49-F238E27FC236}">
                <a16:creationId xmlns:a16="http://schemas.microsoft.com/office/drawing/2014/main" id="{0D357C9F-0390-54F3-3739-1015331B9660}"/>
              </a:ext>
            </a:extLst>
          </p:cNvPr>
          <p:cNvCxnSpPr/>
          <p:nvPr/>
        </p:nvCxnSpPr>
        <p:spPr>
          <a:xfrm>
            <a:off x="6332882" y="5930419"/>
            <a:ext cx="473765" cy="251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628E0E5-68F8-8E75-FCC8-15FF456688E3}"/>
              </a:ext>
            </a:extLst>
          </p:cNvPr>
          <p:cNvSpPr txBox="1"/>
          <p:nvPr/>
        </p:nvSpPr>
        <p:spPr>
          <a:xfrm>
            <a:off x="6768057" y="1262550"/>
            <a:ext cx="1977886" cy="369332"/>
          </a:xfrm>
          <a:prstGeom prst="rect">
            <a:avLst/>
          </a:prstGeom>
          <a:noFill/>
        </p:spPr>
        <p:txBody>
          <a:bodyPr wrap="square" rtlCol="0">
            <a:spAutoFit/>
          </a:bodyPr>
          <a:lstStyle/>
          <a:p>
            <a:r>
              <a:rPr lang="en-US" dirty="0"/>
              <a:t>“Saya </a:t>
            </a:r>
            <a:r>
              <a:rPr lang="en-US" dirty="0" err="1"/>
              <a:t>makan</a:t>
            </a:r>
            <a:r>
              <a:rPr lang="en-US" dirty="0"/>
              <a:t> </a:t>
            </a:r>
            <a:r>
              <a:rPr lang="en-US" dirty="0" err="1"/>
              <a:t>hati</a:t>
            </a:r>
            <a:r>
              <a:rPr lang="en-US" dirty="0"/>
              <a:t>”</a:t>
            </a:r>
            <a:endParaRPr lang="en-ID" dirty="0"/>
          </a:p>
        </p:txBody>
      </p:sp>
      <p:pic>
        <p:nvPicPr>
          <p:cNvPr id="1026" name="Picture 2" descr="Hati Ayam, Hati Ayam, Hati Ayam Png ...">
            <a:extLst>
              <a:ext uri="{FF2B5EF4-FFF2-40B4-BE49-F238E27FC236}">
                <a16:creationId xmlns:a16="http://schemas.microsoft.com/office/drawing/2014/main" id="{35254B7C-F523-38AE-8B5A-2018389EB5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5484" y="610752"/>
            <a:ext cx="1369737" cy="13697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lipart Karakter Kartun Anak Laki Laki ...">
            <a:extLst>
              <a:ext uri="{FF2B5EF4-FFF2-40B4-BE49-F238E27FC236}">
                <a16:creationId xmlns:a16="http://schemas.microsoft.com/office/drawing/2014/main" id="{3F79E83A-727A-D738-51E5-C4481F3B74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3434" y="-59208"/>
            <a:ext cx="1339920" cy="133992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64BC953-D006-7F04-DDD0-684FD6D2A036}"/>
              </a:ext>
            </a:extLst>
          </p:cNvPr>
          <p:cNvSpPr txBox="1"/>
          <p:nvPr/>
        </p:nvSpPr>
        <p:spPr>
          <a:xfrm>
            <a:off x="10044995" y="58082"/>
            <a:ext cx="2246243" cy="369332"/>
          </a:xfrm>
          <a:prstGeom prst="rect">
            <a:avLst/>
          </a:prstGeom>
          <a:noFill/>
        </p:spPr>
        <p:txBody>
          <a:bodyPr wrap="square" rtlCol="0">
            <a:spAutoFit/>
          </a:bodyPr>
          <a:lstStyle/>
          <a:p>
            <a:r>
              <a:rPr lang="en-ID" dirty="0"/>
              <a:t>Idiomatic Meaning</a:t>
            </a:r>
          </a:p>
        </p:txBody>
      </p:sp>
      <p:sp>
        <p:nvSpPr>
          <p:cNvPr id="18" name="TextBox 17">
            <a:extLst>
              <a:ext uri="{FF2B5EF4-FFF2-40B4-BE49-F238E27FC236}">
                <a16:creationId xmlns:a16="http://schemas.microsoft.com/office/drawing/2014/main" id="{44C37DE7-3AB8-4767-093A-F3606EB4DB3C}"/>
              </a:ext>
            </a:extLst>
          </p:cNvPr>
          <p:cNvSpPr txBox="1"/>
          <p:nvPr/>
        </p:nvSpPr>
        <p:spPr>
          <a:xfrm>
            <a:off x="10140501" y="1745689"/>
            <a:ext cx="2196548" cy="369332"/>
          </a:xfrm>
          <a:prstGeom prst="rect">
            <a:avLst/>
          </a:prstGeom>
          <a:noFill/>
        </p:spPr>
        <p:txBody>
          <a:bodyPr wrap="square" rtlCol="0">
            <a:spAutoFit/>
          </a:bodyPr>
          <a:lstStyle/>
          <a:p>
            <a:r>
              <a:rPr lang="en-ID" dirty="0"/>
              <a:t>Structural Meaning</a:t>
            </a:r>
          </a:p>
        </p:txBody>
      </p:sp>
      <p:cxnSp>
        <p:nvCxnSpPr>
          <p:cNvPr id="20" name="Straight Arrow Connector 19">
            <a:extLst>
              <a:ext uri="{FF2B5EF4-FFF2-40B4-BE49-F238E27FC236}">
                <a16:creationId xmlns:a16="http://schemas.microsoft.com/office/drawing/2014/main" id="{36F2C7A6-0581-30C8-356A-2A274DA92663}"/>
              </a:ext>
            </a:extLst>
          </p:cNvPr>
          <p:cNvCxnSpPr>
            <a:cxnSpLocks/>
          </p:cNvCxnSpPr>
          <p:nvPr/>
        </p:nvCxnSpPr>
        <p:spPr>
          <a:xfrm flipV="1">
            <a:off x="8766313" y="904461"/>
            <a:ext cx="447261" cy="376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B60C5FE-A06D-EA38-33D8-75BD2D13047F}"/>
              </a:ext>
            </a:extLst>
          </p:cNvPr>
          <p:cNvCxnSpPr/>
          <p:nvPr/>
        </p:nvCxnSpPr>
        <p:spPr>
          <a:xfrm>
            <a:off x="8766313" y="1631882"/>
            <a:ext cx="15192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908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5CBF-BD3D-F758-3C6B-D60A854DEBB6}"/>
              </a:ext>
            </a:extLst>
          </p:cNvPr>
          <p:cNvSpPr>
            <a:spLocks noGrp="1"/>
          </p:cNvSpPr>
          <p:nvPr>
            <p:ph type="title"/>
          </p:nvPr>
        </p:nvSpPr>
        <p:spPr/>
        <p:txBody>
          <a:bodyPr/>
          <a:lstStyle/>
          <a:p>
            <a:r>
              <a:rPr lang="en-ID" dirty="0"/>
              <a:t>Types of Ambiguity</a:t>
            </a:r>
          </a:p>
        </p:txBody>
      </p:sp>
      <p:pic>
        <p:nvPicPr>
          <p:cNvPr id="4" name="Picture 3">
            <a:extLst>
              <a:ext uri="{FF2B5EF4-FFF2-40B4-BE49-F238E27FC236}">
                <a16:creationId xmlns:a16="http://schemas.microsoft.com/office/drawing/2014/main" id="{CE68B75E-8494-EAB8-08F2-5040F70BE6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9227" y="1693996"/>
            <a:ext cx="9940596" cy="4077329"/>
          </a:xfrm>
          <a:prstGeom prst="rect">
            <a:avLst/>
          </a:prstGeom>
        </p:spPr>
      </p:pic>
    </p:spTree>
    <p:extLst>
      <p:ext uri="{BB962C8B-B14F-4D97-AF65-F5344CB8AC3E}">
        <p14:creationId xmlns:p14="http://schemas.microsoft.com/office/powerpoint/2010/main" val="4180174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llout: Quad Arrow 1">
            <a:extLst>
              <a:ext uri="{FF2B5EF4-FFF2-40B4-BE49-F238E27FC236}">
                <a16:creationId xmlns:a16="http://schemas.microsoft.com/office/drawing/2014/main" id="{F17C8119-59B5-28F8-2A15-E5D963486404}"/>
              </a:ext>
            </a:extLst>
          </p:cNvPr>
          <p:cNvSpPr/>
          <p:nvPr/>
        </p:nvSpPr>
        <p:spPr>
          <a:xfrm>
            <a:off x="4691270" y="2604052"/>
            <a:ext cx="2365513" cy="1888435"/>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76155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BF70-74C9-4445-8305-78C77A199F31}"/>
              </a:ext>
            </a:extLst>
          </p:cNvPr>
          <p:cNvSpPr>
            <a:spLocks noGrp="1"/>
          </p:cNvSpPr>
          <p:nvPr>
            <p:ph type="title"/>
          </p:nvPr>
        </p:nvSpPr>
        <p:spPr/>
        <p:txBody>
          <a:bodyPr/>
          <a:lstStyle/>
          <a:p>
            <a:r>
              <a:rPr lang="en-ID" dirty="0"/>
              <a:t>Complex sentences</a:t>
            </a:r>
          </a:p>
        </p:txBody>
      </p:sp>
      <p:sp>
        <p:nvSpPr>
          <p:cNvPr id="3" name="Content Placeholder 2">
            <a:extLst>
              <a:ext uri="{FF2B5EF4-FFF2-40B4-BE49-F238E27FC236}">
                <a16:creationId xmlns:a16="http://schemas.microsoft.com/office/drawing/2014/main" id="{0A72C016-9865-54EA-3A4A-1919F11861F3}"/>
              </a:ext>
            </a:extLst>
          </p:cNvPr>
          <p:cNvSpPr>
            <a:spLocks noGrp="1"/>
          </p:cNvSpPr>
          <p:nvPr>
            <p:ph idx="1"/>
          </p:nvPr>
        </p:nvSpPr>
        <p:spPr>
          <a:xfrm>
            <a:off x="838200" y="1825625"/>
            <a:ext cx="5115339" cy="4351338"/>
          </a:xfrm>
        </p:spPr>
        <p:txBody>
          <a:bodyPr/>
          <a:lstStyle/>
          <a:p>
            <a:r>
              <a:rPr lang="en-ID" dirty="0" err="1"/>
              <a:t>Kalimat</a:t>
            </a:r>
            <a:r>
              <a:rPr lang="en-ID" dirty="0"/>
              <a:t> yang </a:t>
            </a:r>
            <a:r>
              <a:rPr lang="en-ID" dirty="0" err="1"/>
              <a:t>terdiri</a:t>
            </a:r>
            <a:r>
              <a:rPr lang="en-ID" dirty="0"/>
              <a:t> </a:t>
            </a:r>
            <a:r>
              <a:rPr lang="en-ID" dirty="0" err="1"/>
              <a:t>dari</a:t>
            </a:r>
            <a:r>
              <a:rPr lang="en-ID" dirty="0"/>
              <a:t> </a:t>
            </a:r>
            <a:r>
              <a:rPr lang="en-ID" dirty="0" err="1"/>
              <a:t>satu</a:t>
            </a:r>
            <a:r>
              <a:rPr lang="en-ID" dirty="0"/>
              <a:t> </a:t>
            </a:r>
            <a:r>
              <a:rPr lang="en-ID" b="1" dirty="0" err="1"/>
              <a:t>induk</a:t>
            </a:r>
            <a:r>
              <a:rPr lang="en-ID" dirty="0"/>
              <a:t> </a:t>
            </a:r>
            <a:r>
              <a:rPr lang="en-ID" b="1" dirty="0" err="1"/>
              <a:t>kalimat</a:t>
            </a:r>
            <a:r>
              <a:rPr lang="en-ID" dirty="0"/>
              <a:t> (independent clause) dan </a:t>
            </a:r>
            <a:r>
              <a:rPr lang="en-ID" dirty="0" err="1"/>
              <a:t>satu</a:t>
            </a:r>
            <a:r>
              <a:rPr lang="en-ID" dirty="0"/>
              <a:t> </a:t>
            </a:r>
            <a:r>
              <a:rPr lang="en-ID" dirty="0" err="1"/>
              <a:t>atau</a:t>
            </a:r>
            <a:r>
              <a:rPr lang="en-ID" dirty="0"/>
              <a:t> </a:t>
            </a:r>
            <a:r>
              <a:rPr lang="en-ID" dirty="0" err="1"/>
              <a:t>lebih</a:t>
            </a:r>
            <a:r>
              <a:rPr lang="en-ID" dirty="0"/>
              <a:t> </a:t>
            </a:r>
            <a:r>
              <a:rPr lang="en-ID" b="1" dirty="0" err="1"/>
              <a:t>anak</a:t>
            </a:r>
            <a:r>
              <a:rPr lang="en-ID" dirty="0"/>
              <a:t> </a:t>
            </a:r>
            <a:r>
              <a:rPr lang="en-ID" b="1" dirty="0" err="1"/>
              <a:t>kalimat</a:t>
            </a:r>
            <a:r>
              <a:rPr lang="en-ID" dirty="0"/>
              <a:t> (dependent clause). </a:t>
            </a:r>
          </a:p>
          <a:p>
            <a:r>
              <a:rPr lang="en-ID" dirty="0"/>
              <a:t>Anak </a:t>
            </a:r>
            <a:r>
              <a:rPr lang="en-ID" dirty="0" err="1"/>
              <a:t>kalimat</a:t>
            </a:r>
            <a:r>
              <a:rPr lang="en-ID" dirty="0"/>
              <a:t> </a:t>
            </a:r>
            <a:r>
              <a:rPr lang="en-ID" dirty="0" err="1"/>
              <a:t>ini</a:t>
            </a:r>
            <a:r>
              <a:rPr lang="en-ID" dirty="0"/>
              <a:t> </a:t>
            </a:r>
            <a:r>
              <a:rPr lang="en-ID" dirty="0" err="1"/>
              <a:t>tidak</a:t>
            </a:r>
            <a:r>
              <a:rPr lang="en-ID" dirty="0"/>
              <a:t> </a:t>
            </a:r>
            <a:r>
              <a:rPr lang="en-ID" dirty="0" err="1"/>
              <a:t>dapat</a:t>
            </a:r>
            <a:r>
              <a:rPr lang="en-ID" dirty="0"/>
              <a:t> </a:t>
            </a:r>
            <a:r>
              <a:rPr lang="en-ID" dirty="0" err="1"/>
              <a:t>berdiri</a:t>
            </a:r>
            <a:r>
              <a:rPr lang="en-ID" dirty="0"/>
              <a:t> </a:t>
            </a:r>
            <a:r>
              <a:rPr lang="en-ID" dirty="0" err="1"/>
              <a:t>sendiri</a:t>
            </a:r>
            <a:r>
              <a:rPr lang="en-ID" dirty="0"/>
              <a:t> </a:t>
            </a:r>
            <a:r>
              <a:rPr lang="en-ID" dirty="0" err="1"/>
              <a:t>karena</a:t>
            </a:r>
            <a:r>
              <a:rPr lang="en-ID" dirty="0"/>
              <a:t> </a:t>
            </a:r>
            <a:r>
              <a:rPr lang="en-ID" dirty="0" err="1"/>
              <a:t>maknanya</a:t>
            </a:r>
            <a:r>
              <a:rPr lang="en-ID" dirty="0"/>
              <a:t> </a:t>
            </a:r>
            <a:r>
              <a:rPr lang="en-ID" dirty="0" err="1"/>
              <a:t>bergantung</a:t>
            </a:r>
            <a:r>
              <a:rPr lang="en-ID" dirty="0"/>
              <a:t> pada </a:t>
            </a:r>
            <a:r>
              <a:rPr lang="en-ID" dirty="0" err="1"/>
              <a:t>induk</a:t>
            </a:r>
            <a:r>
              <a:rPr lang="en-ID" dirty="0"/>
              <a:t> </a:t>
            </a:r>
            <a:r>
              <a:rPr lang="en-ID" dirty="0" err="1"/>
              <a:t>kalimat</a:t>
            </a:r>
            <a:r>
              <a:rPr lang="en-ID" dirty="0"/>
              <a:t>.</a:t>
            </a:r>
          </a:p>
        </p:txBody>
      </p:sp>
      <p:sp>
        <p:nvSpPr>
          <p:cNvPr id="4" name="Content Placeholder 2">
            <a:extLst>
              <a:ext uri="{FF2B5EF4-FFF2-40B4-BE49-F238E27FC236}">
                <a16:creationId xmlns:a16="http://schemas.microsoft.com/office/drawing/2014/main" id="{C471F33D-B52D-F0F9-BC5B-58A31AF6AC9E}"/>
              </a:ext>
            </a:extLst>
          </p:cNvPr>
          <p:cNvSpPr txBox="1">
            <a:spLocks/>
          </p:cNvSpPr>
          <p:nvPr/>
        </p:nvSpPr>
        <p:spPr>
          <a:xfrm>
            <a:off x="6238461" y="1825625"/>
            <a:ext cx="511533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sentence consisting of one </a:t>
            </a:r>
            <a:r>
              <a:rPr lang="en-US" b="1" dirty="0"/>
              <a:t>main</a:t>
            </a:r>
            <a:r>
              <a:rPr lang="en-US" dirty="0"/>
              <a:t> </a:t>
            </a:r>
            <a:r>
              <a:rPr lang="en-US" b="1" dirty="0"/>
              <a:t>clause</a:t>
            </a:r>
            <a:r>
              <a:rPr lang="en-US" dirty="0"/>
              <a:t> (independent clause) and one or more </a:t>
            </a:r>
            <a:r>
              <a:rPr lang="en-US" b="1" dirty="0"/>
              <a:t>subordinate</a:t>
            </a:r>
            <a:r>
              <a:rPr lang="en-US" dirty="0"/>
              <a:t> </a:t>
            </a:r>
            <a:r>
              <a:rPr lang="en-US" b="1" dirty="0"/>
              <a:t>clauses</a:t>
            </a:r>
            <a:r>
              <a:rPr lang="en-US" dirty="0"/>
              <a:t> (dependent clauses).</a:t>
            </a:r>
          </a:p>
          <a:p>
            <a:r>
              <a:rPr lang="en-US" dirty="0"/>
              <a:t>This subordinate clause cannot stand alone because its meaning depends on the main clause.</a:t>
            </a:r>
            <a:endParaRPr lang="en-ID" dirty="0"/>
          </a:p>
        </p:txBody>
      </p:sp>
      <p:sp>
        <p:nvSpPr>
          <p:cNvPr id="5" name="TextBox 4">
            <a:extLst>
              <a:ext uri="{FF2B5EF4-FFF2-40B4-BE49-F238E27FC236}">
                <a16:creationId xmlns:a16="http://schemas.microsoft.com/office/drawing/2014/main" id="{27BED687-0940-106F-0B6E-89F5F260A6B5}"/>
              </a:ext>
            </a:extLst>
          </p:cNvPr>
          <p:cNvSpPr txBox="1"/>
          <p:nvPr/>
        </p:nvSpPr>
        <p:spPr>
          <a:xfrm>
            <a:off x="838200" y="5661094"/>
            <a:ext cx="4323522" cy="369332"/>
          </a:xfrm>
          <a:prstGeom prst="rect">
            <a:avLst/>
          </a:prstGeom>
          <a:noFill/>
        </p:spPr>
        <p:txBody>
          <a:bodyPr wrap="square" rtlCol="0">
            <a:spAutoFit/>
          </a:bodyPr>
          <a:lstStyle/>
          <a:p>
            <a:r>
              <a:rPr lang="en-US" dirty="0"/>
              <a:t>She stayed home because she was sick.</a:t>
            </a:r>
            <a:endParaRPr lang="en-ID" dirty="0"/>
          </a:p>
        </p:txBody>
      </p:sp>
      <p:sp>
        <p:nvSpPr>
          <p:cNvPr id="6" name="TextBox 5">
            <a:extLst>
              <a:ext uri="{FF2B5EF4-FFF2-40B4-BE49-F238E27FC236}">
                <a16:creationId xmlns:a16="http://schemas.microsoft.com/office/drawing/2014/main" id="{DE8317B1-04E8-A88D-15AC-BAF60625B343}"/>
              </a:ext>
            </a:extLst>
          </p:cNvPr>
          <p:cNvSpPr txBox="1"/>
          <p:nvPr/>
        </p:nvSpPr>
        <p:spPr>
          <a:xfrm>
            <a:off x="5284305" y="5107096"/>
            <a:ext cx="4701208" cy="1477328"/>
          </a:xfrm>
          <a:prstGeom prst="rect">
            <a:avLst/>
          </a:prstGeom>
          <a:noFill/>
        </p:spPr>
        <p:txBody>
          <a:bodyPr wrap="square" rtlCol="0">
            <a:spAutoFit/>
          </a:bodyPr>
          <a:lstStyle/>
          <a:p>
            <a:r>
              <a:rPr lang="en-US" dirty="0"/>
              <a:t>She stayed home	</a:t>
            </a:r>
            <a:r>
              <a:rPr lang="en-US" dirty="0">
                <a:sym typeface="Wingdings" panose="05000000000000000000" pitchFamily="2" charset="2"/>
              </a:rPr>
              <a:t> main clause</a:t>
            </a:r>
            <a:endParaRPr lang="en-US" dirty="0"/>
          </a:p>
          <a:p>
            <a:endParaRPr lang="en-US" dirty="0"/>
          </a:p>
          <a:p>
            <a:r>
              <a:rPr lang="en-US" dirty="0"/>
              <a:t>because	</a:t>
            </a:r>
            <a:r>
              <a:rPr lang="en-US" dirty="0">
                <a:sym typeface="Wingdings" panose="05000000000000000000" pitchFamily="2" charset="2"/>
              </a:rPr>
              <a:t> conjunction</a:t>
            </a:r>
            <a:endParaRPr lang="en-US" dirty="0"/>
          </a:p>
          <a:p>
            <a:endParaRPr lang="en-US" dirty="0"/>
          </a:p>
          <a:p>
            <a:r>
              <a:rPr lang="en-US" dirty="0"/>
              <a:t>she was sick  </a:t>
            </a:r>
            <a:r>
              <a:rPr lang="en-US" dirty="0">
                <a:sym typeface="Wingdings" panose="05000000000000000000" pitchFamily="2" charset="2"/>
              </a:rPr>
              <a:t> subordinate clause</a:t>
            </a:r>
            <a:endParaRPr lang="en-ID" dirty="0"/>
          </a:p>
        </p:txBody>
      </p:sp>
      <p:cxnSp>
        <p:nvCxnSpPr>
          <p:cNvPr id="8" name="Straight Arrow Connector 7">
            <a:extLst>
              <a:ext uri="{FF2B5EF4-FFF2-40B4-BE49-F238E27FC236}">
                <a16:creationId xmlns:a16="http://schemas.microsoft.com/office/drawing/2014/main" id="{5592C86B-685F-CAB9-2FFA-622183086552}"/>
              </a:ext>
            </a:extLst>
          </p:cNvPr>
          <p:cNvCxnSpPr/>
          <p:nvPr/>
        </p:nvCxnSpPr>
        <p:spPr>
          <a:xfrm flipV="1">
            <a:off x="4750904" y="5396948"/>
            <a:ext cx="533401" cy="264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76B279-8AAB-E6F7-3294-9D1AD65EBC0A}"/>
              </a:ext>
            </a:extLst>
          </p:cNvPr>
          <p:cNvCxnSpPr>
            <a:endCxn id="5" idx="3"/>
          </p:cNvCxnSpPr>
          <p:nvPr/>
        </p:nvCxnSpPr>
        <p:spPr>
          <a:xfrm>
            <a:off x="4750904" y="5845760"/>
            <a:ext cx="410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AFDD73-9D5B-A1C8-6733-04ABF80C8DFA}"/>
              </a:ext>
            </a:extLst>
          </p:cNvPr>
          <p:cNvCxnSpPr/>
          <p:nvPr/>
        </p:nvCxnSpPr>
        <p:spPr>
          <a:xfrm>
            <a:off x="4750904" y="6030426"/>
            <a:ext cx="533401" cy="340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416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AC450-1155-4969-1491-4CA273595AF9}"/>
              </a:ext>
            </a:extLst>
          </p:cNvPr>
          <p:cNvSpPr>
            <a:spLocks noGrp="1"/>
          </p:cNvSpPr>
          <p:nvPr>
            <p:ph type="title"/>
          </p:nvPr>
        </p:nvSpPr>
        <p:spPr/>
        <p:txBody>
          <a:bodyPr/>
          <a:lstStyle/>
          <a:p>
            <a:r>
              <a:rPr lang="en-US" dirty="0"/>
              <a:t>Challenges in Intent Recognition with Complex Sentences</a:t>
            </a:r>
            <a:endParaRPr lang="en-ID" dirty="0"/>
          </a:p>
        </p:txBody>
      </p:sp>
      <p:pic>
        <p:nvPicPr>
          <p:cNvPr id="4" name="Picture 3">
            <a:extLst>
              <a:ext uri="{FF2B5EF4-FFF2-40B4-BE49-F238E27FC236}">
                <a16:creationId xmlns:a16="http://schemas.microsoft.com/office/drawing/2014/main" id="{3BE6D54A-40C2-CA2F-02E4-60F8116E2AB7}"/>
              </a:ext>
            </a:extLst>
          </p:cNvPr>
          <p:cNvPicPr>
            <a:picLocks noChangeAspect="1"/>
          </p:cNvPicPr>
          <p:nvPr/>
        </p:nvPicPr>
        <p:blipFill>
          <a:blip r:embed="rId2"/>
          <a:stretch>
            <a:fillRect/>
          </a:stretch>
        </p:blipFill>
        <p:spPr>
          <a:xfrm>
            <a:off x="1186897" y="1821512"/>
            <a:ext cx="9821413" cy="4509714"/>
          </a:xfrm>
          <a:prstGeom prst="rect">
            <a:avLst/>
          </a:prstGeom>
        </p:spPr>
      </p:pic>
    </p:spTree>
    <p:extLst>
      <p:ext uri="{BB962C8B-B14F-4D97-AF65-F5344CB8AC3E}">
        <p14:creationId xmlns:p14="http://schemas.microsoft.com/office/powerpoint/2010/main" val="3603883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9C95B-F767-3DD0-019F-62A97EFC8AA2}"/>
              </a:ext>
            </a:extLst>
          </p:cNvPr>
          <p:cNvSpPr>
            <a:spLocks noGrp="1"/>
          </p:cNvSpPr>
          <p:nvPr>
            <p:ph type="title"/>
          </p:nvPr>
        </p:nvSpPr>
        <p:spPr/>
        <p:txBody>
          <a:bodyPr/>
          <a:lstStyle/>
          <a:p>
            <a:r>
              <a:rPr lang="en-US" dirty="0"/>
              <a:t>Challenges in Intent Recognition with Complex Sentences</a:t>
            </a:r>
            <a:endParaRPr lang="en-ID" dirty="0"/>
          </a:p>
        </p:txBody>
      </p:sp>
      <p:sp>
        <p:nvSpPr>
          <p:cNvPr id="3" name="Content Placeholder 2">
            <a:extLst>
              <a:ext uri="{FF2B5EF4-FFF2-40B4-BE49-F238E27FC236}">
                <a16:creationId xmlns:a16="http://schemas.microsoft.com/office/drawing/2014/main" id="{42439F08-8CEA-1508-A23A-A9BB8ED469C7}"/>
              </a:ext>
            </a:extLst>
          </p:cNvPr>
          <p:cNvSpPr>
            <a:spLocks noGrp="1"/>
          </p:cNvSpPr>
          <p:nvPr>
            <p:ph idx="1"/>
          </p:nvPr>
        </p:nvSpPr>
        <p:spPr/>
        <p:txBody>
          <a:bodyPr/>
          <a:lstStyle/>
          <a:p>
            <a:r>
              <a:rPr lang="en-US" dirty="0"/>
              <a:t>"I want to book a flight and also check my reservation.“</a:t>
            </a:r>
          </a:p>
          <a:p>
            <a:pPr marL="0" indent="0">
              <a:buNone/>
            </a:pPr>
            <a:r>
              <a:rPr lang="en-US" dirty="0">
                <a:sym typeface="Wingdings" panose="05000000000000000000" pitchFamily="2" charset="2"/>
              </a:rPr>
              <a:t>    making it difficult to directly map to a single intent.</a:t>
            </a:r>
            <a:endParaRPr lang="en-ID" dirty="0"/>
          </a:p>
        </p:txBody>
      </p:sp>
      <p:sp>
        <p:nvSpPr>
          <p:cNvPr id="4" name="TextBox 3">
            <a:extLst>
              <a:ext uri="{FF2B5EF4-FFF2-40B4-BE49-F238E27FC236}">
                <a16:creationId xmlns:a16="http://schemas.microsoft.com/office/drawing/2014/main" id="{6940375F-09FD-ED4A-BD35-DC5041AE9997}"/>
              </a:ext>
            </a:extLst>
          </p:cNvPr>
          <p:cNvSpPr txBox="1"/>
          <p:nvPr/>
        </p:nvSpPr>
        <p:spPr>
          <a:xfrm>
            <a:off x="1495839" y="3429000"/>
            <a:ext cx="6867939"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Breaking sentences into logical units</a:t>
            </a:r>
          </a:p>
          <a:p>
            <a:pPr marL="285750" indent="-285750">
              <a:buFont typeface="Arial" panose="020B0604020202020204" pitchFamily="34" charset="0"/>
              <a:buChar char="•"/>
            </a:pPr>
            <a:r>
              <a:rPr lang="en-US" sz="2800" dirty="0"/>
              <a:t>Determining main and secondary intent</a:t>
            </a:r>
          </a:p>
          <a:p>
            <a:pPr marL="285750" indent="-285750">
              <a:buFont typeface="Arial" panose="020B0604020202020204" pitchFamily="34" charset="0"/>
              <a:buChar char="•"/>
            </a:pPr>
            <a:r>
              <a:rPr lang="en-US" sz="2800" dirty="0"/>
              <a:t>Ignoring non-intentional information (e.g., polite expressions) </a:t>
            </a:r>
            <a:r>
              <a:rPr lang="en-US" sz="2800" dirty="0">
                <a:sym typeface="Wingdings" panose="05000000000000000000" pitchFamily="2" charset="2"/>
              </a:rPr>
              <a:t> “</a:t>
            </a:r>
            <a:r>
              <a:rPr lang="en-US" sz="2800" strike="sngStrike" dirty="0">
                <a:sym typeface="Wingdings" panose="05000000000000000000" pitchFamily="2" charset="2"/>
              </a:rPr>
              <a:t>Please,</a:t>
            </a:r>
            <a:r>
              <a:rPr lang="en-US" sz="2800" dirty="0">
                <a:sym typeface="Wingdings" panose="05000000000000000000" pitchFamily="2" charset="2"/>
              </a:rPr>
              <a:t> I want to book a flight”</a:t>
            </a:r>
            <a:endParaRPr lang="en-ID" sz="2800" dirty="0"/>
          </a:p>
        </p:txBody>
      </p:sp>
      <p:sp>
        <p:nvSpPr>
          <p:cNvPr id="5" name="TextBox 4">
            <a:extLst>
              <a:ext uri="{FF2B5EF4-FFF2-40B4-BE49-F238E27FC236}">
                <a16:creationId xmlns:a16="http://schemas.microsoft.com/office/drawing/2014/main" id="{F8A5DEAB-9C5E-DF13-53C1-77E68D52D7CD}"/>
              </a:ext>
            </a:extLst>
          </p:cNvPr>
          <p:cNvSpPr txBox="1"/>
          <p:nvPr/>
        </p:nvSpPr>
        <p:spPr>
          <a:xfrm>
            <a:off x="8259418" y="3413611"/>
            <a:ext cx="3657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 want to book a flight”</a:t>
            </a:r>
          </a:p>
          <a:p>
            <a:pPr marL="285750" indent="-285750">
              <a:buFont typeface="Arial" panose="020B0604020202020204" pitchFamily="34" charset="0"/>
              <a:buChar char="•"/>
            </a:pPr>
            <a:r>
              <a:rPr lang="en-US" dirty="0"/>
              <a:t>“I want to check my reservation.“</a:t>
            </a:r>
          </a:p>
          <a:p>
            <a:pPr marL="285750" indent="-285750">
              <a:buFont typeface="Arial" panose="020B0604020202020204" pitchFamily="34" charset="0"/>
              <a:buChar char="•"/>
            </a:pPr>
            <a:endParaRPr lang="en-ID" dirty="0"/>
          </a:p>
        </p:txBody>
      </p:sp>
      <p:sp>
        <p:nvSpPr>
          <p:cNvPr id="6" name="Arrow: Right 5">
            <a:extLst>
              <a:ext uri="{FF2B5EF4-FFF2-40B4-BE49-F238E27FC236}">
                <a16:creationId xmlns:a16="http://schemas.microsoft.com/office/drawing/2014/main" id="{9440A66B-0080-7967-6A55-92F6305B5F2F}"/>
              </a:ext>
            </a:extLst>
          </p:cNvPr>
          <p:cNvSpPr/>
          <p:nvPr/>
        </p:nvSpPr>
        <p:spPr>
          <a:xfrm>
            <a:off x="7484165" y="3597965"/>
            <a:ext cx="685801" cy="2484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062499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llout: Quad Arrow 1">
            <a:extLst>
              <a:ext uri="{FF2B5EF4-FFF2-40B4-BE49-F238E27FC236}">
                <a16:creationId xmlns:a16="http://schemas.microsoft.com/office/drawing/2014/main" id="{86D777D1-5B4B-91D1-D947-80225B399874}"/>
              </a:ext>
            </a:extLst>
          </p:cNvPr>
          <p:cNvSpPr/>
          <p:nvPr/>
        </p:nvSpPr>
        <p:spPr>
          <a:xfrm>
            <a:off x="4641574" y="2216426"/>
            <a:ext cx="2574235" cy="2544417"/>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689298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1BD2A-DB43-6FA3-0940-21E81F38E009}"/>
              </a:ext>
            </a:extLst>
          </p:cNvPr>
          <p:cNvSpPr>
            <a:spLocks noGrp="1"/>
          </p:cNvSpPr>
          <p:nvPr>
            <p:ph type="title"/>
          </p:nvPr>
        </p:nvSpPr>
        <p:spPr/>
        <p:txBody>
          <a:bodyPr/>
          <a:lstStyle/>
          <a:p>
            <a:r>
              <a:rPr lang="en-US" dirty="0"/>
              <a:t>Non-standard language and typos</a:t>
            </a:r>
            <a:endParaRPr lang="en-ID" dirty="0"/>
          </a:p>
        </p:txBody>
      </p:sp>
      <p:sp>
        <p:nvSpPr>
          <p:cNvPr id="3" name="Content Placeholder 2">
            <a:extLst>
              <a:ext uri="{FF2B5EF4-FFF2-40B4-BE49-F238E27FC236}">
                <a16:creationId xmlns:a16="http://schemas.microsoft.com/office/drawing/2014/main" id="{16617008-AA12-B003-984E-FCDF5B0971E5}"/>
              </a:ext>
            </a:extLst>
          </p:cNvPr>
          <p:cNvSpPr>
            <a:spLocks noGrp="1"/>
          </p:cNvSpPr>
          <p:nvPr>
            <p:ph idx="1"/>
          </p:nvPr>
        </p:nvSpPr>
        <p:spPr/>
        <p:txBody>
          <a:bodyPr/>
          <a:lstStyle/>
          <a:p>
            <a:r>
              <a:rPr lang="en-US" b="1" dirty="0"/>
              <a:t>Non-standard language</a:t>
            </a:r>
            <a:r>
              <a:rPr lang="en-US" dirty="0"/>
              <a:t>: A form of language that does not follow the official rules of grammar, spelling, or standard vocabulary used in formal situations or standard writing. Often found in everyday conversation, social media, chat, or local dialects.</a:t>
            </a:r>
          </a:p>
          <a:p>
            <a:r>
              <a:rPr lang="en-US" b="1" dirty="0"/>
              <a:t>Typo</a:t>
            </a:r>
            <a:r>
              <a:rPr lang="en-US" dirty="0"/>
              <a:t>: An unintentional typing or writing error. Typos usually occur due to typing speed, pressing the wrong key, or lack of attention.</a:t>
            </a:r>
            <a:endParaRPr lang="en-ID" dirty="0"/>
          </a:p>
        </p:txBody>
      </p:sp>
      <p:pic>
        <p:nvPicPr>
          <p:cNvPr id="4" name="Picture 3">
            <a:extLst>
              <a:ext uri="{FF2B5EF4-FFF2-40B4-BE49-F238E27FC236}">
                <a16:creationId xmlns:a16="http://schemas.microsoft.com/office/drawing/2014/main" id="{54D5E05F-7D96-CE0D-4EEA-350F3B8C8B4C}"/>
              </a:ext>
            </a:extLst>
          </p:cNvPr>
          <p:cNvPicPr>
            <a:picLocks noChangeAspect="1"/>
          </p:cNvPicPr>
          <p:nvPr/>
        </p:nvPicPr>
        <p:blipFill>
          <a:blip r:embed="rId2"/>
          <a:stretch>
            <a:fillRect/>
          </a:stretch>
        </p:blipFill>
        <p:spPr>
          <a:xfrm>
            <a:off x="973702" y="4585142"/>
            <a:ext cx="10663897" cy="1726758"/>
          </a:xfrm>
          <a:prstGeom prst="rect">
            <a:avLst/>
          </a:prstGeom>
        </p:spPr>
      </p:pic>
    </p:spTree>
    <p:extLst>
      <p:ext uri="{BB962C8B-B14F-4D97-AF65-F5344CB8AC3E}">
        <p14:creationId xmlns:p14="http://schemas.microsoft.com/office/powerpoint/2010/main" val="662989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8B8B4-D0DF-CCC3-1854-5483EE7517DC}"/>
              </a:ext>
            </a:extLst>
          </p:cNvPr>
          <p:cNvSpPr>
            <a:spLocks noGrp="1"/>
          </p:cNvSpPr>
          <p:nvPr>
            <p:ph type="title"/>
          </p:nvPr>
        </p:nvSpPr>
        <p:spPr/>
        <p:txBody>
          <a:bodyPr/>
          <a:lstStyle/>
          <a:p>
            <a:r>
              <a:rPr lang="en-ID" dirty="0"/>
              <a:t>Handling the typo: autocorrect library Python</a:t>
            </a:r>
          </a:p>
        </p:txBody>
      </p:sp>
      <p:sp>
        <p:nvSpPr>
          <p:cNvPr id="4" name="TextBox 3">
            <a:extLst>
              <a:ext uri="{FF2B5EF4-FFF2-40B4-BE49-F238E27FC236}">
                <a16:creationId xmlns:a16="http://schemas.microsoft.com/office/drawing/2014/main" id="{DD58D675-6565-581A-00FD-4874D4E3609B}"/>
              </a:ext>
            </a:extLst>
          </p:cNvPr>
          <p:cNvSpPr txBox="1"/>
          <p:nvPr/>
        </p:nvSpPr>
        <p:spPr>
          <a:xfrm>
            <a:off x="5784575" y="1779104"/>
            <a:ext cx="5754756" cy="3046988"/>
          </a:xfrm>
          <a:prstGeom prst="rect">
            <a:avLst/>
          </a:prstGeom>
          <a:noFill/>
          <a:ln>
            <a:solidFill>
              <a:schemeClr val="accent1"/>
            </a:solidFill>
          </a:ln>
        </p:spPr>
        <p:txBody>
          <a:bodyPr wrap="square" rtlCol="0">
            <a:spAutoFit/>
          </a:bodyPr>
          <a:lstStyle/>
          <a:p>
            <a:r>
              <a:rPr lang="en-US" sz="2400" dirty="0"/>
              <a:t>from autocorrect import Speller</a:t>
            </a:r>
          </a:p>
          <a:p>
            <a:r>
              <a:rPr lang="en-US" sz="2400" dirty="0"/>
              <a:t>spell = Speller(lang='</a:t>
            </a:r>
            <a:r>
              <a:rPr lang="en-US" sz="2400" dirty="0" err="1"/>
              <a:t>en</a:t>
            </a:r>
            <a:r>
              <a:rPr lang="en-US" sz="2400" dirty="0"/>
              <a:t>')</a:t>
            </a:r>
          </a:p>
          <a:p>
            <a:endParaRPr lang="en-US" sz="2400" dirty="0"/>
          </a:p>
          <a:p>
            <a:r>
              <a:rPr lang="en-US" sz="2400" dirty="0"/>
              <a:t>text = "book a </a:t>
            </a:r>
            <a:r>
              <a:rPr lang="en-US" sz="2400" dirty="0" err="1"/>
              <a:t>fligt</a:t>
            </a:r>
            <a:r>
              <a:rPr lang="en-US" sz="2400" dirty="0"/>
              <a:t>"</a:t>
            </a:r>
          </a:p>
          <a:p>
            <a:r>
              <a:rPr lang="en-US" sz="2400" dirty="0"/>
              <a:t>print (text)</a:t>
            </a:r>
          </a:p>
          <a:p>
            <a:r>
              <a:rPr lang="en-US" sz="2400" dirty="0"/>
              <a:t>print(spell(text))  # Output: "book a flight"</a:t>
            </a:r>
          </a:p>
          <a:p>
            <a:endParaRPr lang="en-US" sz="2400" dirty="0"/>
          </a:p>
          <a:p>
            <a:endParaRPr lang="en-ID" sz="2400" dirty="0"/>
          </a:p>
        </p:txBody>
      </p:sp>
      <p:pic>
        <p:nvPicPr>
          <p:cNvPr id="6" name="Picture 5">
            <a:extLst>
              <a:ext uri="{FF2B5EF4-FFF2-40B4-BE49-F238E27FC236}">
                <a16:creationId xmlns:a16="http://schemas.microsoft.com/office/drawing/2014/main" id="{FB1BCD16-129B-DD90-694D-321A7C279AF9}"/>
              </a:ext>
            </a:extLst>
          </p:cNvPr>
          <p:cNvPicPr>
            <a:picLocks noChangeAspect="1"/>
          </p:cNvPicPr>
          <p:nvPr/>
        </p:nvPicPr>
        <p:blipFill>
          <a:blip r:embed="rId2"/>
          <a:stretch>
            <a:fillRect/>
          </a:stretch>
        </p:blipFill>
        <p:spPr>
          <a:xfrm>
            <a:off x="1278093" y="2541686"/>
            <a:ext cx="3636840" cy="1185488"/>
          </a:xfrm>
          <a:prstGeom prst="rect">
            <a:avLst/>
          </a:prstGeom>
        </p:spPr>
      </p:pic>
    </p:spTree>
    <p:extLst>
      <p:ext uri="{BB962C8B-B14F-4D97-AF65-F5344CB8AC3E}">
        <p14:creationId xmlns:p14="http://schemas.microsoft.com/office/powerpoint/2010/main" val="1083900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A7915-3055-5A72-6D61-6B66B1A5C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18A32-2496-CDE1-08A5-A66E56C668EE}"/>
              </a:ext>
            </a:extLst>
          </p:cNvPr>
          <p:cNvSpPr>
            <a:spLocks noGrp="1"/>
          </p:cNvSpPr>
          <p:nvPr>
            <p:ph type="title"/>
          </p:nvPr>
        </p:nvSpPr>
        <p:spPr/>
        <p:txBody>
          <a:bodyPr/>
          <a:lstStyle/>
          <a:p>
            <a:r>
              <a:rPr lang="en-ID" dirty="0"/>
              <a:t>Handling the typo: autocorrect library Python</a:t>
            </a:r>
          </a:p>
        </p:txBody>
      </p:sp>
      <p:sp>
        <p:nvSpPr>
          <p:cNvPr id="4" name="TextBox 3">
            <a:extLst>
              <a:ext uri="{FF2B5EF4-FFF2-40B4-BE49-F238E27FC236}">
                <a16:creationId xmlns:a16="http://schemas.microsoft.com/office/drawing/2014/main" id="{0955F628-CBA4-D790-7BCC-2B8589EF0D30}"/>
              </a:ext>
            </a:extLst>
          </p:cNvPr>
          <p:cNvSpPr txBox="1"/>
          <p:nvPr/>
        </p:nvSpPr>
        <p:spPr>
          <a:xfrm>
            <a:off x="6768549" y="1769165"/>
            <a:ext cx="5148468" cy="4278094"/>
          </a:xfrm>
          <a:prstGeom prst="rect">
            <a:avLst/>
          </a:prstGeom>
          <a:noFill/>
          <a:ln>
            <a:solidFill>
              <a:schemeClr val="accent1"/>
            </a:solidFill>
          </a:ln>
        </p:spPr>
        <p:txBody>
          <a:bodyPr wrap="square" rtlCol="0">
            <a:spAutoFit/>
          </a:bodyPr>
          <a:lstStyle/>
          <a:p>
            <a:r>
              <a:rPr lang="en-US" sz="1600" dirty="0"/>
              <a:t># pip install </a:t>
            </a:r>
            <a:r>
              <a:rPr lang="en-US" sz="1600" dirty="0" err="1"/>
              <a:t>pyspellchecker</a:t>
            </a:r>
            <a:endParaRPr lang="en-US" sz="1600" dirty="0"/>
          </a:p>
          <a:p>
            <a:endParaRPr lang="en-US" sz="1600" dirty="0"/>
          </a:p>
          <a:p>
            <a:r>
              <a:rPr lang="en-US" sz="1600" dirty="0"/>
              <a:t>from spellchecker import </a:t>
            </a:r>
            <a:r>
              <a:rPr lang="en-US" sz="1600" dirty="0" err="1"/>
              <a:t>SpellChecker</a:t>
            </a:r>
            <a:endParaRPr lang="en-US" sz="1600" dirty="0"/>
          </a:p>
          <a:p>
            <a:endParaRPr lang="en-US" sz="1600" dirty="0"/>
          </a:p>
          <a:p>
            <a:r>
              <a:rPr lang="en-US" sz="1600" dirty="0"/>
              <a:t>spell = </a:t>
            </a:r>
            <a:r>
              <a:rPr lang="en-US" sz="1600" dirty="0" err="1"/>
              <a:t>SpellChecker</a:t>
            </a:r>
            <a:r>
              <a:rPr lang="en-US" sz="1600" dirty="0"/>
              <a:t>(language=None)   </a:t>
            </a:r>
          </a:p>
          <a:p>
            <a:r>
              <a:rPr lang="en-US" sz="1600" dirty="0" err="1"/>
              <a:t>spell.word_frequency.load_text_file</a:t>
            </a:r>
            <a:r>
              <a:rPr lang="en-US" sz="1600" dirty="0"/>
              <a:t>('kamus-indonesia.txt’)   </a:t>
            </a:r>
          </a:p>
          <a:p>
            <a:endParaRPr lang="en-US" sz="1600" dirty="0"/>
          </a:p>
          <a:p>
            <a:r>
              <a:rPr lang="en-US" sz="1600" dirty="0"/>
              <a:t>text = "</a:t>
            </a:r>
            <a:r>
              <a:rPr lang="en-US" sz="1600" dirty="0" err="1"/>
              <a:t>kmar</a:t>
            </a:r>
            <a:r>
              <a:rPr lang="en-US" sz="1600" dirty="0"/>
              <a:t> hotel"</a:t>
            </a:r>
          </a:p>
          <a:p>
            <a:r>
              <a:rPr lang="en-US" sz="1600" dirty="0"/>
              <a:t>print (text)</a:t>
            </a:r>
          </a:p>
          <a:p>
            <a:endParaRPr lang="en-US" sz="1600" dirty="0"/>
          </a:p>
          <a:p>
            <a:r>
              <a:rPr lang="en-US" sz="1600" dirty="0" err="1"/>
              <a:t>hasil</a:t>
            </a:r>
            <a:r>
              <a:rPr lang="en-US" sz="1600" dirty="0"/>
              <a:t> = []</a:t>
            </a:r>
          </a:p>
          <a:p>
            <a:r>
              <a:rPr lang="en-US" sz="1600" dirty="0"/>
              <a:t>for word in </a:t>
            </a:r>
            <a:r>
              <a:rPr lang="en-US" sz="1600" dirty="0" err="1"/>
              <a:t>text.split</a:t>
            </a:r>
            <a:r>
              <a:rPr lang="en-US" sz="1600" dirty="0"/>
              <a:t>():</a:t>
            </a:r>
          </a:p>
          <a:p>
            <a:r>
              <a:rPr lang="en-US" sz="1600" dirty="0"/>
              <a:t>	</a:t>
            </a:r>
            <a:r>
              <a:rPr lang="en-US" sz="1600" dirty="0" err="1"/>
              <a:t>newword</a:t>
            </a:r>
            <a:r>
              <a:rPr lang="en-US" sz="1600" dirty="0"/>
              <a:t> = </a:t>
            </a:r>
            <a:r>
              <a:rPr lang="en-US" sz="1600" dirty="0" err="1"/>
              <a:t>spell.correction</a:t>
            </a:r>
            <a:r>
              <a:rPr lang="en-US" sz="1600" dirty="0"/>
              <a:t>(word)</a:t>
            </a:r>
          </a:p>
          <a:p>
            <a:r>
              <a:rPr lang="en-US" sz="1600" dirty="0"/>
              <a:t>	</a:t>
            </a:r>
            <a:r>
              <a:rPr lang="en-US" sz="1600" dirty="0" err="1"/>
              <a:t>hasil.append</a:t>
            </a:r>
            <a:r>
              <a:rPr lang="en-US" sz="1600" dirty="0"/>
              <a:t>(</a:t>
            </a:r>
            <a:r>
              <a:rPr lang="en-US" sz="1600" dirty="0" err="1"/>
              <a:t>newword</a:t>
            </a:r>
            <a:r>
              <a:rPr lang="en-US" sz="1600" dirty="0"/>
              <a:t>)</a:t>
            </a:r>
          </a:p>
          <a:p>
            <a:endParaRPr lang="en-US" sz="1600" dirty="0"/>
          </a:p>
          <a:p>
            <a:r>
              <a:rPr lang="en-US" sz="1600" dirty="0"/>
              <a:t>print (</a:t>
            </a:r>
            <a:r>
              <a:rPr lang="en-US" sz="1600" dirty="0" err="1"/>
              <a:t>hasil</a:t>
            </a:r>
            <a:r>
              <a:rPr lang="en-US" sz="1600" dirty="0"/>
              <a:t>)</a:t>
            </a:r>
          </a:p>
          <a:p>
            <a:r>
              <a:rPr lang="en-US" sz="1600" dirty="0"/>
              <a:t>print(' '.join(</a:t>
            </a:r>
            <a:r>
              <a:rPr lang="en-US" sz="1600" dirty="0" err="1"/>
              <a:t>hasil</a:t>
            </a:r>
            <a:r>
              <a:rPr lang="en-US" sz="1600" dirty="0"/>
              <a:t>)) </a:t>
            </a:r>
            <a:endParaRPr lang="en-ID" sz="1600" dirty="0"/>
          </a:p>
        </p:txBody>
      </p:sp>
      <p:pic>
        <p:nvPicPr>
          <p:cNvPr id="6" name="Picture 5">
            <a:extLst>
              <a:ext uri="{FF2B5EF4-FFF2-40B4-BE49-F238E27FC236}">
                <a16:creationId xmlns:a16="http://schemas.microsoft.com/office/drawing/2014/main" id="{4CD4E075-4DAD-D102-1588-7AA8BCAA14C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2719" y="2191930"/>
            <a:ext cx="4267668" cy="1325563"/>
          </a:xfrm>
          <a:prstGeom prst="rect">
            <a:avLst/>
          </a:prstGeom>
        </p:spPr>
      </p:pic>
      <p:sp>
        <p:nvSpPr>
          <p:cNvPr id="3" name="TextBox 2">
            <a:extLst>
              <a:ext uri="{FF2B5EF4-FFF2-40B4-BE49-F238E27FC236}">
                <a16:creationId xmlns:a16="http://schemas.microsoft.com/office/drawing/2014/main" id="{087058D9-9880-E80F-254C-EC5181869968}"/>
              </a:ext>
            </a:extLst>
          </p:cNvPr>
          <p:cNvSpPr txBox="1"/>
          <p:nvPr/>
        </p:nvSpPr>
        <p:spPr>
          <a:xfrm>
            <a:off x="4979504" y="1848678"/>
            <a:ext cx="1540566" cy="4385816"/>
          </a:xfrm>
          <a:prstGeom prst="rect">
            <a:avLst/>
          </a:prstGeom>
          <a:noFill/>
          <a:ln>
            <a:solidFill>
              <a:schemeClr val="accent1"/>
            </a:solidFill>
          </a:ln>
        </p:spPr>
        <p:txBody>
          <a:bodyPr wrap="square" rtlCol="0">
            <a:spAutoFit/>
          </a:bodyPr>
          <a:lstStyle/>
          <a:p>
            <a:r>
              <a:rPr lang="en-ID" sz="900" dirty="0" err="1"/>
              <a:t>saya</a:t>
            </a:r>
            <a:endParaRPr lang="en-ID" sz="900" dirty="0"/>
          </a:p>
          <a:p>
            <a:r>
              <a:rPr lang="en-ID" sz="900" dirty="0" err="1"/>
              <a:t>kamu</a:t>
            </a:r>
            <a:endParaRPr lang="en-ID" sz="900" dirty="0"/>
          </a:p>
          <a:p>
            <a:r>
              <a:rPr lang="en-ID" sz="900" dirty="0" err="1"/>
              <a:t>dia</a:t>
            </a:r>
            <a:endParaRPr lang="en-ID" sz="900" dirty="0"/>
          </a:p>
          <a:p>
            <a:r>
              <a:rPr lang="en-ID" sz="900" dirty="0" err="1"/>
              <a:t>kita</a:t>
            </a:r>
            <a:endParaRPr lang="en-ID" sz="900" dirty="0"/>
          </a:p>
          <a:p>
            <a:r>
              <a:rPr lang="en-ID" sz="900" dirty="0" err="1"/>
              <a:t>mereka</a:t>
            </a:r>
            <a:endParaRPr lang="en-ID" sz="900" dirty="0"/>
          </a:p>
          <a:p>
            <a:r>
              <a:rPr lang="en-ID" sz="900" dirty="0" err="1"/>
              <a:t>pergi</a:t>
            </a:r>
            <a:endParaRPr lang="en-ID" sz="900" dirty="0"/>
          </a:p>
          <a:p>
            <a:r>
              <a:rPr lang="en-ID" sz="900" dirty="0" err="1"/>
              <a:t>datang</a:t>
            </a:r>
            <a:endParaRPr lang="en-ID" sz="900" dirty="0"/>
          </a:p>
          <a:p>
            <a:r>
              <a:rPr lang="en-ID" sz="900" dirty="0" err="1"/>
              <a:t>beli</a:t>
            </a:r>
            <a:endParaRPr lang="en-ID" sz="900" dirty="0"/>
          </a:p>
          <a:p>
            <a:r>
              <a:rPr lang="en-ID" sz="900" dirty="0" err="1"/>
              <a:t>jual</a:t>
            </a:r>
            <a:endParaRPr lang="en-ID" sz="900" dirty="0"/>
          </a:p>
          <a:p>
            <a:r>
              <a:rPr lang="en-ID" sz="900" dirty="0" err="1"/>
              <a:t>tiket</a:t>
            </a:r>
            <a:endParaRPr lang="en-ID" sz="900" dirty="0"/>
          </a:p>
          <a:p>
            <a:r>
              <a:rPr lang="en-ID" sz="900" dirty="0" err="1"/>
              <a:t>pesawat</a:t>
            </a:r>
            <a:endParaRPr lang="en-ID" sz="900" dirty="0"/>
          </a:p>
          <a:p>
            <a:r>
              <a:rPr lang="en-ID" sz="900" dirty="0" err="1"/>
              <a:t>kereta</a:t>
            </a:r>
            <a:endParaRPr lang="en-ID" sz="900" dirty="0"/>
          </a:p>
          <a:p>
            <a:r>
              <a:rPr lang="en-ID" sz="900" dirty="0" err="1"/>
              <a:t>kamar</a:t>
            </a:r>
            <a:endParaRPr lang="en-ID" sz="900" dirty="0"/>
          </a:p>
          <a:p>
            <a:r>
              <a:rPr lang="en-ID" sz="900" dirty="0"/>
              <a:t>hotel</a:t>
            </a:r>
          </a:p>
          <a:p>
            <a:r>
              <a:rPr lang="en-ID" sz="900" dirty="0" err="1"/>
              <a:t>jakarta</a:t>
            </a:r>
            <a:endParaRPr lang="en-ID" sz="900" dirty="0"/>
          </a:p>
          <a:p>
            <a:r>
              <a:rPr lang="en-ID" sz="900" dirty="0" err="1"/>
              <a:t>bandung</a:t>
            </a:r>
            <a:endParaRPr lang="en-ID" sz="900" dirty="0"/>
          </a:p>
          <a:p>
            <a:r>
              <a:rPr lang="en-ID" sz="900" dirty="0" err="1"/>
              <a:t>surabaya</a:t>
            </a:r>
            <a:endParaRPr lang="en-ID" sz="900" dirty="0"/>
          </a:p>
          <a:p>
            <a:r>
              <a:rPr lang="en-ID" sz="900" dirty="0" err="1"/>
              <a:t>besok</a:t>
            </a:r>
            <a:endParaRPr lang="en-ID" sz="900" dirty="0"/>
          </a:p>
          <a:p>
            <a:r>
              <a:rPr lang="en-ID" sz="900" dirty="0" err="1"/>
              <a:t>hari</a:t>
            </a:r>
            <a:endParaRPr lang="en-ID" sz="900" dirty="0"/>
          </a:p>
          <a:p>
            <a:r>
              <a:rPr lang="en-ID" sz="900" dirty="0" err="1"/>
              <a:t>ini</a:t>
            </a:r>
            <a:endParaRPr lang="en-ID" sz="900" dirty="0"/>
          </a:p>
          <a:p>
            <a:r>
              <a:rPr lang="en-ID" sz="900" dirty="0" err="1"/>
              <a:t>pagi</a:t>
            </a:r>
            <a:endParaRPr lang="en-ID" sz="900" dirty="0"/>
          </a:p>
          <a:p>
            <a:r>
              <a:rPr lang="en-ID" sz="900" dirty="0" err="1"/>
              <a:t>malam</a:t>
            </a:r>
            <a:endParaRPr lang="en-ID" sz="900" dirty="0"/>
          </a:p>
          <a:p>
            <a:r>
              <a:rPr lang="en-ID" sz="900" dirty="0" err="1"/>
              <a:t>mobil</a:t>
            </a:r>
            <a:endParaRPr lang="en-ID" sz="900" dirty="0"/>
          </a:p>
          <a:p>
            <a:r>
              <a:rPr lang="en-ID" sz="900" dirty="0"/>
              <a:t>motor</a:t>
            </a:r>
          </a:p>
          <a:p>
            <a:r>
              <a:rPr lang="en-ID" sz="900" dirty="0" err="1"/>
              <a:t>pesan</a:t>
            </a:r>
            <a:endParaRPr lang="en-ID" sz="900" dirty="0"/>
          </a:p>
          <a:p>
            <a:r>
              <a:rPr lang="en-ID" sz="900" dirty="0" err="1"/>
              <a:t>batal</a:t>
            </a:r>
            <a:endParaRPr lang="en-ID" sz="900" dirty="0"/>
          </a:p>
          <a:p>
            <a:r>
              <a:rPr lang="en-ID" sz="900" dirty="0" err="1"/>
              <a:t>ubah</a:t>
            </a:r>
            <a:endParaRPr lang="en-ID" sz="900" dirty="0"/>
          </a:p>
          <a:p>
            <a:r>
              <a:rPr lang="en-ID" sz="900" dirty="0" err="1"/>
              <a:t>jadwal</a:t>
            </a:r>
            <a:endParaRPr lang="en-ID" sz="900" dirty="0"/>
          </a:p>
          <a:p>
            <a:r>
              <a:rPr lang="en-ID" sz="900" dirty="0" err="1"/>
              <a:t>konfirmasi</a:t>
            </a:r>
            <a:endParaRPr lang="en-ID" sz="900" dirty="0"/>
          </a:p>
          <a:p>
            <a:endParaRPr lang="en-ID" sz="900" dirty="0"/>
          </a:p>
          <a:p>
            <a:endParaRPr lang="en-ID" sz="900" dirty="0"/>
          </a:p>
        </p:txBody>
      </p:sp>
      <p:sp>
        <p:nvSpPr>
          <p:cNvPr id="5" name="TextBox 4">
            <a:extLst>
              <a:ext uri="{FF2B5EF4-FFF2-40B4-BE49-F238E27FC236}">
                <a16:creationId xmlns:a16="http://schemas.microsoft.com/office/drawing/2014/main" id="{ACE1AC72-1700-5F36-DEC5-50BC15E0E8F0}"/>
              </a:ext>
            </a:extLst>
          </p:cNvPr>
          <p:cNvSpPr txBox="1"/>
          <p:nvPr/>
        </p:nvSpPr>
        <p:spPr>
          <a:xfrm>
            <a:off x="4948030" y="1387311"/>
            <a:ext cx="2295939" cy="369332"/>
          </a:xfrm>
          <a:prstGeom prst="rect">
            <a:avLst/>
          </a:prstGeom>
          <a:noFill/>
        </p:spPr>
        <p:txBody>
          <a:bodyPr wrap="square" rtlCol="0">
            <a:spAutoFit/>
          </a:bodyPr>
          <a:lstStyle/>
          <a:p>
            <a:r>
              <a:rPr lang="en-US" dirty="0"/>
              <a:t>kamus-Indonesia.txt</a:t>
            </a:r>
            <a:endParaRPr lang="en-ID" dirty="0"/>
          </a:p>
        </p:txBody>
      </p:sp>
    </p:spTree>
    <p:extLst>
      <p:ext uri="{BB962C8B-B14F-4D97-AF65-F5344CB8AC3E}">
        <p14:creationId xmlns:p14="http://schemas.microsoft.com/office/powerpoint/2010/main" val="2133440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llout: Quad Arrow 1">
            <a:extLst>
              <a:ext uri="{FF2B5EF4-FFF2-40B4-BE49-F238E27FC236}">
                <a16:creationId xmlns:a16="http://schemas.microsoft.com/office/drawing/2014/main" id="{B3AE392F-4BFB-29BC-0CD4-82F0603817A3}"/>
              </a:ext>
            </a:extLst>
          </p:cNvPr>
          <p:cNvSpPr/>
          <p:nvPr/>
        </p:nvSpPr>
        <p:spPr>
          <a:xfrm>
            <a:off x="4870174" y="2534478"/>
            <a:ext cx="2425148" cy="2653748"/>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074357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9190-6E5A-9789-CD52-098FC81BB591}"/>
              </a:ext>
            </a:extLst>
          </p:cNvPr>
          <p:cNvSpPr>
            <a:spLocks noGrp="1"/>
          </p:cNvSpPr>
          <p:nvPr>
            <p:ph type="title"/>
          </p:nvPr>
        </p:nvSpPr>
        <p:spPr/>
        <p:txBody>
          <a:bodyPr/>
          <a:lstStyle/>
          <a:p>
            <a:r>
              <a:rPr lang="en-ID" dirty="0"/>
              <a:t>Generalization to New Domain</a:t>
            </a:r>
          </a:p>
        </p:txBody>
      </p:sp>
      <p:sp>
        <p:nvSpPr>
          <p:cNvPr id="3" name="Content Placeholder 2">
            <a:extLst>
              <a:ext uri="{FF2B5EF4-FFF2-40B4-BE49-F238E27FC236}">
                <a16:creationId xmlns:a16="http://schemas.microsoft.com/office/drawing/2014/main" id="{E7D0EA6C-5B37-43BC-C5CB-E293AE7350F2}"/>
              </a:ext>
            </a:extLst>
          </p:cNvPr>
          <p:cNvSpPr>
            <a:spLocks noGrp="1"/>
          </p:cNvSpPr>
          <p:nvPr>
            <p:ph idx="1"/>
          </p:nvPr>
        </p:nvSpPr>
        <p:spPr>
          <a:xfrm>
            <a:off x="838200" y="1825625"/>
            <a:ext cx="5542722" cy="2540635"/>
          </a:xfrm>
        </p:spPr>
        <p:txBody>
          <a:bodyPr/>
          <a:lstStyle/>
          <a:p>
            <a:r>
              <a:rPr lang="en-ID" dirty="0" err="1"/>
              <a:t>Kemampuan</a:t>
            </a:r>
            <a:r>
              <a:rPr lang="en-ID" dirty="0"/>
              <a:t> model </a:t>
            </a:r>
            <a:r>
              <a:rPr lang="en-ID" dirty="0" err="1"/>
              <a:t>untuk</a:t>
            </a:r>
            <a:r>
              <a:rPr lang="en-ID" dirty="0"/>
              <a:t> </a:t>
            </a:r>
            <a:r>
              <a:rPr lang="en-ID" dirty="0" err="1"/>
              <a:t>tetap</a:t>
            </a:r>
            <a:r>
              <a:rPr lang="en-ID" dirty="0"/>
              <a:t> </a:t>
            </a:r>
            <a:r>
              <a:rPr lang="en-ID" dirty="0" err="1"/>
              <a:t>mengenali</a:t>
            </a:r>
            <a:r>
              <a:rPr lang="en-ID" dirty="0"/>
              <a:t> intent </a:t>
            </a:r>
            <a:r>
              <a:rPr lang="en-ID" dirty="0" err="1"/>
              <a:t>secara</a:t>
            </a:r>
            <a:r>
              <a:rPr lang="en-ID" dirty="0"/>
              <a:t> </a:t>
            </a:r>
            <a:r>
              <a:rPr lang="en-ID" dirty="0" err="1"/>
              <a:t>akurat</a:t>
            </a:r>
            <a:r>
              <a:rPr lang="en-ID" dirty="0"/>
              <a:t>, </a:t>
            </a:r>
            <a:r>
              <a:rPr lang="en-ID" dirty="0" err="1"/>
              <a:t>meskipun</a:t>
            </a:r>
            <a:r>
              <a:rPr lang="en-ID" dirty="0"/>
              <a:t> </a:t>
            </a:r>
            <a:r>
              <a:rPr lang="en-ID" b="1" dirty="0" err="1"/>
              <a:t>konteks</a:t>
            </a:r>
            <a:r>
              <a:rPr lang="en-ID" dirty="0"/>
              <a:t>, </a:t>
            </a:r>
            <a:r>
              <a:rPr lang="en-ID" dirty="0" err="1"/>
              <a:t>kosakata</a:t>
            </a:r>
            <a:r>
              <a:rPr lang="en-ID" dirty="0"/>
              <a:t>, </a:t>
            </a:r>
            <a:r>
              <a:rPr lang="en-ID" dirty="0" err="1"/>
              <a:t>gaya</a:t>
            </a:r>
            <a:r>
              <a:rPr lang="en-ID" dirty="0"/>
              <a:t> </a:t>
            </a:r>
            <a:r>
              <a:rPr lang="en-ID" dirty="0" err="1"/>
              <a:t>bahasa</a:t>
            </a:r>
            <a:r>
              <a:rPr lang="en-ID" dirty="0"/>
              <a:t>, dan </a:t>
            </a:r>
            <a:r>
              <a:rPr lang="en-ID" dirty="0" err="1"/>
              <a:t>jenis</a:t>
            </a:r>
            <a:r>
              <a:rPr lang="en-ID" dirty="0"/>
              <a:t> intent-</a:t>
            </a:r>
            <a:r>
              <a:rPr lang="en-ID" dirty="0" err="1"/>
              <a:t>nya</a:t>
            </a:r>
            <a:r>
              <a:rPr lang="en-ID" dirty="0"/>
              <a:t> </a:t>
            </a:r>
            <a:r>
              <a:rPr lang="en-ID" b="1" dirty="0" err="1"/>
              <a:t>berbeda</a:t>
            </a:r>
            <a:r>
              <a:rPr lang="en-ID" dirty="0"/>
              <a:t> </a:t>
            </a:r>
            <a:r>
              <a:rPr lang="en-ID" dirty="0" err="1"/>
              <a:t>dari</a:t>
            </a:r>
            <a:r>
              <a:rPr lang="en-ID" dirty="0"/>
              <a:t> data yang </a:t>
            </a:r>
            <a:r>
              <a:rPr lang="en-ID" dirty="0" err="1"/>
              <a:t>digunakan</a:t>
            </a:r>
            <a:r>
              <a:rPr lang="en-ID" dirty="0"/>
              <a:t> </a:t>
            </a:r>
            <a:r>
              <a:rPr lang="en-ID" dirty="0" err="1"/>
              <a:t>saat</a:t>
            </a:r>
            <a:r>
              <a:rPr lang="en-ID" dirty="0"/>
              <a:t> </a:t>
            </a:r>
            <a:r>
              <a:rPr lang="en-ID" dirty="0" err="1"/>
              <a:t>pelatihan</a:t>
            </a:r>
            <a:r>
              <a:rPr lang="en-ID" dirty="0"/>
              <a:t> (training).</a:t>
            </a:r>
          </a:p>
        </p:txBody>
      </p:sp>
      <p:sp>
        <p:nvSpPr>
          <p:cNvPr id="4" name="Content Placeholder 2">
            <a:extLst>
              <a:ext uri="{FF2B5EF4-FFF2-40B4-BE49-F238E27FC236}">
                <a16:creationId xmlns:a16="http://schemas.microsoft.com/office/drawing/2014/main" id="{97E1A857-0FAB-661E-A22A-B7E20887A645}"/>
              </a:ext>
            </a:extLst>
          </p:cNvPr>
          <p:cNvSpPr txBox="1">
            <a:spLocks/>
          </p:cNvSpPr>
          <p:nvPr/>
        </p:nvSpPr>
        <p:spPr>
          <a:xfrm>
            <a:off x="6546574" y="1825625"/>
            <a:ext cx="5542722" cy="25406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ability of the model to continue to recognize intent accurately, even if the </a:t>
            </a:r>
            <a:r>
              <a:rPr lang="en-US" b="1" dirty="0"/>
              <a:t>context</a:t>
            </a:r>
            <a:r>
              <a:rPr lang="en-US" dirty="0"/>
              <a:t>, vocabulary, language style, and type of intent are </a:t>
            </a:r>
            <a:r>
              <a:rPr lang="en-US" b="1" dirty="0"/>
              <a:t>different</a:t>
            </a:r>
            <a:r>
              <a:rPr lang="en-US" dirty="0"/>
              <a:t> from the data used during training.</a:t>
            </a:r>
            <a:endParaRPr lang="en-ID" dirty="0"/>
          </a:p>
        </p:txBody>
      </p:sp>
      <p:sp>
        <p:nvSpPr>
          <p:cNvPr id="5" name="Rectangle 4">
            <a:extLst>
              <a:ext uri="{FF2B5EF4-FFF2-40B4-BE49-F238E27FC236}">
                <a16:creationId xmlns:a16="http://schemas.microsoft.com/office/drawing/2014/main" id="{B8EF5B67-1139-C3A7-1AA1-3A7D3B03E7B4}"/>
              </a:ext>
            </a:extLst>
          </p:cNvPr>
          <p:cNvSpPr/>
          <p:nvPr/>
        </p:nvSpPr>
        <p:spPr>
          <a:xfrm>
            <a:off x="2087217" y="4462670"/>
            <a:ext cx="2663687" cy="117281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sz="2800" b="1" dirty="0">
                <a:solidFill>
                  <a:schemeClr val="tx1"/>
                </a:solidFill>
              </a:rPr>
              <a:t>Chatbot for Traveling</a:t>
            </a:r>
          </a:p>
        </p:txBody>
      </p:sp>
      <p:sp>
        <p:nvSpPr>
          <p:cNvPr id="6" name="Rectangle 5">
            <a:extLst>
              <a:ext uri="{FF2B5EF4-FFF2-40B4-BE49-F238E27FC236}">
                <a16:creationId xmlns:a16="http://schemas.microsoft.com/office/drawing/2014/main" id="{E4AF3F84-B90C-ACAE-6E73-E676ED5CF248}"/>
              </a:ext>
            </a:extLst>
          </p:cNvPr>
          <p:cNvSpPr/>
          <p:nvPr/>
        </p:nvSpPr>
        <p:spPr>
          <a:xfrm>
            <a:off x="6298095" y="4462670"/>
            <a:ext cx="2663687" cy="117281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sz="2800" b="1" dirty="0">
                <a:solidFill>
                  <a:schemeClr val="tx1"/>
                </a:solidFill>
              </a:rPr>
              <a:t>Chatbot for Medical</a:t>
            </a:r>
          </a:p>
        </p:txBody>
      </p:sp>
      <p:sp>
        <p:nvSpPr>
          <p:cNvPr id="7" name="Arrow: Right 6">
            <a:extLst>
              <a:ext uri="{FF2B5EF4-FFF2-40B4-BE49-F238E27FC236}">
                <a16:creationId xmlns:a16="http://schemas.microsoft.com/office/drawing/2014/main" id="{9F4894C2-D540-5644-E080-EB0573DEBB5E}"/>
              </a:ext>
            </a:extLst>
          </p:cNvPr>
          <p:cNvSpPr/>
          <p:nvPr/>
        </p:nvSpPr>
        <p:spPr>
          <a:xfrm>
            <a:off x="4994910" y="4857750"/>
            <a:ext cx="1101090" cy="5486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771D9DB8-36BE-7002-790D-858E26EA4BFB}"/>
              </a:ext>
            </a:extLst>
          </p:cNvPr>
          <p:cNvSpPr txBox="1"/>
          <p:nvPr/>
        </p:nvSpPr>
        <p:spPr>
          <a:xfrm>
            <a:off x="3828843" y="6368117"/>
            <a:ext cx="4534314" cy="369332"/>
          </a:xfrm>
          <a:prstGeom prst="rect">
            <a:avLst/>
          </a:prstGeom>
          <a:noFill/>
        </p:spPr>
        <p:txBody>
          <a:bodyPr wrap="square" rtlCol="0">
            <a:spAutoFit/>
          </a:bodyPr>
          <a:lstStyle/>
          <a:p>
            <a:r>
              <a:rPr lang="en-US" dirty="0"/>
              <a:t>Text: "I want to book an appointment."</a:t>
            </a:r>
            <a:endParaRPr lang="en-ID" dirty="0"/>
          </a:p>
        </p:txBody>
      </p:sp>
      <p:sp>
        <p:nvSpPr>
          <p:cNvPr id="9" name="TextBox 8">
            <a:extLst>
              <a:ext uri="{FF2B5EF4-FFF2-40B4-BE49-F238E27FC236}">
                <a16:creationId xmlns:a16="http://schemas.microsoft.com/office/drawing/2014/main" id="{AB0D885A-7512-027A-5ADD-C67A2445EA10}"/>
              </a:ext>
            </a:extLst>
          </p:cNvPr>
          <p:cNvSpPr txBox="1"/>
          <p:nvPr/>
        </p:nvSpPr>
        <p:spPr>
          <a:xfrm>
            <a:off x="2800350" y="5852160"/>
            <a:ext cx="2491740" cy="369332"/>
          </a:xfrm>
          <a:prstGeom prst="rect">
            <a:avLst/>
          </a:prstGeom>
          <a:noFill/>
        </p:spPr>
        <p:txBody>
          <a:bodyPr wrap="square" rtlCol="0">
            <a:spAutoFit/>
          </a:bodyPr>
          <a:lstStyle/>
          <a:p>
            <a:r>
              <a:rPr lang="en-ID" dirty="0"/>
              <a:t>book a flight </a:t>
            </a:r>
          </a:p>
        </p:txBody>
      </p:sp>
      <p:sp>
        <p:nvSpPr>
          <p:cNvPr id="10" name="TextBox 9">
            <a:extLst>
              <a:ext uri="{FF2B5EF4-FFF2-40B4-BE49-F238E27FC236}">
                <a16:creationId xmlns:a16="http://schemas.microsoft.com/office/drawing/2014/main" id="{8EE3DDE6-7D94-A7D0-EBCA-CE63EECCADD2}"/>
              </a:ext>
            </a:extLst>
          </p:cNvPr>
          <p:cNvSpPr txBox="1"/>
          <p:nvPr/>
        </p:nvSpPr>
        <p:spPr>
          <a:xfrm>
            <a:off x="6899912" y="5697319"/>
            <a:ext cx="2663687" cy="646331"/>
          </a:xfrm>
          <a:prstGeom prst="rect">
            <a:avLst/>
          </a:prstGeom>
          <a:noFill/>
        </p:spPr>
        <p:txBody>
          <a:bodyPr wrap="square" rtlCol="0">
            <a:spAutoFit/>
          </a:bodyPr>
          <a:lstStyle/>
          <a:p>
            <a:r>
              <a:rPr lang="en-ID" dirty="0"/>
              <a:t>book a doctor’s appointment</a:t>
            </a:r>
          </a:p>
        </p:txBody>
      </p:sp>
    </p:spTree>
    <p:extLst>
      <p:ext uri="{BB962C8B-B14F-4D97-AF65-F5344CB8AC3E}">
        <p14:creationId xmlns:p14="http://schemas.microsoft.com/office/powerpoint/2010/main" val="3921192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696B-8FBF-3639-3ECB-222FCA8C17B0}"/>
              </a:ext>
            </a:extLst>
          </p:cNvPr>
          <p:cNvSpPr>
            <a:spLocks noGrp="1"/>
          </p:cNvSpPr>
          <p:nvPr>
            <p:ph type="title"/>
          </p:nvPr>
        </p:nvSpPr>
        <p:spPr/>
        <p:txBody>
          <a:bodyPr/>
          <a:lstStyle/>
          <a:p>
            <a:r>
              <a:rPr lang="en-ID" dirty="0"/>
              <a:t>Generalization to New Domain</a:t>
            </a:r>
          </a:p>
        </p:txBody>
      </p:sp>
      <p:pic>
        <p:nvPicPr>
          <p:cNvPr id="4" name="Picture 3">
            <a:extLst>
              <a:ext uri="{FF2B5EF4-FFF2-40B4-BE49-F238E27FC236}">
                <a16:creationId xmlns:a16="http://schemas.microsoft.com/office/drawing/2014/main" id="{5BE4725F-05A6-891C-98AC-DF40F16453AB}"/>
              </a:ext>
            </a:extLst>
          </p:cNvPr>
          <p:cNvPicPr>
            <a:picLocks noChangeAspect="1"/>
          </p:cNvPicPr>
          <p:nvPr/>
        </p:nvPicPr>
        <p:blipFill>
          <a:blip r:embed="rId2"/>
          <a:stretch>
            <a:fillRect/>
          </a:stretch>
        </p:blipFill>
        <p:spPr>
          <a:xfrm>
            <a:off x="1794510" y="2837442"/>
            <a:ext cx="7056494" cy="3655433"/>
          </a:xfrm>
          <a:prstGeom prst="rect">
            <a:avLst/>
          </a:prstGeom>
        </p:spPr>
      </p:pic>
      <p:sp>
        <p:nvSpPr>
          <p:cNvPr id="5" name="TextBox 4">
            <a:extLst>
              <a:ext uri="{FF2B5EF4-FFF2-40B4-BE49-F238E27FC236}">
                <a16:creationId xmlns:a16="http://schemas.microsoft.com/office/drawing/2014/main" id="{06B5BB0B-BDEB-ED72-E2B0-CDACBACF26F9}"/>
              </a:ext>
            </a:extLst>
          </p:cNvPr>
          <p:cNvSpPr txBox="1"/>
          <p:nvPr/>
        </p:nvSpPr>
        <p:spPr>
          <a:xfrm>
            <a:off x="1085850" y="1463040"/>
            <a:ext cx="9144000" cy="1200329"/>
          </a:xfrm>
          <a:prstGeom prst="rect">
            <a:avLst/>
          </a:prstGeom>
          <a:noFill/>
        </p:spPr>
        <p:txBody>
          <a:bodyPr wrap="square" rtlCol="0">
            <a:spAutoFit/>
          </a:bodyPr>
          <a:lstStyle/>
          <a:p>
            <a:r>
              <a:rPr lang="en-US" sz="2400" dirty="0"/>
              <a:t>The model's ability to continue to </a:t>
            </a:r>
            <a:r>
              <a:rPr lang="en-US" sz="2400" b="1" dirty="0"/>
              <a:t>recognize</a:t>
            </a:r>
            <a:r>
              <a:rPr lang="en-US" sz="2400" dirty="0"/>
              <a:t> intent accurately, even if the </a:t>
            </a:r>
            <a:r>
              <a:rPr lang="en-US" sz="2400" b="1" dirty="0"/>
              <a:t>context</a:t>
            </a:r>
            <a:r>
              <a:rPr lang="en-US" sz="2400" dirty="0"/>
              <a:t>, vocabulary, language style, and type of intent are </a:t>
            </a:r>
            <a:r>
              <a:rPr lang="en-US" sz="2400" b="1" dirty="0"/>
              <a:t>different</a:t>
            </a:r>
            <a:r>
              <a:rPr lang="en-US" sz="2400" dirty="0"/>
              <a:t> from the data used during training.</a:t>
            </a:r>
            <a:endParaRPr lang="en-ID" sz="2400" dirty="0"/>
          </a:p>
        </p:txBody>
      </p:sp>
    </p:spTree>
    <p:extLst>
      <p:ext uri="{BB962C8B-B14F-4D97-AF65-F5344CB8AC3E}">
        <p14:creationId xmlns:p14="http://schemas.microsoft.com/office/powerpoint/2010/main" val="2080150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94B12-696F-8A7A-F8D0-CB2C6A4B3FC6}"/>
              </a:ext>
            </a:extLst>
          </p:cNvPr>
          <p:cNvSpPr>
            <a:spLocks noGrp="1"/>
          </p:cNvSpPr>
          <p:nvPr>
            <p:ph type="title"/>
          </p:nvPr>
        </p:nvSpPr>
        <p:spPr/>
        <p:txBody>
          <a:bodyPr/>
          <a:lstStyle/>
          <a:p>
            <a:r>
              <a:rPr lang="en-ID" dirty="0"/>
              <a:t>Solution Approach</a:t>
            </a:r>
          </a:p>
        </p:txBody>
      </p:sp>
      <p:pic>
        <p:nvPicPr>
          <p:cNvPr id="3" name="Picture 2">
            <a:extLst>
              <a:ext uri="{FF2B5EF4-FFF2-40B4-BE49-F238E27FC236}">
                <a16:creationId xmlns:a16="http://schemas.microsoft.com/office/drawing/2014/main" id="{FCE6FAAF-949E-FB28-88A8-89E61CCF5FC5}"/>
              </a:ext>
            </a:extLst>
          </p:cNvPr>
          <p:cNvPicPr>
            <a:picLocks noChangeAspect="1"/>
          </p:cNvPicPr>
          <p:nvPr/>
        </p:nvPicPr>
        <p:blipFill>
          <a:blip r:embed="rId2"/>
          <a:stretch>
            <a:fillRect/>
          </a:stretch>
        </p:blipFill>
        <p:spPr>
          <a:xfrm>
            <a:off x="1162049" y="1690688"/>
            <a:ext cx="9733566" cy="4641532"/>
          </a:xfrm>
          <a:prstGeom prst="rect">
            <a:avLst/>
          </a:prstGeom>
        </p:spPr>
      </p:pic>
    </p:spTree>
    <p:extLst>
      <p:ext uri="{BB962C8B-B14F-4D97-AF65-F5344CB8AC3E}">
        <p14:creationId xmlns:p14="http://schemas.microsoft.com/office/powerpoint/2010/main" val="3402453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llout: Quad Arrow 1">
            <a:extLst>
              <a:ext uri="{FF2B5EF4-FFF2-40B4-BE49-F238E27FC236}">
                <a16:creationId xmlns:a16="http://schemas.microsoft.com/office/drawing/2014/main" id="{15481839-1303-CD11-864F-A98561069F1E}"/>
              </a:ext>
            </a:extLst>
          </p:cNvPr>
          <p:cNvSpPr/>
          <p:nvPr/>
        </p:nvSpPr>
        <p:spPr>
          <a:xfrm>
            <a:off x="4512365" y="2012673"/>
            <a:ext cx="2892287" cy="2832653"/>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873124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DB32-EBEC-DB77-9BDB-EC0A1EEE048C}"/>
              </a:ext>
            </a:extLst>
          </p:cNvPr>
          <p:cNvSpPr>
            <a:spLocks noGrp="1"/>
          </p:cNvSpPr>
          <p:nvPr>
            <p:ph type="title"/>
          </p:nvPr>
        </p:nvSpPr>
        <p:spPr/>
        <p:txBody>
          <a:bodyPr/>
          <a:lstStyle/>
          <a:p>
            <a:r>
              <a:rPr lang="en-ID" dirty="0"/>
              <a:t>Ambiguity Handling Strategies</a:t>
            </a:r>
          </a:p>
        </p:txBody>
      </p:sp>
      <p:sp>
        <p:nvSpPr>
          <p:cNvPr id="3" name="Content Placeholder 2">
            <a:extLst>
              <a:ext uri="{FF2B5EF4-FFF2-40B4-BE49-F238E27FC236}">
                <a16:creationId xmlns:a16="http://schemas.microsoft.com/office/drawing/2014/main" id="{35FE9B43-C736-8622-B466-17891DED9C06}"/>
              </a:ext>
            </a:extLst>
          </p:cNvPr>
          <p:cNvSpPr>
            <a:spLocks noGrp="1"/>
          </p:cNvSpPr>
          <p:nvPr>
            <p:ph idx="1"/>
          </p:nvPr>
        </p:nvSpPr>
        <p:spPr/>
        <p:txBody>
          <a:bodyPr/>
          <a:lstStyle/>
          <a:p>
            <a:r>
              <a:rPr lang="en-US" dirty="0"/>
              <a:t>Use previous context (dialog history)</a:t>
            </a:r>
          </a:p>
          <a:p>
            <a:r>
              <a:rPr lang="en-US" dirty="0"/>
              <a:t>Structural parsing (dependency/constituency parsing)</a:t>
            </a:r>
          </a:p>
          <a:p>
            <a:r>
              <a:rPr lang="en-US" dirty="0"/>
              <a:t>Disambiguation with pretrained models like BERT</a:t>
            </a:r>
          </a:p>
          <a:p>
            <a:r>
              <a:rPr lang="en-US" dirty="0"/>
              <a:t>Confirm to the user if confidence is low</a:t>
            </a:r>
            <a:endParaRPr lang="en-ID" dirty="0"/>
          </a:p>
        </p:txBody>
      </p:sp>
      <p:sp>
        <p:nvSpPr>
          <p:cNvPr id="4" name="TextBox 3">
            <a:extLst>
              <a:ext uri="{FF2B5EF4-FFF2-40B4-BE49-F238E27FC236}">
                <a16:creationId xmlns:a16="http://schemas.microsoft.com/office/drawing/2014/main" id="{026378B7-1362-8857-2883-0ED0C7961007}"/>
              </a:ext>
            </a:extLst>
          </p:cNvPr>
          <p:cNvSpPr txBox="1"/>
          <p:nvPr/>
        </p:nvSpPr>
        <p:spPr>
          <a:xfrm>
            <a:off x="1783079" y="4183380"/>
            <a:ext cx="6645303" cy="1938992"/>
          </a:xfrm>
          <a:prstGeom prst="rect">
            <a:avLst/>
          </a:prstGeom>
          <a:noFill/>
          <a:ln>
            <a:solidFill>
              <a:schemeClr val="accent1">
                <a:shade val="15000"/>
              </a:schemeClr>
            </a:solidFill>
          </a:ln>
        </p:spPr>
        <p:txBody>
          <a:bodyPr wrap="square" rtlCol="0">
            <a:spAutoFit/>
          </a:bodyPr>
          <a:lstStyle/>
          <a:p>
            <a:r>
              <a:rPr lang="en-US" sz="2400" dirty="0"/>
              <a:t>if </a:t>
            </a:r>
            <a:r>
              <a:rPr lang="en-US" sz="2400" dirty="0" err="1"/>
              <a:t>intent_confidence</a:t>
            </a:r>
            <a:r>
              <a:rPr lang="en-US" sz="2400" dirty="0"/>
              <a:t> &lt; 0.7:</a:t>
            </a:r>
          </a:p>
          <a:p>
            <a:r>
              <a:rPr lang="en-US" sz="2400" dirty="0"/>
              <a:t>    return "Could you please clarify what you mean?"</a:t>
            </a:r>
          </a:p>
          <a:p>
            <a:r>
              <a:rPr lang="en-US" sz="2400" dirty="0"/>
              <a:t>else:</a:t>
            </a:r>
          </a:p>
          <a:p>
            <a:r>
              <a:rPr lang="en-US" sz="2400" dirty="0"/>
              <a:t>    return </a:t>
            </a:r>
            <a:r>
              <a:rPr lang="en-US" sz="2400" dirty="0" err="1"/>
              <a:t>f"Intent</a:t>
            </a:r>
            <a:r>
              <a:rPr lang="en-US" sz="2400" dirty="0"/>
              <a:t> recognized: {</a:t>
            </a:r>
            <a:r>
              <a:rPr lang="en-US" sz="2400" dirty="0" err="1"/>
              <a:t>predicted_intent</a:t>
            </a:r>
            <a:r>
              <a:rPr lang="en-US" sz="2400" dirty="0"/>
              <a:t>}"</a:t>
            </a:r>
          </a:p>
          <a:p>
            <a:endParaRPr lang="en-ID" sz="2400" dirty="0"/>
          </a:p>
        </p:txBody>
      </p:sp>
    </p:spTree>
    <p:extLst>
      <p:ext uri="{BB962C8B-B14F-4D97-AF65-F5344CB8AC3E}">
        <p14:creationId xmlns:p14="http://schemas.microsoft.com/office/powerpoint/2010/main" val="3932364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1188</TotalTime>
  <Words>1002</Words>
  <Application>Microsoft Office PowerPoint</Application>
  <PresentationFormat>Widescreen</PresentationFormat>
  <Paragraphs>140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Intent Recognition</vt:lpstr>
      <vt:lpstr>Intent Recognition</vt:lpstr>
      <vt:lpstr>Intent and Entity</vt:lpstr>
      <vt:lpstr>Intent Recognition</vt:lpstr>
      <vt:lpstr>Chatbot Architecture</vt:lpstr>
      <vt:lpstr>Intent Recognition</vt:lpstr>
      <vt:lpstr>Challenges in Intent Recognition</vt:lpstr>
      <vt:lpstr>Ambiguous Sentences</vt:lpstr>
      <vt:lpstr>Ambiguous Sentences</vt:lpstr>
      <vt:lpstr>Types of Ambiguity</vt:lpstr>
      <vt:lpstr>PowerPoint Presentation</vt:lpstr>
      <vt:lpstr>Complex sentences</vt:lpstr>
      <vt:lpstr>Challenges in Intent Recognition with Complex Sentences</vt:lpstr>
      <vt:lpstr>Challenges in Intent Recognition with Complex Sentences</vt:lpstr>
      <vt:lpstr>PowerPoint Presentation</vt:lpstr>
      <vt:lpstr>Non-standard language and typos</vt:lpstr>
      <vt:lpstr>Handling the typo: autocorrect library Python</vt:lpstr>
      <vt:lpstr>Handling the typo: autocorrect library Python</vt:lpstr>
      <vt:lpstr>PowerPoint Presentation</vt:lpstr>
      <vt:lpstr>Generalization to New Domain</vt:lpstr>
      <vt:lpstr>Generalization to New Domain</vt:lpstr>
      <vt:lpstr>Solution Approach</vt:lpstr>
      <vt:lpstr>PowerPoint Presentation</vt:lpstr>
      <vt:lpstr>Ambiguity Handling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Reviewer</dc:creator>
  <cp:lastModifiedBy>Reviewer</cp:lastModifiedBy>
  <cp:revision>46</cp:revision>
  <dcterms:created xsi:type="dcterms:W3CDTF">2025-05-08T13:40:55Z</dcterms:created>
  <dcterms:modified xsi:type="dcterms:W3CDTF">2025-09-03T12:57:47Z</dcterms:modified>
</cp:coreProperties>
</file>