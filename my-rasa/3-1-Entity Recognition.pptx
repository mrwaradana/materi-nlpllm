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72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5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69BE8-B3C9-367B-D741-97D0A2C37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E120CE-C5E1-8E97-8B00-9B40C940B3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A262F-71D8-58B9-5544-052779CD3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70E04-C5FE-4610-A807-5A9F589FEDD2}" type="datetimeFigureOut">
              <a:rPr lang="en-ID" smtClean="0"/>
              <a:t>09/09/2025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322EA4-7149-9973-DBD9-A45DA217B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EA1B5-7EDE-3878-26E9-B580F2E1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8B863-6B97-4576-A7DC-E6A13E8AC07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72127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99016-0744-7645-BC08-1A259258C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482F1-3831-D9B6-C5AB-30631CEA2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4809F-7E56-56D4-88A9-3151712A2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70E04-C5FE-4610-A807-5A9F589FEDD2}" type="datetimeFigureOut">
              <a:rPr lang="en-ID" smtClean="0"/>
              <a:t>09/09/2025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1E5DED-5354-ABE5-D9D4-9D3BC812B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051E08-ACC4-D306-5442-46D5F1CBA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8B863-6B97-4576-A7DC-E6A13E8AC07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75102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11C6E-5A72-8A89-C90C-0A262B2CB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F3B0E2-3B31-45FF-C977-7A1136BE0F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E2AB16-93B3-77EA-5B9A-69A4BD274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70E04-C5FE-4610-A807-5A9F589FEDD2}" type="datetimeFigureOut">
              <a:rPr lang="en-ID" smtClean="0"/>
              <a:t>09/09/2025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BA904-63BC-0300-0E96-DBBC5B956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54D788-1613-EC64-1FAB-3A4157D96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8B863-6B97-4576-A7DC-E6A13E8AC07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87307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AA1B2-71CC-1033-39A2-28E0EDDE6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C5354-2710-0A31-4695-68EFF39BD1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865C75-DE3E-62D4-BC78-C6689FA04B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F9A9B9-80BF-62F0-585F-A7FFBD2B2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70E04-C5FE-4610-A807-5A9F589FEDD2}" type="datetimeFigureOut">
              <a:rPr lang="en-ID" smtClean="0"/>
              <a:t>09/09/2025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D6AF6C-89D5-3FD6-4ACC-4391F5BB1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092E45-E39A-85FB-9DFC-FF2E7DB59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8B863-6B97-4576-A7DC-E6A13E8AC07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31862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E0E03-467B-AFA5-617A-E779FB731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FA857F-FF82-0D7B-1AC6-7C1EA2D3D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A274E1-6403-94D1-E6DF-0A41EA0FBF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E9DC3B-5A3A-5DD4-AFE6-9E8384B44F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D59255-0A7E-2844-2147-FB7BFC08AC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CBA3F2-DAA6-43BB-2C9C-2EBA16EFA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70E04-C5FE-4610-A807-5A9F589FEDD2}" type="datetimeFigureOut">
              <a:rPr lang="en-ID" smtClean="0"/>
              <a:t>09/09/2025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990BDC-DA63-815A-A188-89C86FC7B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ED766E-40EE-D05E-8733-0BF793C5C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8B863-6B97-4576-A7DC-E6A13E8AC07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95655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9F5A7-4425-BF09-F131-D16A74250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4FE9FC-55A1-7BF5-7654-7FBEF00AA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70E04-C5FE-4610-A807-5A9F589FEDD2}" type="datetimeFigureOut">
              <a:rPr lang="en-ID" smtClean="0"/>
              <a:t>09/09/2025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9BAA8E-1765-B410-92E4-13A18D6E4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41CAFA-77BB-D63B-15F2-A15BE6EE4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8B863-6B97-4576-A7DC-E6A13E8AC07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63066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F81359-25A2-11EB-1695-AF8BA68D1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70E04-C5FE-4610-A807-5A9F589FEDD2}" type="datetimeFigureOut">
              <a:rPr lang="en-ID" smtClean="0"/>
              <a:t>09/09/2025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23DBAF-3074-F70B-8272-02A85AEA0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252F2B-27F7-DCA5-A56D-EFAC00327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8B863-6B97-4576-A7DC-E6A13E8AC07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73212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BBEC2-0B97-E268-02C4-0E0896998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CE48F-22F2-6A27-6BB5-7E571165A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4AC7BA-FC9F-AC68-B5BF-2FAE428962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B05C0-20AC-814F-9DF7-296F92832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70E04-C5FE-4610-A807-5A9F589FEDD2}" type="datetimeFigureOut">
              <a:rPr lang="en-ID" smtClean="0"/>
              <a:t>09/09/2025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83C334-45BF-486A-6BFE-06BB492E4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B8B288-C888-4D71-24B3-B62114688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8B863-6B97-4576-A7DC-E6A13E8AC07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96341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5CBE2-52CE-B8D4-63DC-05F0CAB64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DB4714-FE73-F654-6738-5248044EEA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9B92C0-EBE4-446D-3C50-298713A7EE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D1BC30-7009-C119-361A-CD8E750AA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70E04-C5FE-4610-A807-5A9F589FEDD2}" type="datetimeFigureOut">
              <a:rPr lang="en-ID" smtClean="0"/>
              <a:t>09/09/2025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30BEA2-748F-EB5B-32EF-BF1B3AE9E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8579B6-5141-910F-F208-394ECB020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8B863-6B97-4576-A7DC-E6A13E8AC07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44841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E77C0-5706-C973-6D70-6FB7D6A22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DE09BD-40B7-7CF2-884C-7626F654BA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E43690-965F-AC85-8CC6-B0E0284E3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70E04-C5FE-4610-A807-5A9F589FEDD2}" type="datetimeFigureOut">
              <a:rPr lang="en-ID" smtClean="0"/>
              <a:t>09/09/2025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EBE3A2-9FDB-85AF-7891-776512078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7FD8B-F957-984E-A052-FCE7F1A1B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8B863-6B97-4576-A7DC-E6A13E8AC07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38536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327389-12B3-987A-02AE-E9444B34CC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240717-AC49-EF00-0923-39368E2E7A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6E9E8A-22CB-F4A0-CB48-334642E1F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70E04-C5FE-4610-A807-5A9F589FEDD2}" type="datetimeFigureOut">
              <a:rPr lang="en-ID" smtClean="0"/>
              <a:t>09/09/2025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20DCC-6BE0-EE80-F599-77401BCAE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1FDAC-9153-211F-BF49-012F10018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8B863-6B97-4576-A7DC-E6A13E8AC07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38276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74FEF4-CD51-5775-D9D8-0A037AD2F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E69CCC-A854-DD95-73A8-BD4D654E75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659BC-7AED-EDBE-6FDB-7A35F54454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F70E04-C5FE-4610-A807-5A9F589FEDD2}" type="datetimeFigureOut">
              <a:rPr lang="en-ID" smtClean="0"/>
              <a:t>09/09/2025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AA8311-A700-CFDB-A532-D35DCE1634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BCF1F-0B17-5C43-57EE-C0746D115F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58B863-6B97-4576-A7DC-E6A13E8AC07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56734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8FAC5-89F2-3528-719A-10CCBD76E2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Entity Recognition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3A720D-FB58-7CD2-87CB-E73F961AA7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66322"/>
            <a:ext cx="9144000" cy="1391478"/>
          </a:xfrm>
        </p:spPr>
        <p:txBody>
          <a:bodyPr/>
          <a:lstStyle/>
          <a:p>
            <a:r>
              <a:rPr lang="en-US"/>
              <a:t>atjahyanto@gmail.com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7312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4421D-2C75-9688-C777-D53C63F1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Entity Recognition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381E9-5387-0B8B-AEDC-91331433B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2578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Find and mark pieces of text (</a:t>
            </a:r>
            <a:r>
              <a:rPr lang="en-US" b="1"/>
              <a:t>tokens</a:t>
            </a:r>
            <a:r>
              <a:rPr lang="en-US"/>
              <a:t> or </a:t>
            </a:r>
            <a:r>
              <a:rPr lang="en-US" b="1"/>
              <a:t>phrases</a:t>
            </a:r>
            <a:r>
              <a:rPr lang="en-US"/>
              <a:t>) that represent important entities or information. </a:t>
            </a:r>
          </a:p>
          <a:p>
            <a:r>
              <a:rPr lang="en-US"/>
              <a:t>Entities here are not limited to names of people or places, but can be: </a:t>
            </a:r>
          </a:p>
          <a:p>
            <a:pPr lvl="1"/>
            <a:r>
              <a:rPr lang="en-US"/>
              <a:t>Numbers</a:t>
            </a:r>
          </a:p>
          <a:p>
            <a:pPr lvl="1"/>
            <a:r>
              <a:rPr lang="en-US"/>
              <a:t>Dates</a:t>
            </a:r>
          </a:p>
          <a:p>
            <a:pPr lvl="1"/>
            <a:r>
              <a:rPr lang="en-US"/>
              <a:t>Units</a:t>
            </a:r>
          </a:p>
          <a:p>
            <a:pPr lvl="1"/>
            <a:r>
              <a:rPr lang="en-US"/>
              <a:t>Products</a:t>
            </a:r>
          </a:p>
          <a:p>
            <a:pPr lvl="1"/>
            <a:r>
              <a:rPr lang="en-US"/>
              <a:t>Specific concepts</a:t>
            </a:r>
          </a:p>
          <a:p>
            <a:pPr lvl="1"/>
            <a:r>
              <a:rPr lang="en-US"/>
              <a:t>…</a:t>
            </a:r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308C19-EEA2-F5D3-67B9-BA6BCD317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0318" y="2481469"/>
            <a:ext cx="5665363" cy="294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955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FF44C-BC48-717E-0B25-D09A98D71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Named Entity Recognition (NER)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6BB2B-79F5-31A9-111C-9E3DFE64A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</a:t>
            </a:r>
            <a:r>
              <a:rPr lang="en-US" b="1"/>
              <a:t>specific</a:t>
            </a:r>
            <a:r>
              <a:rPr lang="en-US"/>
              <a:t> subset of Entity Recognition.</a:t>
            </a:r>
          </a:p>
          <a:p>
            <a:r>
              <a:rPr lang="en-US"/>
              <a:t>NER focuses on detecting Named Entities, which are entities typically names or special terms that can be categorized into specific classes.</a:t>
            </a:r>
            <a:endParaRPr lang="en-ID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36E698-0FDB-AB84-88F6-5829EEBD3F07}"/>
              </a:ext>
            </a:extLst>
          </p:cNvPr>
          <p:cNvSpPr txBox="1"/>
          <p:nvPr/>
        </p:nvSpPr>
        <p:spPr>
          <a:xfrm>
            <a:off x="1033669" y="3319670"/>
            <a:ext cx="74642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Example:</a:t>
            </a:r>
          </a:p>
          <a:p>
            <a:r>
              <a:rPr lang="en-US" sz="2400"/>
              <a:t>Sentence → "Barack Obama was born in Hawaii in 1961."</a:t>
            </a:r>
            <a:endParaRPr lang="en-ID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6E34E2-7897-7E00-89FA-ECA74054D276}"/>
              </a:ext>
            </a:extLst>
          </p:cNvPr>
          <p:cNvSpPr txBox="1"/>
          <p:nvPr/>
        </p:nvSpPr>
        <p:spPr>
          <a:xfrm>
            <a:off x="1580322" y="4393096"/>
            <a:ext cx="46415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400"/>
              <a:t>Barack Obama → Person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400"/>
              <a:t>Hawaii → Location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400"/>
              <a:t>1961 → Date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7F83CA-D7CD-4A17-9F06-FC79F68612B8}"/>
              </a:ext>
            </a:extLst>
          </p:cNvPr>
          <p:cNvSpPr txBox="1"/>
          <p:nvPr/>
        </p:nvSpPr>
        <p:spPr>
          <a:xfrm>
            <a:off x="6221895" y="4393096"/>
            <a:ext cx="5655365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/>
              <a:t>Standard categories in NER typically include: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PER → Person (person's name)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ORG → Organization (organization/company name)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LOC → Location (place/geography name)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DATE/TIME → Date/time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MONEY → Amount of money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PERCENT → Percentage</a:t>
            </a:r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7EE472-D851-1308-63EB-173DD88BD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9577" y="110886"/>
            <a:ext cx="1714739" cy="17147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29299AD-63FC-7BB3-7743-F999B13417AB}"/>
              </a:ext>
            </a:extLst>
          </p:cNvPr>
          <p:cNvSpPr txBox="1"/>
          <p:nvPr/>
        </p:nvSpPr>
        <p:spPr>
          <a:xfrm>
            <a:off x="10535478" y="1434991"/>
            <a:ext cx="13417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 </a:t>
            </a:r>
            <a:r>
              <a:rPr lang="en-US">
                <a:sym typeface="Wingdings" panose="05000000000000000000" pitchFamily="2" charset="2"/>
              </a:rPr>
              <a:t> NER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ym typeface="Wingdings" panose="05000000000000000000" pitchFamily="2" charset="2"/>
              </a:rPr>
              <a:t>B  ER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61327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91F0C-6EFA-E275-9EC7-781DC058A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/>
              <a:t>Entity Recognition vs Named Entity Recognition (NER)</a:t>
            </a:r>
            <a:endParaRPr lang="en-ID" sz="36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D65BF8-8D49-FD5A-35EE-239600A88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32" y="1750322"/>
            <a:ext cx="10658319" cy="3298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968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62774-5BD8-AF2C-960A-50EB8AC2F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Types of entities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A694A6-FD26-44F1-DBE9-A64D5C306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865" y="1690687"/>
            <a:ext cx="9933671" cy="410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155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87A32-5C0D-535C-3ACF-6196D62C1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to recognize entity?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F35F2-BC87-ED49-7EEF-DBDA02F6B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85000" lnSpcReduction="20000"/>
          </a:bodyPr>
          <a:lstStyle/>
          <a:p>
            <a:r>
              <a:rPr lang="en-ID" b="1"/>
              <a:t>Rule-based / Regex Matching.</a:t>
            </a:r>
          </a:p>
          <a:p>
            <a:pPr lvl="1"/>
            <a:r>
              <a:rPr lang="en-ID"/>
              <a:t>Use predefined patterns (regular expressions, keyword dictionaries).</a:t>
            </a:r>
          </a:p>
          <a:p>
            <a:r>
              <a:rPr lang="en-ID" b="1"/>
              <a:t>Dictionary / Gazetteer Lookup.</a:t>
            </a:r>
            <a:r>
              <a:rPr lang="en-ID"/>
              <a:t>	</a:t>
            </a:r>
          </a:p>
          <a:p>
            <a:pPr lvl="1"/>
            <a:r>
              <a:rPr lang="en-ID"/>
              <a:t>Match words against predefined lists (e.g., list of cities, universities, study programs).</a:t>
            </a:r>
          </a:p>
          <a:p>
            <a:r>
              <a:rPr lang="en-ID" b="1"/>
              <a:t>Part-of-Speech (POS) Tagging + Heuristics.</a:t>
            </a:r>
            <a:r>
              <a:rPr lang="en-ID"/>
              <a:t>	</a:t>
            </a:r>
          </a:p>
          <a:p>
            <a:pPr lvl="1"/>
            <a:r>
              <a:rPr lang="en-ID"/>
              <a:t>Identify nouns, proper nouns, etc. as potential entity candidates.</a:t>
            </a:r>
          </a:p>
          <a:p>
            <a:r>
              <a:rPr lang="en-ID" b="1"/>
              <a:t>Named Entity Recognition (NER) with Pretrained Models.</a:t>
            </a:r>
            <a:r>
              <a:rPr lang="en-ID"/>
              <a:t>	</a:t>
            </a:r>
          </a:p>
          <a:p>
            <a:pPr lvl="1"/>
            <a:r>
              <a:rPr lang="en-ID"/>
              <a:t>Use NLP models (e.g., spaCy, HuggingFace Transformers, BioBERT).</a:t>
            </a:r>
          </a:p>
          <a:p>
            <a:endParaRPr lang="en-ID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F9320AE-4B9D-0FE8-F1C3-6536E620D12A}"/>
              </a:ext>
            </a:extLst>
          </p:cNvPr>
          <p:cNvSpPr txBox="1">
            <a:spLocks/>
          </p:cNvSpPr>
          <p:nvPr/>
        </p:nvSpPr>
        <p:spPr>
          <a:xfrm>
            <a:off x="6586330" y="18256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D" b="1"/>
              <a:t>Custom NER Training.</a:t>
            </a:r>
            <a:r>
              <a:rPr lang="en-ID"/>
              <a:t>	</a:t>
            </a:r>
          </a:p>
          <a:p>
            <a:pPr lvl="1"/>
            <a:r>
              <a:rPr lang="en-ID"/>
              <a:t>Train a model with labeled examples for domain-specific entities (e.g., admission path, product names).</a:t>
            </a:r>
          </a:p>
          <a:p>
            <a:r>
              <a:rPr lang="en-ID" b="1"/>
              <a:t>Statistical / ML Methods.</a:t>
            </a:r>
            <a:r>
              <a:rPr lang="en-ID"/>
              <a:t>	</a:t>
            </a:r>
          </a:p>
          <a:p>
            <a:pPr lvl="1"/>
            <a:r>
              <a:rPr lang="en-ID"/>
              <a:t>Sequence labeling with algorithms like CRF (Conditional Random Fields).</a:t>
            </a:r>
          </a:p>
          <a:p>
            <a:r>
              <a:rPr lang="en-ID" b="1"/>
              <a:t>Deep Learning / Transformers.</a:t>
            </a:r>
            <a:r>
              <a:rPr lang="en-ID"/>
              <a:t>	</a:t>
            </a:r>
          </a:p>
          <a:p>
            <a:pPr lvl="1"/>
            <a:r>
              <a:rPr lang="en-ID"/>
              <a:t>Contextual embeddings (BERT, RoBERTa, GPT) + fine-tuning for NER.</a:t>
            </a:r>
          </a:p>
          <a:p>
            <a:r>
              <a:rPr lang="en-ID" b="1"/>
              <a:t>Hybrid Approach.</a:t>
            </a:r>
            <a:r>
              <a:rPr lang="en-ID"/>
              <a:t>	</a:t>
            </a:r>
          </a:p>
          <a:p>
            <a:pPr lvl="1"/>
            <a:r>
              <a:rPr lang="en-ID"/>
              <a:t>Combine rules + ML models.</a:t>
            </a:r>
          </a:p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70345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F0280-2F76-BB6B-64C5-CAA7D39EA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Rule-based / Regex Matching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F84B9-71B9-E157-CB44-E6FF731DB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63009" cy="4351338"/>
          </a:xfrm>
        </p:spPr>
        <p:txBody>
          <a:bodyPr>
            <a:normAutofit lnSpcReduction="10000"/>
          </a:bodyPr>
          <a:lstStyle/>
          <a:p>
            <a:r>
              <a:rPr lang="en-US" b="1"/>
              <a:t>Manually</a:t>
            </a:r>
            <a:r>
              <a:rPr lang="en-US"/>
              <a:t> creating rules to recognize specific entities using regular expressions (regex) to detect matching </a:t>
            </a:r>
            <a:r>
              <a:rPr lang="en-US" b="1"/>
              <a:t>text</a:t>
            </a:r>
            <a:r>
              <a:rPr lang="en-US"/>
              <a:t> </a:t>
            </a:r>
            <a:r>
              <a:rPr lang="en-US" b="1"/>
              <a:t>patterns</a:t>
            </a:r>
            <a:r>
              <a:rPr lang="en-US"/>
              <a:t>.</a:t>
            </a:r>
          </a:p>
          <a:p>
            <a:r>
              <a:rPr lang="en-US"/>
              <a:t>This approach doesn't learn from data like machine learning, so it's only suitable if the entities have a clear pattern.</a:t>
            </a:r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186DC7-BEEB-1A1F-0B88-E189FB6C2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5467" y="2413352"/>
            <a:ext cx="6770457" cy="3251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589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E9C79-54D1-5679-CDB1-B48F79D04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9CA31-C734-E5A2-3947-124848783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Rule-based / Regex Matching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AB9FA3-705B-0074-71E4-C6B93F527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925" y="1791694"/>
            <a:ext cx="10093998" cy="33070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27E4C36-2E6D-A6B8-68A2-5C7308C71499}"/>
              </a:ext>
            </a:extLst>
          </p:cNvPr>
          <p:cNvSpPr txBox="1"/>
          <p:nvPr/>
        </p:nvSpPr>
        <p:spPr>
          <a:xfrm>
            <a:off x="2186609" y="5675243"/>
            <a:ext cx="78187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Works </a:t>
            </a:r>
            <a:r>
              <a:rPr lang="en-US" sz="2400" b="1"/>
              <a:t>best</a:t>
            </a:r>
            <a:r>
              <a:rPr lang="en-US" sz="2400"/>
              <a:t> when entities follow </a:t>
            </a:r>
            <a:r>
              <a:rPr lang="en-US" sz="2400" b="1"/>
              <a:t>strict, repetitive patterns</a:t>
            </a:r>
            <a:r>
              <a:rPr lang="en-US" sz="2400"/>
              <a:t>.</a:t>
            </a:r>
            <a:endParaRPr lang="en-ID" sz="2400"/>
          </a:p>
        </p:txBody>
      </p:sp>
    </p:spTree>
    <p:extLst>
      <p:ext uri="{BB962C8B-B14F-4D97-AF65-F5344CB8AC3E}">
        <p14:creationId xmlns:p14="http://schemas.microsoft.com/office/powerpoint/2010/main" val="504196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B54CA-2EF4-E4B3-7CBB-83253B2C5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Regex-based Entity Recognition</a:t>
            </a:r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B675CC-CEE4-323A-94F0-FB6696993E34}"/>
              </a:ext>
            </a:extLst>
          </p:cNvPr>
          <p:cNvSpPr txBox="1"/>
          <p:nvPr/>
        </p:nvSpPr>
        <p:spPr>
          <a:xfrm>
            <a:off x="6818243" y="1225689"/>
            <a:ext cx="4979505" cy="563231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D" sz="900"/>
              <a:t>import re</a:t>
            </a:r>
          </a:p>
          <a:p>
            <a:endParaRPr lang="en-ID" sz="900"/>
          </a:p>
          <a:p>
            <a:r>
              <a:rPr lang="en-ID" sz="900"/>
              <a:t># Contoh teks</a:t>
            </a:r>
          </a:p>
          <a:p>
            <a:r>
              <a:rPr lang="en-ID" sz="900"/>
              <a:t>texts = [</a:t>
            </a:r>
          </a:p>
          <a:p>
            <a:r>
              <a:rPr lang="en-ID" sz="900"/>
              <a:t>"Contact me at john.doe@gmail.com or call +1-202-555-0147 on 12/06/2025. My website is https://example.com.",</a:t>
            </a:r>
          </a:p>
          <a:p>
            <a:r>
              <a:rPr lang="en-ID" sz="900"/>
              <a:t>"My name is Ahmad Putra. You can contact me at andi@gmail.com or call me at +628123456789.I want to apply for Informatics at University of Indonesia.The exam will be held on 12/06/2025 and the fee is Rp 500.000."</a:t>
            </a:r>
          </a:p>
          <a:p>
            <a:r>
              <a:rPr lang="en-ID" sz="900"/>
              <a:t>]</a:t>
            </a:r>
          </a:p>
          <a:p>
            <a:endParaRPr lang="en-ID" sz="900"/>
          </a:p>
          <a:p>
            <a:r>
              <a:rPr lang="en-ID" sz="900"/>
              <a:t># Kumpulan pola regex untuk entity</a:t>
            </a:r>
          </a:p>
          <a:p>
            <a:r>
              <a:rPr lang="en-ID" sz="900"/>
              <a:t>patterns = {</a:t>
            </a:r>
          </a:p>
          <a:p>
            <a:r>
              <a:rPr lang="en-ID" sz="900"/>
              <a:t>    "EMAIL": r"[A-Za-z0-9._%+-]+@[A-Za-z0-9.-]+\.[A-Za-z]{2,}",</a:t>
            </a:r>
          </a:p>
          <a:p>
            <a:r>
              <a:rPr lang="en-ID" sz="900"/>
              <a:t>    "PHONE": r"\+?\d[\d -]{8,}\d",</a:t>
            </a:r>
          </a:p>
          <a:p>
            <a:r>
              <a:rPr lang="en-ID" sz="900"/>
              <a:t>    "DATE": r"\b\d{1,2}[/-]\d{1,2}[/-]\d{2,4}\b",</a:t>
            </a:r>
          </a:p>
          <a:p>
            <a:r>
              <a:rPr lang="en-ID" sz="900"/>
              <a:t>    "URL": r"https?:\/\/[^\s]+",</a:t>
            </a:r>
          </a:p>
          <a:p>
            <a:r>
              <a:rPr lang="en-ID" sz="900"/>
              <a:t>}</a:t>
            </a:r>
          </a:p>
          <a:p>
            <a:endParaRPr lang="en-ID" sz="900"/>
          </a:p>
          <a:p>
            <a:r>
              <a:rPr lang="en-ID" sz="900"/>
              <a:t># Fungsi Entity Recognition dengan Regex</a:t>
            </a:r>
          </a:p>
          <a:p>
            <a:r>
              <a:rPr lang="en-ID" sz="900"/>
              <a:t>def regex_entity_recognition(text, patterns):</a:t>
            </a:r>
          </a:p>
          <a:p>
            <a:r>
              <a:rPr lang="en-ID" sz="900"/>
              <a:t>    entities = []</a:t>
            </a:r>
          </a:p>
          <a:p>
            <a:r>
              <a:rPr lang="en-ID" sz="900"/>
              <a:t>    for label, pattern in patterns.items():</a:t>
            </a:r>
          </a:p>
          <a:p>
            <a:r>
              <a:rPr lang="en-ID" sz="900"/>
              <a:t>        matches = re.findall(pattern, text)</a:t>
            </a:r>
          </a:p>
          <a:p>
            <a:r>
              <a:rPr lang="en-ID" sz="900"/>
              <a:t>        for match in matches:</a:t>
            </a:r>
          </a:p>
          <a:p>
            <a:r>
              <a:rPr lang="en-ID" sz="900"/>
              <a:t>            entities.append({"entity": label, "value": match})</a:t>
            </a:r>
          </a:p>
          <a:p>
            <a:r>
              <a:rPr lang="en-ID" sz="900"/>
              <a:t>    return entities</a:t>
            </a:r>
          </a:p>
          <a:p>
            <a:endParaRPr lang="en-ID" sz="900"/>
          </a:p>
          <a:p>
            <a:r>
              <a:rPr lang="en-ID" sz="900"/>
              <a:t># ============== Jalankan ER</a:t>
            </a:r>
          </a:p>
          <a:p>
            <a:endParaRPr lang="en-ID" sz="900"/>
          </a:p>
          <a:p>
            <a:r>
              <a:rPr lang="en-ID" sz="900"/>
              <a:t>for text in texts:</a:t>
            </a:r>
          </a:p>
          <a:p>
            <a:r>
              <a:rPr lang="en-ID" sz="900"/>
              <a:t>    entities = regex_entity_recognition(text, patterns)</a:t>
            </a:r>
          </a:p>
          <a:p>
            <a:endParaRPr lang="en-ID" sz="900"/>
          </a:p>
          <a:p>
            <a:r>
              <a:rPr lang="en-ID" sz="900"/>
              <a:t>    # Tampilkan hasil</a:t>
            </a:r>
          </a:p>
          <a:p>
            <a:r>
              <a:rPr lang="en-ID" sz="900"/>
              <a:t>    print("Original Text:", text)</a:t>
            </a:r>
          </a:p>
          <a:p>
            <a:r>
              <a:rPr lang="en-ID" sz="900"/>
              <a:t>    print("\nRecognized Entities:")</a:t>
            </a:r>
          </a:p>
          <a:p>
            <a:r>
              <a:rPr lang="en-ID" sz="900"/>
              <a:t>    for ent in entities:</a:t>
            </a:r>
          </a:p>
          <a:p>
            <a:r>
              <a:rPr lang="en-ID" sz="900"/>
              <a:t>        print(f"- {ent['entity']}: {ent['value']}")</a:t>
            </a:r>
          </a:p>
          <a:p>
            <a:r>
              <a:rPr lang="en-ID" sz="900"/>
              <a:t>    print ()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87D42B-70BE-1A2E-1E66-DC9A3B30A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373" y="1928192"/>
            <a:ext cx="5148453" cy="3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987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8FC62-082B-42A2-2B78-A2B07AB63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Dictionary / Gazetteer Lookup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EE409-105E-18F2-74BB-2DA259AC7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This technique works by matching words or phrases in the text against a pre-prepared word list (dictionary/gazetteer).</a:t>
            </a:r>
          </a:p>
          <a:p>
            <a:r>
              <a:rPr lang="en-US"/>
              <a:t>Typically used for domain-specific entities whose list is already known, for example:</a:t>
            </a:r>
          </a:p>
          <a:p>
            <a:pPr lvl="1"/>
            <a:r>
              <a:rPr lang="en-US"/>
              <a:t>City → Jakarta, Bandung, Surabaya</a:t>
            </a:r>
          </a:p>
          <a:p>
            <a:pPr lvl="1"/>
            <a:r>
              <a:rPr lang="en-US"/>
              <a:t>University → University of Indonesia, ITB, UGM, ITS</a:t>
            </a:r>
          </a:p>
          <a:p>
            <a:pPr lvl="1"/>
            <a:r>
              <a:rPr lang="en-US"/>
              <a:t>Study Program → Informatics, Information Systems, Medicine, Law</a:t>
            </a:r>
          </a:p>
          <a:p>
            <a:r>
              <a:rPr lang="en-US"/>
              <a:t>Lack of flexibility: unable to recognize new entities outside the list.</a:t>
            </a:r>
          </a:p>
          <a:p>
            <a:r>
              <a:rPr lang="en-US"/>
              <a:t>Difficulty handling spelling variations (e.g., Univ. Indonesia vs. Universitas Indonesia).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342289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76F5E-B8FD-35BB-780A-9A0EF2F7A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Dictionary / Gazetteer Lookup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BC697C-274D-6F57-A78B-5AF94585C732}"/>
              </a:ext>
            </a:extLst>
          </p:cNvPr>
          <p:cNvSpPr txBox="1"/>
          <p:nvPr/>
        </p:nvSpPr>
        <p:spPr>
          <a:xfrm>
            <a:off x="6818243" y="1364835"/>
            <a:ext cx="4979505" cy="50475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D" sz="700"/>
              <a:t># Daftar entity (dictionary / gazetteer)</a:t>
            </a:r>
          </a:p>
          <a:p>
            <a:r>
              <a:rPr lang="en-ID" sz="700"/>
              <a:t>cities = ["Jakarta", "Bandung", "Surabaya"]</a:t>
            </a:r>
          </a:p>
          <a:p>
            <a:r>
              <a:rPr lang="en-ID" sz="700"/>
              <a:t>universities = ["Universitas Indonesia", "University of Indonesia", "Institut Teknologi Bandung", "Universitas Gadjah Mada"]</a:t>
            </a:r>
          </a:p>
          <a:p>
            <a:r>
              <a:rPr lang="en-ID" sz="700"/>
              <a:t>programs = ["Informatika", "Kedokteran", "Hukum"]</a:t>
            </a:r>
          </a:p>
          <a:p>
            <a:endParaRPr lang="en-ID" sz="700"/>
          </a:p>
          <a:p>
            <a:r>
              <a:rPr lang="en-ID" sz="700"/>
              <a:t># Contoh teks input</a:t>
            </a:r>
          </a:p>
          <a:p>
            <a:endParaRPr lang="en-ID" sz="700"/>
          </a:p>
          <a:p>
            <a:r>
              <a:rPr lang="en-ID" sz="700"/>
              <a:t>texts = [</a:t>
            </a:r>
          </a:p>
          <a:p>
            <a:r>
              <a:rPr lang="en-ID" sz="700"/>
              <a:t>"Contact me at john.doe@gmail.com or call +1-202-555-0147 on 12/06/2025. My website is https://example.com.",</a:t>
            </a:r>
          </a:p>
          <a:p>
            <a:r>
              <a:rPr lang="en-ID" sz="700"/>
              <a:t>"My name is Ahmad Putra. You can contact me at andi@gmail.com or call me at +628123456789.I want to apply for Informatics at University of Indonesia.The exam will be held on 12/06/2025 and the fee is Rp 500.000.",</a:t>
            </a:r>
          </a:p>
          <a:p>
            <a:r>
              <a:rPr lang="en-ID" sz="700"/>
              <a:t>"Saya ingin mendaftar di Universitas Indonesia jurusan Informatika, tapi saya tinggal di Bandung."</a:t>
            </a:r>
          </a:p>
          <a:p>
            <a:r>
              <a:rPr lang="en-ID" sz="700"/>
              <a:t>]</a:t>
            </a:r>
          </a:p>
          <a:p>
            <a:endParaRPr lang="en-ID" sz="700"/>
          </a:p>
          <a:p>
            <a:endParaRPr lang="en-ID" sz="700"/>
          </a:p>
          <a:p>
            <a:endParaRPr lang="en-ID" sz="700"/>
          </a:p>
          <a:p>
            <a:r>
              <a:rPr lang="en-ID" sz="700"/>
              <a:t># Fungsi Entity Recognition berbasis dictionary</a:t>
            </a:r>
          </a:p>
          <a:p>
            <a:r>
              <a:rPr lang="en-ID" sz="700"/>
              <a:t>def dictionary_entity_recognition(text, cities, universities, programs):</a:t>
            </a:r>
          </a:p>
          <a:p>
            <a:r>
              <a:rPr lang="en-ID" sz="700"/>
              <a:t>    entities = []</a:t>
            </a:r>
          </a:p>
          <a:p>
            <a:endParaRPr lang="en-ID" sz="700"/>
          </a:p>
          <a:p>
            <a:r>
              <a:rPr lang="en-ID" sz="700"/>
              <a:t>    for city in cities:</a:t>
            </a:r>
          </a:p>
          <a:p>
            <a:r>
              <a:rPr lang="en-ID" sz="700"/>
              <a:t>        if city in text:</a:t>
            </a:r>
          </a:p>
          <a:p>
            <a:r>
              <a:rPr lang="en-ID" sz="700"/>
              <a:t>            entities.append({"entity": "CITY", "value": city})</a:t>
            </a:r>
          </a:p>
          <a:p>
            <a:r>
              <a:rPr lang="en-ID" sz="700"/>
              <a:t>    for univ in universities:</a:t>
            </a:r>
          </a:p>
          <a:p>
            <a:r>
              <a:rPr lang="en-ID" sz="700"/>
              <a:t>        if univ in text:</a:t>
            </a:r>
          </a:p>
          <a:p>
            <a:r>
              <a:rPr lang="en-ID" sz="700"/>
              <a:t>            entities.append({"entity": "UNIVERSITY", "value": univ})</a:t>
            </a:r>
          </a:p>
          <a:p>
            <a:r>
              <a:rPr lang="en-ID" sz="700"/>
              <a:t>    for prog in programs:</a:t>
            </a:r>
          </a:p>
          <a:p>
            <a:r>
              <a:rPr lang="en-ID" sz="700"/>
              <a:t>        if prog in text:</a:t>
            </a:r>
          </a:p>
          <a:p>
            <a:r>
              <a:rPr lang="en-ID" sz="700"/>
              <a:t>            entities.append({"entity": "PROGRAM", "value": prog})</a:t>
            </a:r>
          </a:p>
          <a:p>
            <a:endParaRPr lang="en-ID" sz="700"/>
          </a:p>
          <a:p>
            <a:r>
              <a:rPr lang="en-ID" sz="700"/>
              <a:t>    return entities</a:t>
            </a:r>
          </a:p>
          <a:p>
            <a:endParaRPr lang="en-ID" sz="700"/>
          </a:p>
          <a:p>
            <a:r>
              <a:rPr lang="en-ID" sz="700"/>
              <a:t># ============= Jalankan</a:t>
            </a:r>
          </a:p>
          <a:p>
            <a:endParaRPr lang="en-ID" sz="700"/>
          </a:p>
          <a:p>
            <a:r>
              <a:rPr lang="en-ID" sz="700"/>
              <a:t>for text in texts:</a:t>
            </a:r>
          </a:p>
          <a:p>
            <a:r>
              <a:rPr lang="en-ID" sz="700"/>
              <a:t>    entities = dictionary_entity_recognition(text, cities, universities, programs)</a:t>
            </a:r>
          </a:p>
          <a:p>
            <a:endParaRPr lang="en-ID" sz="700"/>
          </a:p>
          <a:p>
            <a:r>
              <a:rPr lang="en-ID" sz="700"/>
              <a:t>    # Tampilkan hasil</a:t>
            </a:r>
          </a:p>
          <a:p>
            <a:r>
              <a:rPr lang="en-ID" sz="700"/>
              <a:t>    print("Original Text:", text)</a:t>
            </a:r>
          </a:p>
          <a:p>
            <a:r>
              <a:rPr lang="en-ID" sz="700"/>
              <a:t>    print("\nRecognized Entities:")</a:t>
            </a:r>
          </a:p>
          <a:p>
            <a:r>
              <a:rPr lang="en-ID" sz="700"/>
              <a:t>    for ent in entities:</a:t>
            </a:r>
          </a:p>
          <a:p>
            <a:r>
              <a:rPr lang="en-ID" sz="700"/>
              <a:t>        print(f"- {ent['entity']}: {ent['value']}")</a:t>
            </a:r>
          </a:p>
          <a:p>
            <a:r>
              <a:rPr lang="en-ID" sz="700"/>
              <a:t>    print ()</a:t>
            </a:r>
          </a:p>
          <a:p>
            <a:endParaRPr lang="en-ID" sz="700"/>
          </a:p>
          <a:p>
            <a:endParaRPr lang="en-ID" sz="700"/>
          </a:p>
          <a:p>
            <a:endParaRPr lang="en-ID" sz="7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244A2A-4AC7-EF51-C1D7-B061875D0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791" y="2007703"/>
            <a:ext cx="5957108" cy="313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1905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B940F-CF99-213E-0720-552E51293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Part-of-Speech (POS) Tagging + Heuristics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3B5C0-9ADF-E8CB-128E-46C4EFAD9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POS Taging, the process of assigning a word class label to each token, for example, noun (NN), verb (VB), adjective (adj/JJ).</a:t>
            </a:r>
          </a:p>
          <a:p>
            <a:r>
              <a:rPr lang="en-US"/>
              <a:t>Heuristics → additional rules that we create based on simple logic. For example:</a:t>
            </a:r>
          </a:p>
          <a:p>
            <a:pPr lvl="1"/>
            <a:r>
              <a:rPr lang="en-US"/>
              <a:t>Common noun (NN) + capital letter → candidate name of person or place.</a:t>
            </a:r>
          </a:p>
          <a:p>
            <a:pPr lvl="1"/>
            <a:r>
              <a:rPr lang="en-US"/>
              <a:t>Plural noun (NNS) after a verb → candidate object.</a:t>
            </a:r>
          </a:p>
          <a:p>
            <a:pPr lvl="1"/>
            <a:r>
              <a:rPr lang="en-US"/>
              <a:t>POS NNP (Proper Noun) → often considered an entity name of an organization, location, or person.</a:t>
            </a:r>
          </a:p>
          <a:p>
            <a:r>
              <a:rPr lang="en-US"/>
              <a:t>By combining POS tagging and heuristics, we can detect entities without large pretrained models like BERT/NER.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546237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E6D94-30CC-C939-9778-722E0F51E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Part-of-Speech (POS) Tagging + Heuristics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D595C9-7C65-448A-9812-3D5426AEB06A}"/>
              </a:ext>
            </a:extLst>
          </p:cNvPr>
          <p:cNvSpPr txBox="1"/>
          <p:nvPr/>
        </p:nvSpPr>
        <p:spPr>
          <a:xfrm>
            <a:off x="6818243" y="1364835"/>
            <a:ext cx="4979505" cy="472437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D" sz="700"/>
              <a:t>import spacy</a:t>
            </a:r>
          </a:p>
          <a:p>
            <a:endParaRPr lang="en-ID" sz="700"/>
          </a:p>
          <a:p>
            <a:r>
              <a:rPr lang="en-ID" sz="700"/>
              <a:t># Load spaCy English model</a:t>
            </a:r>
          </a:p>
          <a:p>
            <a:r>
              <a:rPr lang="en-ID" sz="700"/>
              <a:t>nlp = spacy.load("en_core_web_sm")</a:t>
            </a:r>
          </a:p>
          <a:p>
            <a:endParaRPr lang="en-ID" sz="700"/>
          </a:p>
          <a:p>
            <a:r>
              <a:rPr lang="en-ID" sz="700"/>
              <a:t># Contoh teks input</a:t>
            </a:r>
          </a:p>
          <a:p>
            <a:endParaRPr lang="en-ID" sz="700"/>
          </a:p>
          <a:p>
            <a:r>
              <a:rPr lang="en-ID" sz="700"/>
              <a:t>texts = [</a:t>
            </a:r>
          </a:p>
          <a:p>
            <a:r>
              <a:rPr lang="en-ID" sz="700"/>
              <a:t>"Contact me at john.doe@gmail.com or call +1-202-555-0147 on 12/06/2025. My website is https://example.com.",</a:t>
            </a:r>
          </a:p>
          <a:p>
            <a:r>
              <a:rPr lang="en-ID" sz="700"/>
              <a:t>"My name is Ahmad Putra. You can contact me at andi@gmail.com or call me at +628123456789.I want to apply for Informatics at University of Indonesia.The exam will be held on 12/06/2025 and the fee is Rp 500.000.",</a:t>
            </a:r>
          </a:p>
          <a:p>
            <a:r>
              <a:rPr lang="en-ID" sz="700"/>
              <a:t>"Saya ingin mendaftar di Universitas Indonesia jurusan Informatika, tapi saya tinggal di Bandung."</a:t>
            </a:r>
          </a:p>
          <a:p>
            <a:r>
              <a:rPr lang="en-ID" sz="700"/>
              <a:t>]</a:t>
            </a:r>
          </a:p>
          <a:p>
            <a:endParaRPr lang="en-ID" sz="700"/>
          </a:p>
          <a:p>
            <a:endParaRPr lang="en-ID" sz="700"/>
          </a:p>
          <a:p>
            <a:endParaRPr lang="en-ID" sz="700"/>
          </a:p>
          <a:p>
            <a:r>
              <a:rPr lang="en-ID" sz="700"/>
              <a:t>def pos_based_entity_recognition(text: str):</a:t>
            </a:r>
          </a:p>
          <a:p>
            <a:r>
              <a:rPr lang="en-ID" sz="700"/>
              <a:t>    doc = nlp(text)</a:t>
            </a:r>
          </a:p>
          <a:p>
            <a:r>
              <a:rPr lang="en-ID" sz="700"/>
              <a:t>    entities = []</a:t>
            </a:r>
          </a:p>
          <a:p>
            <a:endParaRPr lang="en-ID" sz="700"/>
          </a:p>
          <a:p>
            <a:r>
              <a:rPr lang="en-ID" sz="700"/>
              <a:t>    for token in doc:</a:t>
            </a:r>
          </a:p>
          <a:p>
            <a:r>
              <a:rPr lang="en-ID" sz="700"/>
              <a:t>        # Heuristik: proper noun → kandidat Person/Organization/Location</a:t>
            </a:r>
          </a:p>
          <a:p>
            <a:r>
              <a:rPr lang="en-ID" sz="700"/>
              <a:t>        if token.pos_ == "PROPN":</a:t>
            </a:r>
          </a:p>
          <a:p>
            <a:r>
              <a:rPr lang="en-ID" sz="700"/>
              <a:t>            entities.append({"token": token.text, "label": "Proper Noun (Candidate Entity)"})</a:t>
            </a:r>
          </a:p>
          <a:p>
            <a:r>
              <a:rPr lang="en-ID" sz="700"/>
              <a:t>        # Heuristik: common noun → kandidat General Entity</a:t>
            </a:r>
          </a:p>
          <a:p>
            <a:r>
              <a:rPr lang="en-ID" sz="700"/>
              <a:t>        elif token.pos_ == "NOUN":</a:t>
            </a:r>
          </a:p>
          <a:p>
            <a:r>
              <a:rPr lang="en-ID" sz="700"/>
              <a:t>            entities.append({"token": token.text, "label": "Noun (Candidate Entity)"})</a:t>
            </a:r>
          </a:p>
          <a:p>
            <a:endParaRPr lang="en-ID" sz="700"/>
          </a:p>
          <a:p>
            <a:r>
              <a:rPr lang="en-ID" sz="700"/>
              <a:t>    return {"original_text": text, "entities": entities}</a:t>
            </a:r>
          </a:p>
          <a:p>
            <a:endParaRPr lang="en-ID" sz="700"/>
          </a:p>
          <a:p>
            <a:endParaRPr lang="en-ID" sz="700"/>
          </a:p>
          <a:p>
            <a:r>
              <a:rPr lang="en-ID" sz="700"/>
              <a:t># ============= Jalankan</a:t>
            </a:r>
          </a:p>
          <a:p>
            <a:endParaRPr lang="en-ID" sz="700"/>
          </a:p>
          <a:p>
            <a:r>
              <a:rPr lang="en-ID" sz="700"/>
              <a:t>for text in texts:</a:t>
            </a:r>
          </a:p>
          <a:p>
            <a:r>
              <a:rPr lang="en-ID" sz="700"/>
              <a:t>    result = pos_based_entity_recognition(text)</a:t>
            </a:r>
          </a:p>
          <a:p>
            <a:endParaRPr lang="en-ID" sz="700"/>
          </a:p>
          <a:p>
            <a:r>
              <a:rPr lang="en-ID" sz="700"/>
              <a:t>    print("Original Text:", result["original_text"])</a:t>
            </a:r>
          </a:p>
          <a:p>
            <a:r>
              <a:rPr lang="en-ID" sz="700"/>
              <a:t>    print("Detected Entities:")</a:t>
            </a:r>
          </a:p>
          <a:p>
            <a:r>
              <a:rPr lang="en-ID" sz="700"/>
              <a:t>    for ent in result["entities"]:</a:t>
            </a:r>
          </a:p>
          <a:p>
            <a:r>
              <a:rPr lang="en-ID" sz="700"/>
              <a:t>        print(f"- {ent['token']} ({ent['label']})")</a:t>
            </a:r>
          </a:p>
          <a:p>
            <a:endParaRPr lang="en-ID" sz="700"/>
          </a:p>
          <a:p>
            <a:r>
              <a:rPr lang="en-ID" sz="700"/>
              <a:t>    print ()</a:t>
            </a:r>
          </a:p>
          <a:p>
            <a:endParaRPr lang="en-ID" sz="7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AD6D06-BFA9-3C56-8207-B432B5400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536" y="2046328"/>
            <a:ext cx="5818905" cy="27653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8B650A-AA26-79FE-8BEC-487FEF12B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0010" y="5498573"/>
            <a:ext cx="2648320" cy="59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4028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08A40-98D7-F9BE-D46E-9F15B8492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BERT + Regex Hybrid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6AA25-59BC-2636-8843-C84EFD9DF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91150" cy="4351338"/>
          </a:xfrm>
        </p:spPr>
        <p:txBody>
          <a:bodyPr/>
          <a:lstStyle/>
          <a:p>
            <a:r>
              <a:rPr lang="en-US"/>
              <a:t>Use BERT for complex entities (Person, Org, Location)</a:t>
            </a:r>
          </a:p>
          <a:p>
            <a:r>
              <a:rPr lang="en-US"/>
              <a:t>Use Regex/Dictionary for fixed formats (Email, Phone, Date, URL)</a:t>
            </a:r>
            <a:endParaRPr lang="en-ID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66BC7D-F829-A9EF-4171-140F5FD6582B}"/>
              </a:ext>
            </a:extLst>
          </p:cNvPr>
          <p:cNvSpPr txBox="1"/>
          <p:nvPr/>
        </p:nvSpPr>
        <p:spPr>
          <a:xfrm>
            <a:off x="7829550" y="1554480"/>
            <a:ext cx="3989070" cy="4939814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D" sz="500"/>
              <a:t>from transformers import pipeline</a:t>
            </a:r>
          </a:p>
          <a:p>
            <a:r>
              <a:rPr lang="en-ID" sz="500"/>
              <a:t>import re</a:t>
            </a:r>
          </a:p>
          <a:p>
            <a:endParaRPr lang="en-ID" sz="500"/>
          </a:p>
          <a:p>
            <a:r>
              <a:rPr lang="en-ID" sz="500"/>
              <a:t>def hybrid_entity_recognition(text):</a:t>
            </a:r>
          </a:p>
          <a:p>
            <a:r>
              <a:rPr lang="en-ID" sz="500"/>
              <a:t>    # 1. BERT-based NER</a:t>
            </a:r>
          </a:p>
          <a:p>
            <a:r>
              <a:rPr lang="en-ID" sz="500"/>
              <a:t>    ner_pipeline = pipeline("ner", model="dslim/bert-base-NER", aggregation_strategy="simple")</a:t>
            </a:r>
          </a:p>
          <a:p>
            <a:r>
              <a:rPr lang="en-ID" sz="500"/>
              <a:t>    bert_entities = ner_pipeline(text)</a:t>
            </a:r>
          </a:p>
          <a:p>
            <a:endParaRPr lang="en-ID" sz="500"/>
          </a:p>
          <a:p>
            <a:r>
              <a:rPr lang="en-ID" sz="500"/>
              <a:t>    # Standardisasi key dari BERT ke format seragam</a:t>
            </a:r>
          </a:p>
          <a:p>
            <a:r>
              <a:rPr lang="en-ID" sz="500"/>
              <a:t>    standardized_bert_entities = [</a:t>
            </a:r>
          </a:p>
          <a:p>
            <a:r>
              <a:rPr lang="en-ID" sz="500"/>
              <a:t>        {</a:t>
            </a:r>
          </a:p>
          <a:p>
            <a:r>
              <a:rPr lang="en-ID" sz="500"/>
              <a:t>            "entity": ent["entity_group"],</a:t>
            </a:r>
          </a:p>
          <a:p>
            <a:r>
              <a:rPr lang="en-ID" sz="500"/>
              <a:t>            "word": ent["word"],</a:t>
            </a:r>
          </a:p>
          <a:p>
            <a:r>
              <a:rPr lang="en-ID" sz="500"/>
              <a:t>            "score": ent["score"],</a:t>
            </a:r>
          </a:p>
          <a:p>
            <a:r>
              <a:rPr lang="en-ID" sz="500"/>
              <a:t>            "start": ent["start"],</a:t>
            </a:r>
          </a:p>
          <a:p>
            <a:r>
              <a:rPr lang="en-ID" sz="500"/>
              <a:t>            "end": ent["end"],</a:t>
            </a:r>
          </a:p>
          <a:p>
            <a:r>
              <a:rPr lang="en-ID" sz="500"/>
              <a:t>        }</a:t>
            </a:r>
          </a:p>
          <a:p>
            <a:r>
              <a:rPr lang="en-ID" sz="500"/>
              <a:t>        for ent in bert_entities</a:t>
            </a:r>
          </a:p>
          <a:p>
            <a:r>
              <a:rPr lang="en-ID" sz="500"/>
              <a:t>    ]</a:t>
            </a:r>
          </a:p>
          <a:p>
            <a:endParaRPr lang="en-ID" sz="500"/>
          </a:p>
          <a:p>
            <a:r>
              <a:rPr lang="en-ID" sz="500"/>
              <a:t>    # 2. Regex-based NER</a:t>
            </a:r>
          </a:p>
          <a:p>
            <a:r>
              <a:rPr lang="en-ID" sz="500"/>
              <a:t>    regex_patterns = {</a:t>
            </a:r>
          </a:p>
          <a:p>
            <a:r>
              <a:rPr lang="en-ID" sz="500"/>
              <a:t>        "EMAIL": r"[a-zA-Z0-9._%+-]+@[a-zA-Z0-9.-]+\.[a-zA-Z]{2,}",</a:t>
            </a:r>
          </a:p>
          <a:p>
            <a:r>
              <a:rPr lang="en-ID" sz="500"/>
              <a:t>        "PHONE": r"\+?\d{1,3}[-\s]?\d{3}[-\s]?\d{3}[-\s]?\d{4}",</a:t>
            </a:r>
          </a:p>
          <a:p>
            <a:r>
              <a:rPr lang="en-ID" sz="500"/>
              <a:t>        "DATE": r"\b\d{1,2}[/-]\d{1,2}[/-]\d{2,4}\b",</a:t>
            </a:r>
          </a:p>
          <a:p>
            <a:r>
              <a:rPr lang="en-ID" sz="500"/>
              <a:t>        "URL": r"https?://[^\s]+",</a:t>
            </a:r>
          </a:p>
          <a:p>
            <a:r>
              <a:rPr lang="en-ID" sz="500"/>
              <a:t>    }</a:t>
            </a:r>
          </a:p>
          <a:p>
            <a:endParaRPr lang="en-ID" sz="500"/>
          </a:p>
          <a:p>
            <a:r>
              <a:rPr lang="en-ID" sz="500"/>
              <a:t>    regex_entities = []</a:t>
            </a:r>
          </a:p>
          <a:p>
            <a:r>
              <a:rPr lang="en-ID" sz="500"/>
              <a:t>    for label, pattern in regex_patterns.items():</a:t>
            </a:r>
          </a:p>
          <a:p>
            <a:r>
              <a:rPr lang="en-ID" sz="500"/>
              <a:t>        for match in re.finditer(pattern, text):</a:t>
            </a:r>
          </a:p>
          <a:p>
            <a:r>
              <a:rPr lang="en-ID" sz="500"/>
              <a:t>            regex_entities.append({</a:t>
            </a:r>
          </a:p>
          <a:p>
            <a:r>
              <a:rPr lang="en-ID" sz="500"/>
              <a:t>                "entity": label,</a:t>
            </a:r>
          </a:p>
          <a:p>
            <a:r>
              <a:rPr lang="en-ID" sz="500"/>
              <a:t>                "word": match.group(),</a:t>
            </a:r>
          </a:p>
          <a:p>
            <a:r>
              <a:rPr lang="en-ID" sz="500"/>
              <a:t>                "score": 1.0,   # Regex tidak pakai probabilitas</a:t>
            </a:r>
          </a:p>
          <a:p>
            <a:r>
              <a:rPr lang="en-ID" sz="500"/>
              <a:t>                "start": match.start(),</a:t>
            </a:r>
          </a:p>
          <a:p>
            <a:r>
              <a:rPr lang="en-ID" sz="500"/>
              <a:t>                "end": match.end(),</a:t>
            </a:r>
          </a:p>
          <a:p>
            <a:r>
              <a:rPr lang="en-ID" sz="500"/>
              <a:t>            })</a:t>
            </a:r>
          </a:p>
          <a:p>
            <a:endParaRPr lang="en-ID" sz="500"/>
          </a:p>
          <a:p>
            <a:r>
              <a:rPr lang="en-ID" sz="500"/>
              <a:t>    # 3. Gabungkan hasil BERT + Regex</a:t>
            </a:r>
          </a:p>
          <a:p>
            <a:r>
              <a:rPr lang="en-ID" sz="500"/>
              <a:t>    all_entities = standardized_bert_entities + regex_entities</a:t>
            </a:r>
          </a:p>
          <a:p>
            <a:endParaRPr lang="en-ID" sz="500"/>
          </a:p>
          <a:p>
            <a:r>
              <a:rPr lang="en-ID" sz="500"/>
              <a:t>    return all_entities</a:t>
            </a:r>
          </a:p>
          <a:p>
            <a:endParaRPr lang="en-ID" sz="500"/>
          </a:p>
          <a:p>
            <a:endParaRPr lang="en-ID" sz="500"/>
          </a:p>
          <a:p>
            <a:r>
              <a:rPr lang="en-ID" sz="500"/>
              <a:t># ==== Contoh Pemakaian ====</a:t>
            </a:r>
          </a:p>
          <a:p>
            <a:endParaRPr lang="en-ID" sz="500"/>
          </a:p>
          <a:p>
            <a:r>
              <a:rPr lang="en-ID" sz="500"/>
              <a:t>texts = [</a:t>
            </a:r>
          </a:p>
          <a:p>
            <a:r>
              <a:rPr lang="en-ID" sz="500"/>
              <a:t>"My name is John Doe, contact me at john.doe@gmail.com or call +1-202-555-0147 on 12/06/2025. My website is https://example.com. Meet Alice at Google HQ.",</a:t>
            </a:r>
          </a:p>
          <a:p>
            <a:r>
              <a:rPr lang="en-ID" sz="500"/>
              <a:t>"My name is Ahmad Putra. You can contact me at andi@gmail.com or call me at +628123456789.I want to apply for Informatics at University of Indonesia.The exam will be held on 12/06/2025 and the fee is Rp 500.000.",</a:t>
            </a:r>
          </a:p>
          <a:p>
            <a:r>
              <a:rPr lang="en-ID" sz="500"/>
              <a:t>"Saya ingin mendaftar di Universitas Indonesia jurusan Informatika, tapi saya tinggal di Bandung."</a:t>
            </a:r>
          </a:p>
          <a:p>
            <a:r>
              <a:rPr lang="en-ID" sz="500"/>
              <a:t>]</a:t>
            </a:r>
          </a:p>
          <a:p>
            <a:endParaRPr lang="en-ID" sz="500"/>
          </a:p>
          <a:p>
            <a:r>
              <a:rPr lang="en-ID" sz="500"/>
              <a:t>for text in texts:</a:t>
            </a:r>
          </a:p>
          <a:p>
            <a:r>
              <a:rPr lang="en-ID" sz="500"/>
              <a:t>    entities = hybrid_entity_recognition(text)</a:t>
            </a:r>
          </a:p>
          <a:p>
            <a:endParaRPr lang="en-ID" sz="500"/>
          </a:p>
          <a:p>
            <a:r>
              <a:rPr lang="en-ID" sz="500"/>
              <a:t>    for ent in entities:</a:t>
            </a:r>
          </a:p>
          <a:p>
            <a:r>
              <a:rPr lang="en-ID" sz="500"/>
              <a:t>        print(f"{ent['word']:&lt;30} --&gt; {ent['entity']} (start={ent['start']}, end={ent['end']})")</a:t>
            </a:r>
          </a:p>
          <a:p>
            <a:r>
              <a:rPr lang="en-ID" sz="500"/>
              <a:t>    print ()</a:t>
            </a:r>
          </a:p>
          <a:p>
            <a:endParaRPr lang="en-ID" sz="500"/>
          </a:p>
          <a:p>
            <a:endParaRPr lang="en-ID" sz="5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9A3844-4C16-666E-D90D-D9B8EA87B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505" y="3808020"/>
            <a:ext cx="7030431" cy="16671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F14E8D6-A683-D727-12E1-AFCDFD4145FA}"/>
              </a:ext>
            </a:extLst>
          </p:cNvPr>
          <p:cNvSpPr txBox="1"/>
          <p:nvPr/>
        </p:nvSpPr>
        <p:spPr>
          <a:xfrm>
            <a:off x="1182757" y="5774635"/>
            <a:ext cx="57348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"My name is John Doe, contact me at john.doe@gmail.com or call +1-202-555-0147 on 12/06/2025. My website is https://example.com. Meet Alice at Google HQ."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863222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CF492-DD4D-F3C9-DE68-EF4AA8DC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LLM for Entity Recognition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F8F42-0A6F-822B-B599-8068F219D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Create prompt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Send the prompt to LLM</a:t>
            </a:r>
          </a:p>
          <a:p>
            <a:r>
              <a:rPr lang="en-US"/>
              <a:t>Get the result </a:t>
            </a:r>
          </a:p>
          <a:p>
            <a:pPr marL="0" indent="0">
              <a:buNone/>
            </a:pPr>
            <a:endParaRPr lang="en-US"/>
          </a:p>
          <a:p>
            <a:endParaRPr lang="en-ID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5F2A66-B74D-5935-8377-D92C8538BA52}"/>
              </a:ext>
            </a:extLst>
          </p:cNvPr>
          <p:cNvSpPr txBox="1"/>
          <p:nvPr/>
        </p:nvSpPr>
        <p:spPr>
          <a:xfrm>
            <a:off x="1679714" y="2399541"/>
            <a:ext cx="590384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text = "My name is John Doe, contact me at john.doe@gmail.com or call +1-202-555-0147 on 12/06/2025. My website is https://example.com. Meet Alice at Google HQ.“</a:t>
            </a:r>
          </a:p>
          <a:p>
            <a:endParaRPr lang="en-US"/>
          </a:p>
          <a:p>
            <a:r>
              <a:rPr lang="en-US"/>
              <a:t># Prompt manual</a:t>
            </a:r>
          </a:p>
          <a:p>
            <a:r>
              <a:rPr lang="en-US"/>
              <a:t>prompt = f"Extract entities (PERSON, EMAIL, PHONE, DATE, URL, ORGANIZATION) from the following text: {text}"</a:t>
            </a:r>
            <a:endParaRPr lang="en-ID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64C9D9-26EE-F7E4-9A82-822E4140C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9483" y="2564218"/>
            <a:ext cx="4032901" cy="271346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7482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llout: Quad Arrow 1">
            <a:extLst>
              <a:ext uri="{FF2B5EF4-FFF2-40B4-BE49-F238E27FC236}">
                <a16:creationId xmlns:a16="http://schemas.microsoft.com/office/drawing/2014/main" id="{ED5EAC65-A2AD-4653-E336-BDB3999D18BF}"/>
              </a:ext>
            </a:extLst>
          </p:cNvPr>
          <p:cNvSpPr/>
          <p:nvPr/>
        </p:nvSpPr>
        <p:spPr>
          <a:xfrm>
            <a:off x="4343400" y="2171700"/>
            <a:ext cx="2514600" cy="2080260"/>
          </a:xfrm>
          <a:prstGeom prst="quad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669732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2DF28-BEA7-6609-7950-B26801871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Bagaimana mengetahui library yang dibutuhkan oleh spacy?</a:t>
            </a:r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ADB970-84DE-589C-B25E-A6A06247A0D3}"/>
              </a:ext>
            </a:extLst>
          </p:cNvPr>
          <p:cNvSpPr txBox="1"/>
          <p:nvPr/>
        </p:nvSpPr>
        <p:spPr>
          <a:xfrm>
            <a:off x="1268730" y="2366010"/>
            <a:ext cx="6320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$ pip show spacy</a:t>
            </a:r>
          </a:p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27037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1574</TotalTime>
  <Words>2217</Words>
  <Application>Microsoft Office PowerPoint</Application>
  <PresentationFormat>Widescreen</PresentationFormat>
  <Paragraphs>268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Wingdings</vt:lpstr>
      <vt:lpstr>Office Theme</vt:lpstr>
      <vt:lpstr>Entity Recognition</vt:lpstr>
      <vt:lpstr>Entity Recognition</vt:lpstr>
      <vt:lpstr>Named Entity Recognition (NER)</vt:lpstr>
      <vt:lpstr>Entity Recognition vs Named Entity Recognition (NER)</vt:lpstr>
      <vt:lpstr>Types of entities</vt:lpstr>
      <vt:lpstr>How to recognize entity?</vt:lpstr>
      <vt:lpstr>Rule-based / Regex Matching</vt:lpstr>
      <vt:lpstr>Rule-based / Regex Matching</vt:lpstr>
      <vt:lpstr>Regex-based Entity Recognition</vt:lpstr>
      <vt:lpstr>Dictionary / Gazetteer Lookup</vt:lpstr>
      <vt:lpstr>Dictionary / Gazetteer Lookup</vt:lpstr>
      <vt:lpstr>Part-of-Speech (POS) Tagging + Heuristics</vt:lpstr>
      <vt:lpstr>Part-of-Speech (POS) Tagging + Heuristics</vt:lpstr>
      <vt:lpstr>BERT + Regex Hybrid Approach</vt:lpstr>
      <vt:lpstr>LLM for Entity Recognition</vt:lpstr>
      <vt:lpstr>PowerPoint Presentation</vt:lpstr>
      <vt:lpstr>Bagaimana mengetahui library yang dibutuhkan oleh spacy?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Reviewer</dc:creator>
  <cp:lastModifiedBy>Reviewer</cp:lastModifiedBy>
  <cp:revision>16</cp:revision>
  <dcterms:created xsi:type="dcterms:W3CDTF">2025-09-03T13:32:04Z</dcterms:created>
  <dcterms:modified xsi:type="dcterms:W3CDTF">2025-09-10T14:59:41Z</dcterms:modified>
</cp:coreProperties>
</file>