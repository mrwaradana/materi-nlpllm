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1" r:id="rId3"/>
    <p:sldId id="257" r:id="rId4"/>
    <p:sldId id="258" r:id="rId5"/>
    <p:sldId id="259" r:id="rId6"/>
    <p:sldId id="260" r:id="rId7"/>
    <p:sldId id="261" r:id="rId8"/>
    <p:sldId id="262" r:id="rId9"/>
    <p:sldId id="265" r:id="rId10"/>
    <p:sldId id="266" r:id="rId11"/>
    <p:sldId id="267" r:id="rId12"/>
    <p:sldId id="268" r:id="rId13"/>
    <p:sldId id="269" r:id="rId14"/>
    <p:sldId id="270" r:id="rId15"/>
    <p:sldId id="272" r:id="rId16"/>
    <p:sldId id="280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1" r:id="rId25"/>
    <p:sldId id="282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39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21CB1-4439-9EA6-CA8D-D2EB40074C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7B361D-AD09-A38B-2CFF-5730ED0BB8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52A41C-C535-C4A7-63BB-68F6F2AFE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46C41-E43A-4F4C-AA87-D4DB6C0DDCE6}" type="datetimeFigureOut">
              <a:rPr lang="en-ID" smtClean="0"/>
              <a:t>03/09/2025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9F2BB-88C8-E740-DF8D-58C19B965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4F36F5-117F-B3C3-8D59-302FA93F9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E71BB-8203-4D69-97CD-B3FCE4A047A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20192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23D19-1B85-5257-FF8C-814D884D5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3FEA6-03ED-FC7C-F48C-15B1DFFE2F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FA55C4-1BEA-5555-B513-4A51C8E67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46C41-E43A-4F4C-AA87-D4DB6C0DDCE6}" type="datetimeFigureOut">
              <a:rPr lang="en-ID" smtClean="0"/>
              <a:t>03/09/2025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9A8A7-3275-68C4-E8B3-113EF8B56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838D66-482F-41E8-4B27-A417B471D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E71BB-8203-4D69-97CD-B3FCE4A047A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86255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D10D6-3DFA-8EEF-EE03-9B60824EB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3D7070-6D1D-3034-7291-6A82E95B0C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3F1558-8EE8-3142-A27E-5A06831CD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46C41-E43A-4F4C-AA87-D4DB6C0DDCE6}" type="datetimeFigureOut">
              <a:rPr lang="en-ID" smtClean="0"/>
              <a:t>03/09/2025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95D31A-5A2F-CFAA-0DE0-114147EB7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75B67-201E-BD0A-E5F1-366591A84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E71BB-8203-4D69-97CD-B3FCE4A047A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2068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4BB05-3A2E-07CC-E924-0EF4A5555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0F9DE-5945-1827-056C-EBB46FFC50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C2632C-D63B-9D77-9B18-2027FEF7AD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726613-A561-3972-8E73-7D06F866A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46C41-E43A-4F4C-AA87-D4DB6C0DDCE6}" type="datetimeFigureOut">
              <a:rPr lang="en-ID" smtClean="0"/>
              <a:t>03/09/2025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F0F4FB-B12B-597D-B010-851FDCAA3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7C52CF-D1A6-87EF-5106-42E4A2EF0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E71BB-8203-4D69-97CD-B3FCE4A047A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27509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6494A-4990-B69F-DCCB-F95A3F177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63C59A-BB21-2B32-2320-108F031CAC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3522D6-0428-B21C-430A-7C49AB560B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6F749D-2DE9-D737-85AC-8E786DAF00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99D132-351C-4BE1-B81D-960A47BBCE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C630D1-2DEB-38AC-580B-387BFA191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46C41-E43A-4F4C-AA87-D4DB6C0DDCE6}" type="datetimeFigureOut">
              <a:rPr lang="en-ID" smtClean="0"/>
              <a:t>03/09/2025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9F2C4F-F725-EB2E-53AD-1414DF28A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0DA3CA-684C-1CC5-1BB6-725292217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E71BB-8203-4D69-97CD-B3FCE4A047A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86085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7E070-DC9C-E351-8E94-59BAD9528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032B66-B16C-D535-6E43-B96874171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46C41-E43A-4F4C-AA87-D4DB6C0DDCE6}" type="datetimeFigureOut">
              <a:rPr lang="en-ID" smtClean="0"/>
              <a:t>03/09/2025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B4BA2A-78E9-30BF-0D9B-0355C15A4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0545D5-8563-4D52-786A-AA6027FE7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E71BB-8203-4D69-97CD-B3FCE4A047A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90470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8E5B3A-137D-EFBE-36B4-11E8B8894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46C41-E43A-4F4C-AA87-D4DB6C0DDCE6}" type="datetimeFigureOut">
              <a:rPr lang="en-ID" smtClean="0"/>
              <a:t>03/09/2025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517C73-82C4-E08E-411C-0931F8D9F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6F9EE0-46D9-8D98-B85F-F35A4AE49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E71BB-8203-4D69-97CD-B3FCE4A047A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21201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F5B54-4D51-8A41-5D42-1E9E61B38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B706FF-E7A6-52BB-9442-A9A31F6E3D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43CAA0-7A20-1772-586F-8746229D63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46C5E-DE38-3EF4-0C10-A4258C5C3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46C41-E43A-4F4C-AA87-D4DB6C0DDCE6}" type="datetimeFigureOut">
              <a:rPr lang="en-ID" smtClean="0"/>
              <a:t>03/09/2025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1EAB83-7C48-13E2-F1ED-CD444FDB8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1ED2F0-49DB-E994-F9CD-FB143249B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E71BB-8203-4D69-97CD-B3FCE4A047A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4980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CDF29-5BBE-D0E9-10AF-31D69519F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24FD66-4D77-8B8C-E79C-9966B640E5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B5D181-771A-9DE9-27E4-FF98157363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70A9BA-F579-43CE-D24B-A94912B96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46C41-E43A-4F4C-AA87-D4DB6C0DDCE6}" type="datetimeFigureOut">
              <a:rPr lang="en-ID" smtClean="0"/>
              <a:t>03/09/2025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E2701B-FAFF-24CF-67D1-5C78C56A8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674906-13E2-38F1-F03A-4B93C5EAB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E71BB-8203-4D69-97CD-B3FCE4A047A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32415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16956-522A-11E6-E2C6-96CBA4CFA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34AA07-9813-E239-9747-232A9ED528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361212-5FC9-DCCD-2BD0-E187BA9F8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46C41-E43A-4F4C-AA87-D4DB6C0DDCE6}" type="datetimeFigureOut">
              <a:rPr lang="en-ID" smtClean="0"/>
              <a:t>03/09/2025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A006A-06FE-2FBF-A5AB-854E99D7E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455792-2828-60C2-2EC9-57EB48401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E71BB-8203-4D69-97CD-B3FCE4A047A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49125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85817D-F237-CCC1-8CFF-22E35FA799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5D2EE-FAF6-DA83-041E-B9F32DE8F0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A58073-60B6-9D4A-82BA-6DA833DDE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46C41-E43A-4F4C-AA87-D4DB6C0DDCE6}" type="datetimeFigureOut">
              <a:rPr lang="en-ID" smtClean="0"/>
              <a:t>03/09/2025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333186-4E90-96C9-A8E7-46F7AEBEC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9CD0B0-EAEC-4581-443F-A0FDF65CF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E71BB-8203-4D69-97CD-B3FCE4A047A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71292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F68EB0-ADC7-F8F2-964E-81E574DD2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67029A-D366-EA16-1284-D04AB563BE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FFF0DD-C667-AB4B-BE48-EBE7D74520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746C41-E43A-4F4C-AA87-D4DB6C0DDCE6}" type="datetimeFigureOut">
              <a:rPr lang="en-ID" smtClean="0"/>
              <a:t>03/09/2025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05F962-3CD4-5F02-F86F-7F52EEE9FA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8055D0-9EE2-BA40-DF0C-5E37A45874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1E71BB-8203-4D69-97CD-B3FCE4A047A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65214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EFFE0-E0D9-2F05-67D2-895C26D859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D" dirty="0"/>
              <a:t>Natural Language Understanding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F5E688-28BB-098F-53DF-0F0853BB7C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16626"/>
            <a:ext cx="9144000" cy="1441174"/>
          </a:xfrm>
        </p:spPr>
        <p:txBody>
          <a:bodyPr/>
          <a:lstStyle/>
          <a:p>
            <a:r>
              <a:rPr lang="en-US" dirty="0"/>
              <a:t>atjahyanto@gmail.com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20023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1160192-FF33-07DD-FF54-C61F867EB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Chatbot Architecture</a:t>
            </a:r>
            <a:endParaRPr lang="en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D37D8A-CFFB-7F83-2347-D87ADE79CA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5209" y="2096741"/>
            <a:ext cx="9562258" cy="3757405"/>
          </a:xfrm>
          <a:prstGeom prst="rect">
            <a:avLst/>
          </a:prstGeom>
        </p:spPr>
      </p:pic>
      <p:sp>
        <p:nvSpPr>
          <p:cNvPr id="5" name="Arrow: Down 4">
            <a:extLst>
              <a:ext uri="{FF2B5EF4-FFF2-40B4-BE49-F238E27FC236}">
                <a16:creationId xmlns:a16="http://schemas.microsoft.com/office/drawing/2014/main" id="{F53EAD97-3DEB-35DC-D820-C59C77C583E8}"/>
              </a:ext>
            </a:extLst>
          </p:cNvPr>
          <p:cNvSpPr/>
          <p:nvPr/>
        </p:nvSpPr>
        <p:spPr>
          <a:xfrm>
            <a:off x="4711148" y="1480930"/>
            <a:ext cx="914400" cy="61581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313765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DBB14-5AF9-3A14-BEC9-D6BCBFBC4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Natural Language Understanding (NLU)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0BD72-53EC-96AC-7BA9-14EC1D2003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53270" cy="4351338"/>
          </a:xfrm>
        </p:spPr>
        <p:txBody>
          <a:bodyPr>
            <a:normAutofit fontScale="92500" lnSpcReduction="20000"/>
          </a:bodyPr>
          <a:lstStyle/>
          <a:p>
            <a:r>
              <a:rPr lang="en-ID" dirty="0" err="1"/>
              <a:t>Memahami</a:t>
            </a:r>
            <a:r>
              <a:rPr lang="en-ID" dirty="0"/>
              <a:t> </a:t>
            </a:r>
            <a:r>
              <a:rPr lang="en-ID" b="1" dirty="0" err="1"/>
              <a:t>makna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teks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ucapan</a:t>
            </a:r>
            <a:r>
              <a:rPr lang="en-ID" dirty="0"/>
              <a:t> </a:t>
            </a:r>
            <a:r>
              <a:rPr lang="en-ID" dirty="0" err="1"/>
              <a:t>manusia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b="1" dirty="0" err="1"/>
              <a:t>semantik</a:t>
            </a:r>
            <a:r>
              <a:rPr lang="en-ID" dirty="0"/>
              <a:t> dan </a:t>
            </a:r>
            <a:r>
              <a:rPr lang="en-ID" b="1" dirty="0" err="1"/>
              <a:t>kontekstual</a:t>
            </a:r>
            <a:r>
              <a:rPr lang="en-ID" dirty="0"/>
              <a:t>. </a:t>
            </a:r>
          </a:p>
          <a:p>
            <a:r>
              <a:rPr lang="en-ID" dirty="0" err="1"/>
              <a:t>Memungkinkan</a:t>
            </a:r>
            <a:r>
              <a:rPr lang="en-ID" dirty="0"/>
              <a:t> </a:t>
            </a:r>
            <a:r>
              <a:rPr lang="en-ID" dirty="0" err="1"/>
              <a:t>mesin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memahami</a:t>
            </a:r>
            <a:r>
              <a:rPr lang="en-ID" dirty="0"/>
              <a:t> </a:t>
            </a:r>
            <a:r>
              <a:rPr lang="en-ID" dirty="0" err="1"/>
              <a:t>apa</a:t>
            </a:r>
            <a:r>
              <a:rPr lang="en-ID" dirty="0"/>
              <a:t> yang </a:t>
            </a:r>
            <a:r>
              <a:rPr lang="en-ID" b="1" dirty="0" err="1"/>
              <a:t>dimaksud</a:t>
            </a:r>
            <a:r>
              <a:rPr lang="en-ID" dirty="0"/>
              <a:t> oleh </a:t>
            </a:r>
            <a:r>
              <a:rPr lang="en-ID" dirty="0" err="1"/>
              <a:t>pengguna</a:t>
            </a:r>
            <a:r>
              <a:rPr lang="en-ID" dirty="0"/>
              <a:t>, </a:t>
            </a:r>
            <a:r>
              <a:rPr lang="en-ID" dirty="0" err="1"/>
              <a:t>bukan</a:t>
            </a:r>
            <a:r>
              <a:rPr lang="en-ID" dirty="0"/>
              <a:t> </a:t>
            </a:r>
            <a:r>
              <a:rPr lang="en-ID" dirty="0" err="1"/>
              <a:t>hanya</a:t>
            </a:r>
            <a:r>
              <a:rPr lang="en-ID" dirty="0"/>
              <a:t> </a:t>
            </a:r>
            <a:r>
              <a:rPr lang="en-ID" dirty="0" err="1"/>
              <a:t>mengenali</a:t>
            </a:r>
            <a:r>
              <a:rPr lang="en-ID" dirty="0"/>
              <a:t> kata-kata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harfiah</a:t>
            </a:r>
            <a:r>
              <a:rPr lang="en-ID" dirty="0"/>
              <a:t>.</a:t>
            </a:r>
          </a:p>
          <a:p>
            <a:pPr lvl="1"/>
            <a:r>
              <a:rPr lang="en-ID" dirty="0" err="1"/>
              <a:t>Mengenali</a:t>
            </a:r>
            <a:r>
              <a:rPr lang="en-ID" dirty="0"/>
              <a:t> </a:t>
            </a:r>
            <a:r>
              <a:rPr lang="en-ID" b="1" dirty="0" err="1"/>
              <a:t>maksud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tujuan</a:t>
            </a:r>
            <a:r>
              <a:rPr lang="en-ID" dirty="0"/>
              <a:t> (intent)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suatu</a:t>
            </a:r>
            <a:r>
              <a:rPr lang="en-ID" dirty="0"/>
              <a:t> </a:t>
            </a:r>
            <a:r>
              <a:rPr lang="en-ID" dirty="0" err="1"/>
              <a:t>kalimat</a:t>
            </a:r>
            <a:r>
              <a:rPr lang="en-ID" dirty="0"/>
              <a:t>.</a:t>
            </a:r>
          </a:p>
          <a:p>
            <a:pPr lvl="1"/>
            <a:r>
              <a:rPr lang="en-ID" dirty="0" err="1"/>
              <a:t>Mengidentifikasi</a:t>
            </a:r>
            <a:r>
              <a:rPr lang="en-ID" dirty="0"/>
              <a:t> </a:t>
            </a:r>
            <a:r>
              <a:rPr lang="en-ID" b="1" dirty="0" err="1"/>
              <a:t>entitas</a:t>
            </a:r>
            <a:r>
              <a:rPr lang="en-ID" dirty="0"/>
              <a:t> </a:t>
            </a:r>
            <a:r>
              <a:rPr lang="en-ID" dirty="0" err="1"/>
              <a:t>penting</a:t>
            </a:r>
            <a:r>
              <a:rPr lang="en-ID" dirty="0"/>
              <a:t> (entities) di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teks</a:t>
            </a:r>
            <a:r>
              <a:rPr lang="en-ID" dirty="0"/>
              <a:t>.</a:t>
            </a:r>
          </a:p>
          <a:p>
            <a:pPr lvl="1"/>
            <a:r>
              <a:rPr lang="en-ID" dirty="0" err="1"/>
              <a:t>Menangani</a:t>
            </a:r>
            <a:r>
              <a:rPr lang="en-ID" dirty="0"/>
              <a:t> </a:t>
            </a:r>
            <a:r>
              <a:rPr lang="en-ID" dirty="0" err="1"/>
              <a:t>ambiguitas</a:t>
            </a:r>
            <a:r>
              <a:rPr lang="en-ID" dirty="0"/>
              <a:t>, idiom, dan </a:t>
            </a:r>
            <a:r>
              <a:rPr lang="en-ID" dirty="0" err="1"/>
              <a:t>struktur</a:t>
            </a:r>
            <a:r>
              <a:rPr lang="en-ID" dirty="0"/>
              <a:t> </a:t>
            </a:r>
            <a:r>
              <a:rPr lang="en-ID" dirty="0" err="1"/>
              <a:t>bahasa</a:t>
            </a:r>
            <a:r>
              <a:rPr lang="en-ID" dirty="0"/>
              <a:t> </a:t>
            </a:r>
            <a:r>
              <a:rPr lang="en-ID" dirty="0" err="1"/>
              <a:t>alami</a:t>
            </a:r>
            <a:r>
              <a:rPr lang="en-ID" dirty="0"/>
              <a:t>.</a:t>
            </a:r>
          </a:p>
          <a:p>
            <a:pPr lvl="1"/>
            <a:r>
              <a:rPr lang="en-ID" dirty="0" err="1"/>
              <a:t>Memahami</a:t>
            </a:r>
            <a:r>
              <a:rPr lang="en-ID" dirty="0"/>
              <a:t> </a:t>
            </a:r>
            <a:r>
              <a:rPr lang="en-ID" dirty="0" err="1"/>
              <a:t>konteks</a:t>
            </a:r>
            <a:r>
              <a:rPr lang="en-ID" dirty="0"/>
              <a:t> dan </a:t>
            </a:r>
            <a:r>
              <a:rPr lang="en-ID" dirty="0" err="1"/>
              <a:t>hubungan</a:t>
            </a:r>
            <a:r>
              <a:rPr lang="en-ID" dirty="0"/>
              <a:t> </a:t>
            </a:r>
            <a:r>
              <a:rPr lang="en-ID" dirty="0" err="1"/>
              <a:t>antar</a:t>
            </a:r>
            <a:r>
              <a:rPr lang="en-ID" dirty="0"/>
              <a:t> </a:t>
            </a:r>
            <a:r>
              <a:rPr lang="en-ID" dirty="0" err="1"/>
              <a:t>kalimat</a:t>
            </a:r>
            <a:r>
              <a:rPr lang="en-ID" dirty="0"/>
              <a:t>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6229A19-ADBA-CD81-2D2B-41D3F4966B0C}"/>
              </a:ext>
            </a:extLst>
          </p:cNvPr>
          <p:cNvSpPr txBox="1">
            <a:spLocks/>
          </p:cNvSpPr>
          <p:nvPr/>
        </p:nvSpPr>
        <p:spPr>
          <a:xfrm>
            <a:off x="6576391" y="1825625"/>
            <a:ext cx="545327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Understanding the </a:t>
            </a:r>
            <a:r>
              <a:rPr lang="en-US" b="1" dirty="0"/>
              <a:t>semantic</a:t>
            </a:r>
            <a:r>
              <a:rPr lang="en-US" dirty="0"/>
              <a:t> and </a:t>
            </a:r>
            <a:r>
              <a:rPr lang="en-US" b="1" dirty="0"/>
              <a:t>contextual</a:t>
            </a:r>
            <a:r>
              <a:rPr lang="en-US" dirty="0"/>
              <a:t> </a:t>
            </a:r>
            <a:r>
              <a:rPr lang="en-US" b="1" dirty="0"/>
              <a:t>meaning</a:t>
            </a:r>
            <a:r>
              <a:rPr lang="en-US" dirty="0"/>
              <a:t> of human text or speech.</a:t>
            </a:r>
          </a:p>
          <a:p>
            <a:r>
              <a:rPr lang="en-US" dirty="0"/>
              <a:t>Enables machines to understand the user’s </a:t>
            </a:r>
            <a:r>
              <a:rPr lang="en-US" b="1" dirty="0"/>
              <a:t>intent</a:t>
            </a:r>
            <a:r>
              <a:rPr lang="en-US" dirty="0"/>
              <a:t>, rather than just recognizing words literally.</a:t>
            </a:r>
          </a:p>
          <a:p>
            <a:pPr lvl="1"/>
            <a:r>
              <a:rPr lang="en-US" dirty="0"/>
              <a:t>Recognize the </a:t>
            </a:r>
            <a:r>
              <a:rPr lang="en-US" b="1" dirty="0"/>
              <a:t>intent</a:t>
            </a:r>
            <a:r>
              <a:rPr lang="en-US" dirty="0"/>
              <a:t> of a sentence.</a:t>
            </a:r>
          </a:p>
          <a:p>
            <a:pPr lvl="1"/>
            <a:r>
              <a:rPr lang="en-US" dirty="0"/>
              <a:t>Identify important </a:t>
            </a:r>
            <a:r>
              <a:rPr lang="en-US" b="1" dirty="0"/>
              <a:t>entities</a:t>
            </a:r>
            <a:r>
              <a:rPr lang="en-US" dirty="0"/>
              <a:t> in text.</a:t>
            </a:r>
          </a:p>
          <a:p>
            <a:pPr lvl="1"/>
            <a:r>
              <a:rPr lang="en-US" dirty="0"/>
              <a:t>Handle ambiguity, idioms, and natural language structures.</a:t>
            </a:r>
          </a:p>
          <a:p>
            <a:pPr lvl="1"/>
            <a:r>
              <a:rPr lang="en-US" dirty="0"/>
              <a:t>Understand context and relationships between sentences.</a:t>
            </a:r>
            <a:endParaRPr lang="en-ID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A288D5-3521-5FD0-3E03-1976C6F9D3CF}"/>
              </a:ext>
            </a:extLst>
          </p:cNvPr>
          <p:cNvSpPr txBox="1"/>
          <p:nvPr/>
        </p:nvSpPr>
        <p:spPr>
          <a:xfrm>
            <a:off x="4629150" y="6308209"/>
            <a:ext cx="5292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User input: “Set an alarm for 7 a.m. tomorrow.”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2519324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9A0E3-3A5A-0CDF-5D33-18477C438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Natural Language Understanding (NLU)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2C47B1-DE50-CCA7-3E72-25A2168F2E56}"/>
              </a:ext>
            </a:extLst>
          </p:cNvPr>
          <p:cNvSpPr/>
          <p:nvPr/>
        </p:nvSpPr>
        <p:spPr>
          <a:xfrm>
            <a:off x="6389370" y="2867957"/>
            <a:ext cx="2159773" cy="983974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2400" b="1" dirty="0">
                <a:solidFill>
                  <a:schemeClr val="tx1"/>
                </a:solidFill>
              </a:rPr>
              <a:t>Intent Detection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AE9B29-54A2-1571-40B1-8DC6CD37C29F}"/>
              </a:ext>
            </a:extLst>
          </p:cNvPr>
          <p:cNvSpPr/>
          <p:nvPr/>
        </p:nvSpPr>
        <p:spPr>
          <a:xfrm>
            <a:off x="6389370" y="4309110"/>
            <a:ext cx="2159773" cy="983974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2400" b="1" dirty="0">
                <a:solidFill>
                  <a:schemeClr val="tx1"/>
                </a:solidFill>
              </a:rPr>
              <a:t>Named Entity Recognition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6751E2-4BCD-3C55-A727-D305F84AB19F}"/>
              </a:ext>
            </a:extLst>
          </p:cNvPr>
          <p:cNvSpPr/>
          <p:nvPr/>
        </p:nvSpPr>
        <p:spPr>
          <a:xfrm>
            <a:off x="1417654" y="3589020"/>
            <a:ext cx="1617923" cy="983974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2400" b="1" dirty="0">
                <a:solidFill>
                  <a:schemeClr val="tx1"/>
                </a:solidFill>
              </a:rPr>
              <a:t>Pre-Processing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1E6F71-CFCC-64E8-E2F6-A5D6E5B95A8E}"/>
              </a:ext>
            </a:extLst>
          </p:cNvPr>
          <p:cNvSpPr/>
          <p:nvPr/>
        </p:nvSpPr>
        <p:spPr>
          <a:xfrm>
            <a:off x="3622317" y="3589020"/>
            <a:ext cx="2180314" cy="983974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2400" b="1" dirty="0">
                <a:solidFill>
                  <a:schemeClr val="tx1"/>
                </a:solidFill>
              </a:rPr>
              <a:t>Parsing &amp; Tagging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9B608B-548D-2416-325B-055566B4762F}"/>
              </a:ext>
            </a:extLst>
          </p:cNvPr>
          <p:cNvSpPr/>
          <p:nvPr/>
        </p:nvSpPr>
        <p:spPr>
          <a:xfrm>
            <a:off x="9111534" y="3589020"/>
            <a:ext cx="1712676" cy="983974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2400" b="1" dirty="0">
                <a:solidFill>
                  <a:schemeClr val="tx1"/>
                </a:solidFill>
              </a:rPr>
              <a:t>Post-Processing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B99FF8F-96A0-BF33-8E1D-581A492BE147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3035577" y="4081007"/>
            <a:ext cx="58674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2B06C9C-6205-5212-3EF8-D967662F0203}"/>
              </a:ext>
            </a:extLst>
          </p:cNvPr>
          <p:cNvCxnSpPr>
            <a:cxnSpLocks/>
            <a:stCxn id="6" idx="3"/>
            <a:endCxn id="3" idx="1"/>
          </p:cNvCxnSpPr>
          <p:nvPr/>
        </p:nvCxnSpPr>
        <p:spPr>
          <a:xfrm flipV="1">
            <a:off x="5802631" y="3359944"/>
            <a:ext cx="586739" cy="72106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11D3B9C-222E-B7CB-B4D1-2C4E213A2FAA}"/>
              </a:ext>
            </a:extLst>
          </p:cNvPr>
          <p:cNvCxnSpPr>
            <a:cxnSpLocks/>
            <a:stCxn id="6" idx="3"/>
            <a:endCxn id="4" idx="1"/>
          </p:cNvCxnSpPr>
          <p:nvPr/>
        </p:nvCxnSpPr>
        <p:spPr>
          <a:xfrm>
            <a:off x="5802631" y="4081007"/>
            <a:ext cx="586739" cy="72009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979C3DC-BCDB-CDE7-A847-77CE6CA2A3CD}"/>
              </a:ext>
            </a:extLst>
          </p:cNvPr>
          <p:cNvCxnSpPr>
            <a:cxnSpLocks/>
            <a:stCxn id="3" idx="3"/>
            <a:endCxn id="7" idx="1"/>
          </p:cNvCxnSpPr>
          <p:nvPr/>
        </p:nvCxnSpPr>
        <p:spPr>
          <a:xfrm>
            <a:off x="8549143" y="3359944"/>
            <a:ext cx="562391" cy="72106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BF86B6F-8A79-2696-46C2-0C50059F0096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 flipV="1">
            <a:off x="8549143" y="4081007"/>
            <a:ext cx="562391" cy="72009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F14E6B2-0A1E-26D4-6A52-11C2D781EC94}"/>
              </a:ext>
            </a:extLst>
          </p:cNvPr>
          <p:cNvCxnSpPr/>
          <p:nvPr/>
        </p:nvCxnSpPr>
        <p:spPr>
          <a:xfrm>
            <a:off x="828595" y="4081007"/>
            <a:ext cx="58673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2173A6E-165C-1E4C-C5AE-B05814B8AA10}"/>
              </a:ext>
            </a:extLst>
          </p:cNvPr>
          <p:cNvCxnSpPr/>
          <p:nvPr/>
        </p:nvCxnSpPr>
        <p:spPr>
          <a:xfrm>
            <a:off x="10823218" y="3989567"/>
            <a:ext cx="58673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8E7DC7E1-EA62-000B-259A-2C16F5A27D71}"/>
              </a:ext>
            </a:extLst>
          </p:cNvPr>
          <p:cNvSpPr txBox="1"/>
          <p:nvPr/>
        </p:nvSpPr>
        <p:spPr>
          <a:xfrm>
            <a:off x="665757" y="3205600"/>
            <a:ext cx="7944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User </a:t>
            </a:r>
          </a:p>
          <a:p>
            <a:r>
              <a:rPr lang="en-US" dirty="0"/>
              <a:t>Input</a:t>
            </a:r>
            <a:endParaRPr lang="en-ID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5889162-5335-45B5-CFD5-21522B030E8A}"/>
              </a:ext>
            </a:extLst>
          </p:cNvPr>
          <p:cNvSpPr txBox="1"/>
          <p:nvPr/>
        </p:nvSpPr>
        <p:spPr>
          <a:xfrm>
            <a:off x="10927911" y="3142962"/>
            <a:ext cx="9640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Intent</a:t>
            </a:r>
          </a:p>
          <a:p>
            <a:r>
              <a:rPr lang="en-US" dirty="0"/>
              <a:t>Entities</a:t>
            </a:r>
            <a:endParaRPr lang="en-ID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8D031E5-0A8E-D1E7-7B45-C2BF96F0C354}"/>
              </a:ext>
            </a:extLst>
          </p:cNvPr>
          <p:cNvSpPr txBox="1"/>
          <p:nvPr/>
        </p:nvSpPr>
        <p:spPr>
          <a:xfrm>
            <a:off x="262890" y="5380931"/>
            <a:ext cx="3577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“Set an alarm for 7 a.m. tomorrow.”</a:t>
            </a:r>
            <a:endParaRPr lang="en-ID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CB4B734-8101-E546-3832-9A12F0EA59AA}"/>
              </a:ext>
            </a:extLst>
          </p:cNvPr>
          <p:cNvSpPr txBox="1"/>
          <p:nvPr/>
        </p:nvSpPr>
        <p:spPr>
          <a:xfrm>
            <a:off x="9646920" y="4914900"/>
            <a:ext cx="22821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Intent: </a:t>
            </a:r>
            <a:r>
              <a:rPr lang="en-US" dirty="0" err="1"/>
              <a:t>set_alarm</a:t>
            </a:r>
            <a:endParaRPr lang="en-US" dirty="0"/>
          </a:p>
          <a:p>
            <a:endParaRPr lang="en-US" dirty="0"/>
          </a:p>
          <a:p>
            <a:r>
              <a:rPr lang="en-US" dirty="0"/>
              <a:t>Entities: time=7 a.m., date=tomorrow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369228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9D667-D72F-5A40-F120-49D83BF7E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NLU: Pre-Processing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0B49E5-D5D3-A0F0-C99D-7984B0FE99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54040" cy="4351338"/>
          </a:xfrm>
        </p:spPr>
        <p:txBody>
          <a:bodyPr/>
          <a:lstStyle/>
          <a:p>
            <a:r>
              <a:rPr lang="en-ID" b="1" dirty="0" err="1"/>
              <a:t>Membersihkan</a:t>
            </a:r>
            <a:r>
              <a:rPr lang="en-ID" dirty="0"/>
              <a:t> dan </a:t>
            </a:r>
            <a:r>
              <a:rPr lang="en-ID" dirty="0" err="1"/>
              <a:t>menyiapkan</a:t>
            </a:r>
            <a:r>
              <a:rPr lang="en-ID" dirty="0"/>
              <a:t> </a:t>
            </a:r>
            <a:r>
              <a:rPr lang="en-ID" dirty="0" err="1"/>
              <a:t>teks</a:t>
            </a:r>
            <a:r>
              <a:rPr lang="en-ID" dirty="0"/>
              <a:t> </a:t>
            </a:r>
            <a:r>
              <a:rPr lang="en-ID" dirty="0" err="1"/>
              <a:t>mentah</a:t>
            </a:r>
            <a:r>
              <a:rPr lang="en-ID" dirty="0"/>
              <a:t> agar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diproses</a:t>
            </a:r>
            <a:r>
              <a:rPr lang="en-ID" dirty="0"/>
              <a:t> oleh model NLP </a:t>
            </a:r>
            <a:r>
              <a:rPr lang="en-ID" dirty="0" err="1"/>
              <a:t>atau</a:t>
            </a:r>
            <a:r>
              <a:rPr lang="en-ID" dirty="0"/>
              <a:t> machine learning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baik</a:t>
            </a:r>
            <a:r>
              <a:rPr lang="en-ID" dirty="0"/>
              <a:t>.</a:t>
            </a:r>
          </a:p>
          <a:p>
            <a:pPr lvl="1"/>
            <a:r>
              <a:rPr lang="en-ID" dirty="0" err="1"/>
              <a:t>Menghilangkan</a:t>
            </a:r>
            <a:r>
              <a:rPr lang="en-ID" dirty="0"/>
              <a:t> </a:t>
            </a:r>
            <a:r>
              <a:rPr lang="en-ID" b="1" dirty="0"/>
              <a:t>noise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teks</a:t>
            </a:r>
            <a:endParaRPr lang="en-ID" dirty="0"/>
          </a:p>
          <a:p>
            <a:pPr lvl="1"/>
            <a:r>
              <a:rPr lang="en-ID" dirty="0" err="1"/>
              <a:t>Membuat</a:t>
            </a:r>
            <a:r>
              <a:rPr lang="en-ID" dirty="0"/>
              <a:t> </a:t>
            </a:r>
            <a:r>
              <a:rPr lang="en-ID" dirty="0" err="1"/>
              <a:t>struktur</a:t>
            </a:r>
            <a:r>
              <a:rPr lang="en-ID" dirty="0"/>
              <a:t> </a:t>
            </a:r>
            <a:r>
              <a:rPr lang="en-ID" dirty="0" err="1"/>
              <a:t>teks</a:t>
            </a:r>
            <a:r>
              <a:rPr lang="en-ID" dirty="0"/>
              <a:t> menjadi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b="1" dirty="0" err="1"/>
              <a:t>konsisten</a:t>
            </a:r>
            <a:endParaRPr lang="en-ID" b="1" dirty="0"/>
          </a:p>
          <a:p>
            <a:pPr lvl="1"/>
            <a:r>
              <a:rPr lang="en-ID" dirty="0" err="1"/>
              <a:t>Mempercepat</a:t>
            </a:r>
            <a:r>
              <a:rPr lang="en-ID" dirty="0"/>
              <a:t> dan </a:t>
            </a:r>
            <a:r>
              <a:rPr lang="en-ID" dirty="0" err="1"/>
              <a:t>meningkatkan</a:t>
            </a:r>
            <a:r>
              <a:rPr lang="en-ID" dirty="0"/>
              <a:t> </a:t>
            </a:r>
            <a:r>
              <a:rPr lang="en-ID" dirty="0" err="1"/>
              <a:t>akurasi</a:t>
            </a:r>
            <a:r>
              <a:rPr lang="en-ID" dirty="0"/>
              <a:t> model NLP</a:t>
            </a:r>
          </a:p>
          <a:p>
            <a:pPr lvl="1"/>
            <a:r>
              <a:rPr lang="en-ID" dirty="0" err="1"/>
              <a:t>Memastikan</a:t>
            </a:r>
            <a:r>
              <a:rPr lang="en-ID" dirty="0"/>
              <a:t> input yang </a:t>
            </a:r>
            <a:r>
              <a:rPr lang="en-ID" dirty="0" err="1"/>
              <a:t>relevan</a:t>
            </a:r>
            <a:r>
              <a:rPr lang="en-ID" dirty="0"/>
              <a:t> dan </a:t>
            </a:r>
            <a:r>
              <a:rPr lang="en-ID" dirty="0" err="1"/>
              <a:t>bersih</a:t>
            </a:r>
            <a:endParaRPr lang="en-ID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44482B1-47B2-584D-63FD-EB7972824AC3}"/>
              </a:ext>
            </a:extLst>
          </p:cNvPr>
          <p:cNvSpPr txBox="1">
            <a:spLocks/>
          </p:cNvSpPr>
          <p:nvPr/>
        </p:nvSpPr>
        <p:spPr>
          <a:xfrm>
            <a:off x="6473190" y="1825625"/>
            <a:ext cx="525399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Cleaning</a:t>
            </a:r>
            <a:r>
              <a:rPr lang="en-US" dirty="0"/>
              <a:t> and preparing raw text for better processing by NLP or machine learning models.</a:t>
            </a:r>
          </a:p>
          <a:p>
            <a:pPr lvl="1"/>
            <a:r>
              <a:rPr lang="en-US" dirty="0"/>
              <a:t>Removing </a:t>
            </a:r>
            <a:r>
              <a:rPr lang="en-US" b="1" dirty="0"/>
              <a:t>noise</a:t>
            </a:r>
            <a:r>
              <a:rPr lang="en-US" dirty="0"/>
              <a:t> from text</a:t>
            </a:r>
          </a:p>
          <a:p>
            <a:pPr lvl="1"/>
            <a:r>
              <a:rPr lang="en-US" dirty="0"/>
              <a:t>Making text structure more </a:t>
            </a:r>
            <a:r>
              <a:rPr lang="en-US" b="1" dirty="0"/>
              <a:t>consistent</a:t>
            </a:r>
          </a:p>
          <a:p>
            <a:pPr lvl="1"/>
            <a:r>
              <a:rPr lang="en-US" dirty="0"/>
              <a:t>Speeding up and improving the accuracy of NLP models</a:t>
            </a:r>
          </a:p>
          <a:p>
            <a:pPr lvl="1"/>
            <a:r>
              <a:rPr lang="en-US" dirty="0"/>
              <a:t>Ensuring relevant and clean input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374780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16A8A-4623-CD87-D126-EA96BDBC0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General Stages of Preprocessing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F46F4D-983A-E1C1-6162-C4E445F33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269" y="1935480"/>
            <a:ext cx="9892315" cy="3779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037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E90E6-115D-5F55-37FD-74CC3934A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Tokenization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6557D-814F-1853-14F5-4CCC621F1F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19750" cy="4351338"/>
          </a:xfrm>
        </p:spPr>
        <p:txBody>
          <a:bodyPr/>
          <a:lstStyle/>
          <a:p>
            <a:r>
              <a:rPr lang="en-ID" dirty="0" err="1"/>
              <a:t>Memecah</a:t>
            </a:r>
            <a:r>
              <a:rPr lang="en-ID" dirty="0"/>
              <a:t> </a:t>
            </a:r>
            <a:r>
              <a:rPr lang="en-ID" dirty="0" err="1"/>
              <a:t>teks</a:t>
            </a:r>
            <a:r>
              <a:rPr lang="en-ID" dirty="0"/>
              <a:t> menjadi unit-unit </a:t>
            </a:r>
            <a:r>
              <a:rPr lang="en-ID" dirty="0" err="1"/>
              <a:t>kecil</a:t>
            </a:r>
            <a:r>
              <a:rPr lang="en-ID" dirty="0"/>
              <a:t> yang </a:t>
            </a:r>
            <a:r>
              <a:rPr lang="en-ID" dirty="0" err="1"/>
              <a:t>disebut</a:t>
            </a:r>
            <a:r>
              <a:rPr lang="en-ID" dirty="0"/>
              <a:t> token. </a:t>
            </a:r>
          </a:p>
          <a:p>
            <a:r>
              <a:rPr lang="en-ID" dirty="0"/>
              <a:t>Token </a:t>
            </a:r>
            <a:r>
              <a:rPr lang="en-ID" dirty="0" err="1"/>
              <a:t>adalah</a:t>
            </a:r>
            <a:r>
              <a:rPr lang="en-ID" dirty="0"/>
              <a:t> kata </a:t>
            </a:r>
            <a:r>
              <a:rPr lang="en-ID" dirty="0" err="1"/>
              <a:t>tunggal</a:t>
            </a:r>
            <a:r>
              <a:rPr lang="en-ID" dirty="0"/>
              <a:t>, </a:t>
            </a:r>
            <a:r>
              <a:rPr lang="en-ID" dirty="0" err="1"/>
              <a:t>tetapi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beberapa</a:t>
            </a:r>
            <a:r>
              <a:rPr lang="en-ID" dirty="0"/>
              <a:t> </a:t>
            </a:r>
            <a:r>
              <a:rPr lang="en-ID" dirty="0" err="1"/>
              <a:t>kasus</a:t>
            </a:r>
            <a:r>
              <a:rPr lang="en-ID" dirty="0"/>
              <a:t>, token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berupa</a:t>
            </a:r>
            <a:r>
              <a:rPr lang="en-ID" dirty="0"/>
              <a:t> </a:t>
            </a:r>
            <a:r>
              <a:rPr lang="en-ID" b="1" dirty="0" err="1"/>
              <a:t>frasa</a:t>
            </a:r>
            <a:r>
              <a:rPr lang="en-ID" dirty="0"/>
              <a:t> (</a:t>
            </a:r>
            <a:r>
              <a:rPr lang="en-ID" b="1" dirty="0"/>
              <a:t>multi-word</a:t>
            </a:r>
            <a:r>
              <a:rPr lang="en-ID" dirty="0"/>
              <a:t> expressions)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EA4BE08-4AC1-003E-F118-C0C0A3A25196}"/>
              </a:ext>
            </a:extLst>
          </p:cNvPr>
          <p:cNvSpPr txBox="1">
            <a:spLocks/>
          </p:cNvSpPr>
          <p:nvPr/>
        </p:nvSpPr>
        <p:spPr>
          <a:xfrm>
            <a:off x="6457950" y="1825625"/>
            <a:ext cx="56197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Breaking text into smaller units called tokens.</a:t>
            </a:r>
          </a:p>
          <a:p>
            <a:r>
              <a:rPr lang="en-US" dirty="0"/>
              <a:t>A token is a single word, but in some cases, a token can be a </a:t>
            </a:r>
            <a:r>
              <a:rPr lang="en-US" b="1" dirty="0"/>
              <a:t>phrase</a:t>
            </a:r>
            <a:r>
              <a:rPr lang="en-US" dirty="0"/>
              <a:t> (</a:t>
            </a:r>
            <a:r>
              <a:rPr lang="en-US" b="1" dirty="0"/>
              <a:t>multi-word</a:t>
            </a:r>
            <a:r>
              <a:rPr lang="en-US" dirty="0"/>
              <a:t> expression)</a:t>
            </a:r>
            <a:endParaRPr lang="en-ID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958D75-AEA3-EE95-F8FA-380A061B85D4}"/>
              </a:ext>
            </a:extLst>
          </p:cNvPr>
          <p:cNvSpPr txBox="1"/>
          <p:nvPr/>
        </p:nvSpPr>
        <p:spPr>
          <a:xfrm>
            <a:off x="435914" y="4496018"/>
            <a:ext cx="3348990" cy="1815882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New York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machine learning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United Nations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coffee shop</a:t>
            </a:r>
            <a:endParaRPr lang="en-ID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E7B762-F7E2-630A-8DD0-61BA53E7A7DC}"/>
              </a:ext>
            </a:extLst>
          </p:cNvPr>
          <p:cNvSpPr txBox="1"/>
          <p:nvPr/>
        </p:nvSpPr>
        <p:spPr>
          <a:xfrm>
            <a:off x="3985591" y="4114800"/>
            <a:ext cx="809210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/>
              <a:t>"I visited New York last summer and learned about machine learning in a workshop.“</a:t>
            </a:r>
          </a:p>
          <a:p>
            <a:endParaRPr lang="en-ID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b="1" dirty="0"/>
              <a:t>Single word token</a:t>
            </a:r>
            <a:r>
              <a:rPr lang="en-ID" dirty="0"/>
              <a:t>:</a:t>
            </a:r>
          </a:p>
          <a:p>
            <a:pPr lvl="1"/>
            <a:r>
              <a:rPr lang="en-ID" dirty="0"/>
              <a:t>['I', 'visited', 'New', 'York', 'last', 'summer', 'and', 'learned', 'about', 'machine', 'learning', 'in', 'a', 'workshop’]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D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b="1" dirty="0"/>
              <a:t>Phrase token</a:t>
            </a:r>
            <a:r>
              <a:rPr lang="en-ID" dirty="0"/>
              <a:t>:</a:t>
            </a:r>
          </a:p>
          <a:p>
            <a:r>
              <a:rPr lang="en-ID" dirty="0"/>
              <a:t>        ['I', 'visited', 'New York', 'last', 'summer', 'and', 'learned', 'about’,   </a:t>
            </a:r>
          </a:p>
          <a:p>
            <a:r>
              <a:rPr lang="en-ID" dirty="0"/>
              <a:t>          'machine learning', 'in', 'a', 'workshop']</a:t>
            </a:r>
          </a:p>
        </p:txBody>
      </p:sp>
    </p:spTree>
    <p:extLst>
      <p:ext uri="{BB962C8B-B14F-4D97-AF65-F5344CB8AC3E}">
        <p14:creationId xmlns:p14="http://schemas.microsoft.com/office/powerpoint/2010/main" val="31612441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5E323-FA1E-076D-0ED3-A67B2F830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Tokenization: Multi-Word</a:t>
            </a:r>
            <a:endParaRPr lang="en-ID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400CAC-56AD-86DD-6EF5-1DBEAF97F0C2}"/>
              </a:ext>
            </a:extLst>
          </p:cNvPr>
          <p:cNvSpPr txBox="1"/>
          <p:nvPr/>
        </p:nvSpPr>
        <p:spPr>
          <a:xfrm>
            <a:off x="6907696" y="715617"/>
            <a:ext cx="4919869" cy="5632311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D" sz="900" dirty="0"/>
              <a:t>from </a:t>
            </a:r>
            <a:r>
              <a:rPr lang="en-ID" sz="900" dirty="0" err="1"/>
              <a:t>gensim.models</a:t>
            </a:r>
            <a:r>
              <a:rPr lang="en-ID" sz="900" dirty="0"/>
              <a:t> import Phrases</a:t>
            </a:r>
          </a:p>
          <a:p>
            <a:r>
              <a:rPr lang="en-ID" sz="900" dirty="0"/>
              <a:t>from </a:t>
            </a:r>
            <a:r>
              <a:rPr lang="en-ID" sz="900" dirty="0" err="1"/>
              <a:t>gensim.models.phrases</a:t>
            </a:r>
            <a:r>
              <a:rPr lang="en-ID" sz="900" dirty="0"/>
              <a:t> import </a:t>
            </a:r>
            <a:r>
              <a:rPr lang="en-ID" sz="900" dirty="0" err="1"/>
              <a:t>Phraser</a:t>
            </a:r>
            <a:endParaRPr lang="en-ID" sz="900" dirty="0"/>
          </a:p>
          <a:p>
            <a:r>
              <a:rPr lang="en-ID" sz="900" dirty="0"/>
              <a:t>from </a:t>
            </a:r>
            <a:r>
              <a:rPr lang="en-ID" sz="900" dirty="0" err="1"/>
              <a:t>nltk.tokenize</a:t>
            </a:r>
            <a:r>
              <a:rPr lang="en-ID" sz="900" dirty="0"/>
              <a:t> import </a:t>
            </a:r>
            <a:r>
              <a:rPr lang="en-ID" sz="900" dirty="0" err="1"/>
              <a:t>word_tokenize</a:t>
            </a:r>
            <a:endParaRPr lang="en-ID" sz="900" dirty="0"/>
          </a:p>
          <a:p>
            <a:r>
              <a:rPr lang="en-ID" sz="900" dirty="0"/>
              <a:t>import </a:t>
            </a:r>
            <a:r>
              <a:rPr lang="en-ID" sz="900" dirty="0" err="1"/>
              <a:t>nltk</a:t>
            </a:r>
            <a:endParaRPr lang="en-ID" sz="900" dirty="0"/>
          </a:p>
          <a:p>
            <a:endParaRPr lang="en-ID" sz="900" dirty="0"/>
          </a:p>
          <a:p>
            <a:r>
              <a:rPr lang="en-ID" sz="900" dirty="0" err="1"/>
              <a:t>nltk.download</a:t>
            </a:r>
            <a:r>
              <a:rPr lang="en-ID" sz="900" dirty="0"/>
              <a:t>('</a:t>
            </a:r>
            <a:r>
              <a:rPr lang="en-ID" sz="900" dirty="0" err="1"/>
              <a:t>punkt</a:t>
            </a:r>
            <a:r>
              <a:rPr lang="en-ID" sz="900" dirty="0"/>
              <a:t>')</a:t>
            </a:r>
          </a:p>
          <a:p>
            <a:endParaRPr lang="en-ID" sz="900" dirty="0"/>
          </a:p>
          <a:p>
            <a:r>
              <a:rPr lang="en-ID" sz="900" dirty="0"/>
              <a:t># </a:t>
            </a:r>
            <a:r>
              <a:rPr lang="en-ID" sz="900" dirty="0" err="1"/>
              <a:t>Contoh</a:t>
            </a:r>
            <a:r>
              <a:rPr lang="en-ID" sz="900" dirty="0"/>
              <a:t> </a:t>
            </a:r>
            <a:r>
              <a:rPr lang="en-ID" sz="900" dirty="0" err="1"/>
              <a:t>korpus</a:t>
            </a:r>
            <a:r>
              <a:rPr lang="en-ID" sz="900" dirty="0"/>
              <a:t> </a:t>
            </a:r>
            <a:r>
              <a:rPr lang="en-ID" sz="900" dirty="0" err="1"/>
              <a:t>kalimat</a:t>
            </a:r>
            <a:endParaRPr lang="en-ID" sz="900" dirty="0"/>
          </a:p>
          <a:p>
            <a:r>
              <a:rPr lang="en-ID" sz="900" dirty="0"/>
              <a:t>sentences = [</a:t>
            </a:r>
          </a:p>
          <a:p>
            <a:r>
              <a:rPr lang="en-ID" sz="900" dirty="0"/>
              <a:t>    "I visited New York and studied machine learning. Artificial intelligence is evolving fast.",</a:t>
            </a:r>
          </a:p>
          <a:p>
            <a:r>
              <a:rPr lang="en-ID" sz="900" dirty="0"/>
              <a:t>    "I visited New York last summer",</a:t>
            </a:r>
          </a:p>
          <a:p>
            <a:r>
              <a:rPr lang="en-ID" sz="900" dirty="0"/>
              <a:t>    "He studied machine learning and artificial intelligence",</a:t>
            </a:r>
          </a:p>
          <a:p>
            <a:r>
              <a:rPr lang="en-ID" sz="900" dirty="0"/>
              <a:t>    "New York is a big city",</a:t>
            </a:r>
          </a:p>
          <a:p>
            <a:r>
              <a:rPr lang="en-ID" sz="900" dirty="0"/>
              <a:t>    "Machine learning is a part of artificial intelligence",</a:t>
            </a:r>
          </a:p>
          <a:p>
            <a:r>
              <a:rPr lang="en-ID" sz="900" dirty="0"/>
              <a:t>    "We love learning new things"</a:t>
            </a:r>
          </a:p>
          <a:p>
            <a:r>
              <a:rPr lang="en-ID" sz="900" dirty="0"/>
              <a:t>]</a:t>
            </a:r>
          </a:p>
          <a:p>
            <a:endParaRPr lang="en-ID" sz="900" dirty="0"/>
          </a:p>
          <a:p>
            <a:r>
              <a:rPr lang="en-ID" sz="900" dirty="0"/>
              <a:t># </a:t>
            </a:r>
            <a:r>
              <a:rPr lang="en-ID" sz="900" dirty="0" err="1"/>
              <a:t>Tokenisasi</a:t>
            </a:r>
            <a:r>
              <a:rPr lang="en-ID" sz="900" dirty="0"/>
              <a:t> kata</a:t>
            </a:r>
          </a:p>
          <a:p>
            <a:r>
              <a:rPr lang="en-ID" sz="900" dirty="0" err="1"/>
              <a:t>tokenized_sentences</a:t>
            </a:r>
            <a:r>
              <a:rPr lang="en-ID" sz="900" dirty="0"/>
              <a:t> = [</a:t>
            </a:r>
            <a:r>
              <a:rPr lang="en-ID" sz="900" dirty="0" err="1"/>
              <a:t>word_tokenize</a:t>
            </a:r>
            <a:r>
              <a:rPr lang="en-ID" sz="900" dirty="0"/>
              <a:t>(</a:t>
            </a:r>
            <a:r>
              <a:rPr lang="en-ID" sz="900" dirty="0" err="1"/>
              <a:t>sentence.lower</a:t>
            </a:r>
            <a:r>
              <a:rPr lang="en-ID" sz="900" dirty="0"/>
              <a:t>()) for sentence in sentences]</a:t>
            </a:r>
          </a:p>
          <a:p>
            <a:endParaRPr lang="en-ID" sz="900" dirty="0"/>
          </a:p>
          <a:p>
            <a:r>
              <a:rPr lang="en-ID" sz="900" dirty="0" err="1"/>
              <a:t>nthreshold</a:t>
            </a:r>
            <a:r>
              <a:rPr lang="en-ID" sz="900" dirty="0"/>
              <a:t> = 4 	# </a:t>
            </a:r>
            <a:r>
              <a:rPr lang="en-ID" sz="900" dirty="0" err="1"/>
              <a:t>semakin</a:t>
            </a:r>
            <a:r>
              <a:rPr lang="en-ID" sz="900" dirty="0"/>
              <a:t> </a:t>
            </a:r>
            <a:r>
              <a:rPr lang="en-ID" sz="900" dirty="0" err="1"/>
              <a:t>rendah</a:t>
            </a:r>
            <a:r>
              <a:rPr lang="en-ID" sz="900" dirty="0"/>
              <a:t>, </a:t>
            </a:r>
            <a:r>
              <a:rPr lang="en-ID" sz="900" dirty="0" err="1"/>
              <a:t>semakin</a:t>
            </a:r>
            <a:r>
              <a:rPr lang="en-ID" sz="900" dirty="0"/>
              <a:t> </a:t>
            </a:r>
            <a:r>
              <a:rPr lang="en-ID" sz="900" dirty="0" err="1"/>
              <a:t>gampang</a:t>
            </a:r>
            <a:r>
              <a:rPr lang="en-ID" sz="900" dirty="0"/>
              <a:t> </a:t>
            </a:r>
            <a:r>
              <a:rPr lang="en-ID" sz="900" dirty="0" err="1"/>
              <a:t>digabung</a:t>
            </a:r>
            <a:r>
              <a:rPr lang="en-ID" sz="900" dirty="0"/>
              <a:t> menjadi </a:t>
            </a:r>
            <a:r>
              <a:rPr lang="en-ID" sz="900" dirty="0" err="1"/>
              <a:t>frase</a:t>
            </a:r>
            <a:endParaRPr lang="en-ID" sz="900" dirty="0"/>
          </a:p>
          <a:p>
            <a:r>
              <a:rPr lang="en-ID" sz="900" dirty="0"/>
              <a:t>	# threshold=10 → </a:t>
            </a:r>
            <a:r>
              <a:rPr lang="en-ID" sz="900" dirty="0" err="1"/>
              <a:t>hanya</a:t>
            </a:r>
            <a:r>
              <a:rPr lang="en-ID" sz="900" dirty="0"/>
              <a:t> </a:t>
            </a:r>
            <a:r>
              <a:rPr lang="en-ID" sz="900" dirty="0" err="1"/>
              <a:t>frasa</a:t>
            </a:r>
            <a:r>
              <a:rPr lang="en-ID" sz="900" dirty="0"/>
              <a:t> sangat </a:t>
            </a:r>
            <a:r>
              <a:rPr lang="en-ID" sz="900" dirty="0" err="1"/>
              <a:t>kuat</a:t>
            </a:r>
            <a:r>
              <a:rPr lang="en-ID" sz="900" dirty="0"/>
              <a:t> yang </a:t>
            </a:r>
            <a:r>
              <a:rPr lang="en-ID" sz="900" dirty="0" err="1"/>
              <a:t>digabung</a:t>
            </a:r>
            <a:r>
              <a:rPr lang="en-ID" sz="900" dirty="0"/>
              <a:t>.</a:t>
            </a:r>
          </a:p>
          <a:p>
            <a:r>
              <a:rPr lang="en-ID" sz="900" dirty="0" err="1"/>
              <a:t>nmin_count</a:t>
            </a:r>
            <a:r>
              <a:rPr lang="en-ID" sz="900" dirty="0"/>
              <a:t> = 2	# </a:t>
            </a:r>
            <a:r>
              <a:rPr lang="en-ID" sz="900" dirty="0" err="1"/>
              <a:t>jumlah</a:t>
            </a:r>
            <a:r>
              <a:rPr lang="en-ID" sz="900" dirty="0"/>
              <a:t> minimum </a:t>
            </a:r>
            <a:r>
              <a:rPr lang="en-ID" sz="900" dirty="0" err="1"/>
              <a:t>kemunculan</a:t>
            </a:r>
            <a:r>
              <a:rPr lang="en-ID" sz="900" dirty="0"/>
              <a:t> kata </a:t>
            </a:r>
            <a:r>
              <a:rPr lang="en-ID" sz="900" dirty="0" err="1"/>
              <a:t>untuk</a:t>
            </a:r>
            <a:r>
              <a:rPr lang="en-ID" sz="900" dirty="0"/>
              <a:t> </a:t>
            </a:r>
            <a:r>
              <a:rPr lang="en-ID" sz="900" dirty="0" err="1"/>
              <a:t>dipertimbangkan</a:t>
            </a:r>
            <a:r>
              <a:rPr lang="en-ID" sz="900" dirty="0"/>
              <a:t>. </a:t>
            </a:r>
          </a:p>
          <a:p>
            <a:r>
              <a:rPr lang="en-ID" sz="900" dirty="0"/>
              <a:t>	# Jika </a:t>
            </a:r>
            <a:r>
              <a:rPr lang="en-ID" sz="900" dirty="0" err="1"/>
              <a:t>terlalu</a:t>
            </a:r>
            <a:r>
              <a:rPr lang="en-ID" sz="900" dirty="0"/>
              <a:t> </a:t>
            </a:r>
            <a:r>
              <a:rPr lang="en-ID" sz="900" dirty="0" err="1"/>
              <a:t>tinggi</a:t>
            </a:r>
            <a:r>
              <a:rPr lang="en-ID" sz="900" dirty="0"/>
              <a:t>, </a:t>
            </a:r>
            <a:r>
              <a:rPr lang="en-ID" sz="900" dirty="0" err="1"/>
              <a:t>frasa</a:t>
            </a:r>
            <a:r>
              <a:rPr lang="en-ID" sz="900" dirty="0"/>
              <a:t> </a:t>
            </a:r>
            <a:r>
              <a:rPr lang="en-ID" sz="900" dirty="0" err="1"/>
              <a:t>jarang</a:t>
            </a:r>
            <a:r>
              <a:rPr lang="en-ID" sz="900" dirty="0"/>
              <a:t> </a:t>
            </a:r>
            <a:r>
              <a:rPr lang="en-ID" sz="900" dirty="0" err="1"/>
              <a:t>tidak</a:t>
            </a:r>
            <a:r>
              <a:rPr lang="en-ID" sz="900" dirty="0"/>
              <a:t> </a:t>
            </a:r>
            <a:r>
              <a:rPr lang="en-ID" sz="900" dirty="0" err="1"/>
              <a:t>akan</a:t>
            </a:r>
            <a:r>
              <a:rPr lang="en-ID" sz="900" dirty="0"/>
              <a:t> </a:t>
            </a:r>
            <a:r>
              <a:rPr lang="en-ID" sz="900" dirty="0" err="1"/>
              <a:t>dideteksi</a:t>
            </a:r>
            <a:r>
              <a:rPr lang="en-ID" sz="900" dirty="0"/>
              <a:t>.</a:t>
            </a:r>
          </a:p>
          <a:p>
            <a:endParaRPr lang="en-ID" sz="900" dirty="0"/>
          </a:p>
          <a:p>
            <a:r>
              <a:rPr lang="en-ID" sz="900" dirty="0"/>
              <a:t># </a:t>
            </a:r>
            <a:r>
              <a:rPr lang="en-ID" sz="900" dirty="0" err="1"/>
              <a:t>Latih</a:t>
            </a:r>
            <a:r>
              <a:rPr lang="en-ID" sz="900" dirty="0"/>
              <a:t> model bigram </a:t>
            </a:r>
            <a:r>
              <a:rPr lang="en-ID" sz="900" dirty="0" err="1"/>
              <a:t>untuk</a:t>
            </a:r>
            <a:r>
              <a:rPr lang="en-ID" sz="900" dirty="0"/>
              <a:t> </a:t>
            </a:r>
            <a:r>
              <a:rPr lang="en-ID" sz="900" dirty="0" err="1"/>
              <a:t>mendeteksi</a:t>
            </a:r>
            <a:r>
              <a:rPr lang="en-ID" sz="900" dirty="0"/>
              <a:t> </a:t>
            </a:r>
            <a:r>
              <a:rPr lang="en-ID" sz="900" dirty="0" err="1"/>
              <a:t>frasa</a:t>
            </a:r>
            <a:endParaRPr lang="en-ID" sz="900" dirty="0"/>
          </a:p>
          <a:p>
            <a:r>
              <a:rPr lang="en-ID" sz="900" dirty="0"/>
              <a:t>bigram = Phrases(</a:t>
            </a:r>
            <a:r>
              <a:rPr lang="en-ID" sz="900" dirty="0" err="1"/>
              <a:t>tokenized_sentences</a:t>
            </a:r>
            <a:r>
              <a:rPr lang="en-ID" sz="900" dirty="0"/>
              <a:t>, </a:t>
            </a:r>
            <a:r>
              <a:rPr lang="en-ID" sz="900" dirty="0" err="1"/>
              <a:t>min_count</a:t>
            </a:r>
            <a:r>
              <a:rPr lang="en-ID" sz="900" dirty="0"/>
              <a:t>=</a:t>
            </a:r>
            <a:r>
              <a:rPr lang="en-ID" sz="900" dirty="0" err="1"/>
              <a:t>nmin_count</a:t>
            </a:r>
            <a:r>
              <a:rPr lang="en-ID" sz="900" dirty="0"/>
              <a:t>, threshold=</a:t>
            </a:r>
            <a:r>
              <a:rPr lang="en-ID" sz="900" dirty="0" err="1"/>
              <a:t>nthreshold</a:t>
            </a:r>
            <a:r>
              <a:rPr lang="en-ID" sz="900" dirty="0"/>
              <a:t>)  # Atur threshold </a:t>
            </a:r>
            <a:r>
              <a:rPr lang="en-ID" sz="900" dirty="0" err="1"/>
              <a:t>rendah</a:t>
            </a:r>
            <a:r>
              <a:rPr lang="en-ID" sz="900" dirty="0"/>
              <a:t> agar </a:t>
            </a:r>
            <a:r>
              <a:rPr lang="en-ID" sz="900" dirty="0" err="1"/>
              <a:t>mudah</a:t>
            </a:r>
            <a:r>
              <a:rPr lang="en-ID" sz="900" dirty="0"/>
              <a:t> </a:t>
            </a:r>
            <a:r>
              <a:rPr lang="en-ID" sz="900" dirty="0" err="1"/>
              <a:t>terlihat</a:t>
            </a:r>
            <a:endParaRPr lang="en-ID" sz="900" dirty="0"/>
          </a:p>
          <a:p>
            <a:r>
              <a:rPr lang="en-ID" sz="900" dirty="0" err="1"/>
              <a:t>bigram_phraser</a:t>
            </a:r>
            <a:r>
              <a:rPr lang="en-ID" sz="900" dirty="0"/>
              <a:t> = </a:t>
            </a:r>
            <a:r>
              <a:rPr lang="en-ID" sz="900" dirty="0" err="1"/>
              <a:t>Phraser</a:t>
            </a:r>
            <a:r>
              <a:rPr lang="en-ID" sz="900" dirty="0"/>
              <a:t>(bigram)</a:t>
            </a:r>
          </a:p>
          <a:p>
            <a:endParaRPr lang="en-ID" sz="900" dirty="0"/>
          </a:p>
          <a:p>
            <a:r>
              <a:rPr lang="en-ID" sz="900" dirty="0"/>
              <a:t># </a:t>
            </a:r>
            <a:r>
              <a:rPr lang="en-ID" sz="900" dirty="0" err="1"/>
              <a:t>Terapkan</a:t>
            </a:r>
            <a:r>
              <a:rPr lang="en-ID" sz="900" dirty="0"/>
              <a:t> model </a:t>
            </a:r>
            <a:r>
              <a:rPr lang="en-ID" sz="900" dirty="0" err="1"/>
              <a:t>ke</a:t>
            </a:r>
            <a:r>
              <a:rPr lang="en-ID" sz="900" dirty="0"/>
              <a:t> </a:t>
            </a:r>
            <a:r>
              <a:rPr lang="en-ID" sz="900" dirty="0" err="1"/>
              <a:t>kalimat</a:t>
            </a:r>
            <a:r>
              <a:rPr lang="en-ID" sz="900" dirty="0"/>
              <a:t> yang </a:t>
            </a:r>
            <a:r>
              <a:rPr lang="en-ID" sz="900" dirty="0" err="1"/>
              <a:t>sudah</a:t>
            </a:r>
            <a:r>
              <a:rPr lang="en-ID" sz="900" dirty="0"/>
              <a:t> </a:t>
            </a:r>
            <a:r>
              <a:rPr lang="en-ID" sz="900" dirty="0" err="1"/>
              <a:t>ditokenisasi</a:t>
            </a:r>
            <a:endParaRPr lang="en-ID" sz="900" dirty="0"/>
          </a:p>
          <a:p>
            <a:r>
              <a:rPr lang="en-ID" sz="900" dirty="0" err="1"/>
              <a:t>phrased_sentences</a:t>
            </a:r>
            <a:r>
              <a:rPr lang="en-ID" sz="900" dirty="0"/>
              <a:t> = [</a:t>
            </a:r>
            <a:r>
              <a:rPr lang="en-ID" sz="900" dirty="0" err="1"/>
              <a:t>bigram_phraser</a:t>
            </a:r>
            <a:r>
              <a:rPr lang="en-ID" sz="900" dirty="0"/>
              <a:t>[sent] for sent in </a:t>
            </a:r>
            <a:r>
              <a:rPr lang="en-ID" sz="900" dirty="0" err="1"/>
              <a:t>tokenized_sentences</a:t>
            </a:r>
            <a:r>
              <a:rPr lang="en-ID" sz="900" dirty="0"/>
              <a:t>]</a:t>
            </a:r>
          </a:p>
          <a:p>
            <a:endParaRPr lang="en-ID" sz="900" dirty="0"/>
          </a:p>
          <a:p>
            <a:r>
              <a:rPr lang="en-ID" sz="900" dirty="0"/>
              <a:t># </a:t>
            </a:r>
            <a:r>
              <a:rPr lang="en-ID" sz="900" dirty="0" err="1"/>
              <a:t>Tampilkan</a:t>
            </a:r>
            <a:r>
              <a:rPr lang="en-ID" sz="900" dirty="0"/>
              <a:t> </a:t>
            </a:r>
            <a:r>
              <a:rPr lang="en-ID" sz="900" dirty="0" err="1"/>
              <a:t>hasil</a:t>
            </a:r>
            <a:endParaRPr lang="en-ID" sz="900" dirty="0"/>
          </a:p>
          <a:p>
            <a:endParaRPr lang="en-ID" sz="900" dirty="0"/>
          </a:p>
          <a:p>
            <a:r>
              <a:rPr lang="en-ID" sz="900" dirty="0"/>
              <a:t>print("\n\</a:t>
            </a:r>
            <a:r>
              <a:rPr lang="en-ID" sz="900" dirty="0" err="1"/>
              <a:t>nHasil</a:t>
            </a:r>
            <a:r>
              <a:rPr lang="en-ID" sz="900" dirty="0"/>
              <a:t> </a:t>
            </a:r>
            <a:r>
              <a:rPr lang="en-ID" sz="900" dirty="0" err="1"/>
              <a:t>tokenisasi</a:t>
            </a:r>
            <a:r>
              <a:rPr lang="en-ID" sz="900" dirty="0"/>
              <a:t> </a:t>
            </a:r>
            <a:r>
              <a:rPr lang="en-ID" sz="900" dirty="0" err="1"/>
              <a:t>dengan</a:t>
            </a:r>
            <a:r>
              <a:rPr lang="en-ID" sz="900" dirty="0"/>
              <a:t> multi-word expressions:")</a:t>
            </a:r>
          </a:p>
          <a:p>
            <a:r>
              <a:rPr lang="en-ID" sz="900" dirty="0"/>
              <a:t>for sent in </a:t>
            </a:r>
            <a:r>
              <a:rPr lang="en-ID" sz="900" dirty="0" err="1"/>
              <a:t>phrased_sentences</a:t>
            </a:r>
            <a:r>
              <a:rPr lang="en-ID" sz="900" dirty="0"/>
              <a:t>:</a:t>
            </a:r>
          </a:p>
          <a:p>
            <a:r>
              <a:rPr lang="en-ID" sz="900" dirty="0"/>
              <a:t>    print(sent)</a:t>
            </a:r>
          </a:p>
          <a:p>
            <a:endParaRPr lang="en-ID" sz="900" dirty="0"/>
          </a:p>
          <a:p>
            <a:endParaRPr lang="en-ID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781677-41A7-C9C9-DFDD-837C333A90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71" y="2534956"/>
            <a:ext cx="6105286" cy="15435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6BBDEC5-A2D5-CE75-BEBF-EEB46171FBA5}"/>
              </a:ext>
            </a:extLst>
          </p:cNvPr>
          <p:cNvSpPr txBox="1"/>
          <p:nvPr/>
        </p:nvSpPr>
        <p:spPr>
          <a:xfrm>
            <a:off x="983974" y="4472609"/>
            <a:ext cx="494968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Try to make experiment using different thresholds and </a:t>
            </a:r>
            <a:r>
              <a:rPr lang="en-US" dirty="0" err="1"/>
              <a:t>min_count</a:t>
            </a:r>
            <a:r>
              <a:rPr lang="en-US" dirty="0"/>
              <a:t>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4 and 2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8 and 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D" dirty="0"/>
              <a:t>10 and 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D" dirty="0"/>
              <a:t>Etc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What if a new sentence is added?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0197053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75E77-2FA1-AB09-7839-F86223A56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Normalization or Standardize text format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29CD2-6F4E-5A11-D4EE-2DA62086A2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02965" cy="4351338"/>
          </a:xfrm>
        </p:spPr>
        <p:txBody>
          <a:bodyPr>
            <a:normAutofit fontScale="92500" lnSpcReduction="20000"/>
          </a:bodyPr>
          <a:lstStyle/>
          <a:p>
            <a:r>
              <a:rPr lang="en-ID" dirty="0"/>
              <a:t>Proses </a:t>
            </a:r>
            <a:r>
              <a:rPr lang="en-ID" dirty="0" err="1"/>
              <a:t>menyederhanakan</a:t>
            </a:r>
            <a:r>
              <a:rPr lang="en-ID" dirty="0"/>
              <a:t> dan </a:t>
            </a:r>
            <a:r>
              <a:rPr lang="en-ID" dirty="0" err="1"/>
              <a:t>menyeragamkan</a:t>
            </a:r>
            <a:r>
              <a:rPr lang="en-ID" dirty="0"/>
              <a:t> </a:t>
            </a:r>
            <a:r>
              <a:rPr lang="en-ID" dirty="0" err="1"/>
              <a:t>teks</a:t>
            </a:r>
            <a:r>
              <a:rPr lang="en-ID" dirty="0"/>
              <a:t> input </a:t>
            </a:r>
            <a:r>
              <a:rPr lang="en-ID" dirty="0" err="1"/>
              <a:t>dari</a:t>
            </a:r>
            <a:r>
              <a:rPr lang="en-ID" dirty="0"/>
              <a:t> user </a:t>
            </a:r>
            <a:r>
              <a:rPr lang="en-ID" dirty="0" err="1"/>
              <a:t>supaya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mudah</a:t>
            </a:r>
            <a:r>
              <a:rPr lang="en-ID" dirty="0"/>
              <a:t> </a:t>
            </a:r>
            <a:r>
              <a:rPr lang="en-ID" dirty="0" err="1"/>
              <a:t>diproses</a:t>
            </a:r>
            <a:r>
              <a:rPr lang="en-ID" dirty="0"/>
              <a:t> oleh model NLP. </a:t>
            </a:r>
          </a:p>
          <a:p>
            <a:r>
              <a:rPr lang="en-ID" dirty="0" err="1"/>
              <a:t>Mengurangi</a:t>
            </a:r>
            <a:r>
              <a:rPr lang="en-ID" dirty="0"/>
              <a:t> </a:t>
            </a:r>
            <a:r>
              <a:rPr lang="en-ID" dirty="0" err="1"/>
              <a:t>variasi</a:t>
            </a:r>
            <a:r>
              <a:rPr lang="en-ID" dirty="0"/>
              <a:t> </a:t>
            </a:r>
            <a:r>
              <a:rPr lang="en-ID" dirty="0" err="1"/>
              <a:t>teks</a:t>
            </a:r>
            <a:r>
              <a:rPr lang="en-ID" dirty="0"/>
              <a:t> yang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relevan</a:t>
            </a:r>
            <a:r>
              <a:rPr lang="en-ID" dirty="0"/>
              <a:t> dan yang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mengganggu</a:t>
            </a:r>
            <a:r>
              <a:rPr lang="en-ID" dirty="0"/>
              <a:t> </a:t>
            </a:r>
            <a:r>
              <a:rPr lang="en-ID" dirty="0" err="1"/>
              <a:t>analisis</a:t>
            </a:r>
            <a:r>
              <a:rPr lang="en-ID" dirty="0"/>
              <a:t>.</a:t>
            </a:r>
          </a:p>
          <a:p>
            <a:pPr lvl="1"/>
            <a:r>
              <a:rPr lang="en-ID" dirty="0"/>
              <a:t>Lowercasing (case-folding)</a:t>
            </a:r>
          </a:p>
          <a:p>
            <a:pPr lvl="1"/>
            <a:r>
              <a:rPr lang="en-ID" dirty="0"/>
              <a:t>Punctuation removal</a:t>
            </a:r>
          </a:p>
          <a:p>
            <a:pPr lvl="1"/>
            <a:r>
              <a:rPr lang="en-ID" dirty="0"/>
              <a:t>Whitespace normalization</a:t>
            </a:r>
          </a:p>
          <a:p>
            <a:pPr lvl="1"/>
            <a:r>
              <a:rPr lang="en-ID" dirty="0" err="1"/>
              <a:t>Stopwords</a:t>
            </a:r>
            <a:r>
              <a:rPr lang="en-ID" dirty="0"/>
              <a:t> removal (</a:t>
            </a:r>
            <a:r>
              <a:rPr lang="en-ID" dirty="0" err="1"/>
              <a:t>opsional</a:t>
            </a:r>
            <a:r>
              <a:rPr lang="en-ID" dirty="0"/>
              <a:t>)</a:t>
            </a:r>
          </a:p>
          <a:p>
            <a:pPr lvl="1"/>
            <a:r>
              <a:rPr lang="en-ID" dirty="0"/>
              <a:t>Stemming </a:t>
            </a:r>
            <a:r>
              <a:rPr lang="en-ID" dirty="0" err="1"/>
              <a:t>atau</a:t>
            </a:r>
            <a:r>
              <a:rPr lang="en-ID" dirty="0"/>
              <a:t> Lemmatization</a:t>
            </a:r>
          </a:p>
          <a:p>
            <a:pPr lvl="1"/>
            <a:r>
              <a:rPr lang="en-ID" dirty="0"/>
              <a:t>Handling typo </a:t>
            </a:r>
            <a:r>
              <a:rPr lang="en-ID" dirty="0" err="1"/>
              <a:t>atau</a:t>
            </a:r>
            <a:r>
              <a:rPr lang="en-ID" dirty="0"/>
              <a:t> slang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9112BCA-B707-820A-318A-B44D50A25C4F}"/>
              </a:ext>
            </a:extLst>
          </p:cNvPr>
          <p:cNvSpPr txBox="1">
            <a:spLocks/>
          </p:cNvSpPr>
          <p:nvPr/>
        </p:nvSpPr>
        <p:spPr>
          <a:xfrm>
            <a:off x="6341165" y="1825625"/>
            <a:ext cx="5502965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process of simplifying and standardizing user input text to make it easier for the NLP model to process.</a:t>
            </a:r>
          </a:p>
          <a:p>
            <a:r>
              <a:rPr lang="en-US" dirty="0"/>
              <a:t>Reducing irrelevant text variations that can interfere with analysis.</a:t>
            </a:r>
          </a:p>
          <a:p>
            <a:pPr lvl="1"/>
            <a:r>
              <a:rPr lang="en-US" dirty="0"/>
              <a:t>Lowercasing (case-folding)</a:t>
            </a:r>
          </a:p>
          <a:p>
            <a:pPr lvl="1"/>
            <a:r>
              <a:rPr lang="en-US" dirty="0"/>
              <a:t>Punctuation removal</a:t>
            </a:r>
          </a:p>
          <a:p>
            <a:pPr lvl="1"/>
            <a:r>
              <a:rPr lang="en-US" dirty="0"/>
              <a:t>Whitespace normalization</a:t>
            </a:r>
          </a:p>
          <a:p>
            <a:pPr lvl="1"/>
            <a:r>
              <a:rPr lang="en-US" dirty="0" err="1"/>
              <a:t>Stopwords</a:t>
            </a:r>
            <a:r>
              <a:rPr lang="en-US" dirty="0"/>
              <a:t> removal (optional)</a:t>
            </a:r>
          </a:p>
          <a:p>
            <a:pPr lvl="1"/>
            <a:r>
              <a:rPr lang="en-US" dirty="0"/>
              <a:t>Stemming or Lemmatization</a:t>
            </a:r>
          </a:p>
          <a:p>
            <a:pPr lvl="1"/>
            <a:r>
              <a:rPr lang="en-US" dirty="0"/>
              <a:t>Handling typos or slang</a:t>
            </a:r>
            <a:endParaRPr lang="en-ID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3BC8D9-E288-7912-4D55-E3DC8757344A}"/>
              </a:ext>
            </a:extLst>
          </p:cNvPr>
          <p:cNvSpPr txBox="1"/>
          <p:nvPr/>
        </p:nvSpPr>
        <p:spPr>
          <a:xfrm>
            <a:off x="3051313" y="6122505"/>
            <a:ext cx="6808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Reduce input variation → increase accuracy.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8937734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9D297-F713-6B5C-C745-B5B9A9C3F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Normalization or Standardize text format </a:t>
            </a:r>
            <a:endParaRPr lang="en-ID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3ABE71-9FD5-2735-74D3-EF7EF3FC1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912" y="1871207"/>
            <a:ext cx="10169145" cy="3217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8827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8E135-667A-31FE-5B1E-466503BF2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Normalization or Standardize text format </a:t>
            </a:r>
            <a:endParaRPr lang="en-ID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F8897A-FED5-A3DD-BAF0-4A6B026A95F0}"/>
              </a:ext>
            </a:extLst>
          </p:cNvPr>
          <p:cNvSpPr txBox="1"/>
          <p:nvPr/>
        </p:nvSpPr>
        <p:spPr>
          <a:xfrm>
            <a:off x="8150086" y="1582394"/>
            <a:ext cx="3203713" cy="4801314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D" sz="600" dirty="0"/>
              <a:t>import re</a:t>
            </a:r>
          </a:p>
          <a:p>
            <a:r>
              <a:rPr lang="en-ID" sz="600" dirty="0"/>
              <a:t>import string</a:t>
            </a:r>
          </a:p>
          <a:p>
            <a:endParaRPr lang="en-ID" sz="600" dirty="0"/>
          </a:p>
          <a:p>
            <a:r>
              <a:rPr lang="en-ID" sz="600" dirty="0"/>
              <a:t># Kamus </a:t>
            </a:r>
            <a:r>
              <a:rPr lang="en-ID" sz="600" dirty="0" err="1"/>
              <a:t>ekspansi</a:t>
            </a:r>
            <a:r>
              <a:rPr lang="en-ID" sz="600" dirty="0"/>
              <a:t> </a:t>
            </a:r>
            <a:r>
              <a:rPr lang="en-ID" sz="600" dirty="0" err="1"/>
              <a:t>kontraksi</a:t>
            </a:r>
            <a:r>
              <a:rPr lang="en-ID" sz="600" dirty="0"/>
              <a:t> (</a:t>
            </a:r>
            <a:r>
              <a:rPr lang="en-ID" sz="600" dirty="0" err="1"/>
              <a:t>bisa</a:t>
            </a:r>
            <a:r>
              <a:rPr lang="en-ID" sz="600" dirty="0"/>
              <a:t> </a:t>
            </a:r>
            <a:r>
              <a:rPr lang="en-ID" sz="600" dirty="0" err="1"/>
              <a:t>diperluas</a:t>
            </a:r>
            <a:r>
              <a:rPr lang="en-ID" sz="600" dirty="0"/>
              <a:t>)</a:t>
            </a:r>
          </a:p>
          <a:p>
            <a:r>
              <a:rPr lang="en-ID" sz="600" dirty="0" err="1"/>
              <a:t>contractions_dict</a:t>
            </a:r>
            <a:r>
              <a:rPr lang="en-ID" sz="600" dirty="0"/>
              <a:t> = {</a:t>
            </a:r>
          </a:p>
          <a:p>
            <a:r>
              <a:rPr lang="en-ID" sz="600" dirty="0"/>
              <a:t>    "</a:t>
            </a:r>
            <a:r>
              <a:rPr lang="en-ID" sz="600" dirty="0" err="1"/>
              <a:t>i'm</a:t>
            </a:r>
            <a:r>
              <a:rPr lang="en-ID" sz="600" dirty="0"/>
              <a:t>": "</a:t>
            </a:r>
            <a:r>
              <a:rPr lang="en-ID" sz="600" dirty="0" err="1"/>
              <a:t>i</a:t>
            </a:r>
            <a:r>
              <a:rPr lang="en-ID" sz="600" dirty="0"/>
              <a:t> am",</a:t>
            </a:r>
          </a:p>
          <a:p>
            <a:r>
              <a:rPr lang="en-ID" sz="600" dirty="0"/>
              <a:t>    "can't": "cannot",</a:t>
            </a:r>
          </a:p>
          <a:p>
            <a:r>
              <a:rPr lang="en-ID" sz="600" dirty="0"/>
              <a:t>    "don't": "do not",</a:t>
            </a:r>
          </a:p>
          <a:p>
            <a:r>
              <a:rPr lang="en-ID" sz="600" dirty="0"/>
              <a:t>    "idk": "</a:t>
            </a:r>
            <a:r>
              <a:rPr lang="en-ID" sz="600" dirty="0" err="1"/>
              <a:t>i</a:t>
            </a:r>
            <a:r>
              <a:rPr lang="en-ID" sz="600" dirty="0"/>
              <a:t> do not know",</a:t>
            </a:r>
          </a:p>
          <a:p>
            <a:r>
              <a:rPr lang="en-ID" sz="600" dirty="0"/>
              <a:t>    "won't": "will not",</a:t>
            </a:r>
          </a:p>
          <a:p>
            <a:r>
              <a:rPr lang="en-ID" sz="600" dirty="0"/>
              <a:t>    "it's": "it is",</a:t>
            </a:r>
          </a:p>
          <a:p>
            <a:r>
              <a:rPr lang="en-ID" sz="600" dirty="0"/>
              <a:t>    "</a:t>
            </a:r>
            <a:r>
              <a:rPr lang="en-ID" sz="600" dirty="0" err="1"/>
              <a:t>i've</a:t>
            </a:r>
            <a:r>
              <a:rPr lang="en-ID" sz="600" dirty="0"/>
              <a:t>": "</a:t>
            </a:r>
            <a:r>
              <a:rPr lang="en-ID" sz="600" dirty="0" err="1"/>
              <a:t>i</a:t>
            </a:r>
            <a:r>
              <a:rPr lang="en-ID" sz="600" dirty="0"/>
              <a:t> have",</a:t>
            </a:r>
          </a:p>
          <a:p>
            <a:r>
              <a:rPr lang="en-ID" sz="600" dirty="0"/>
              <a:t>    "you're": "you are",</a:t>
            </a:r>
          </a:p>
          <a:p>
            <a:r>
              <a:rPr lang="en-ID" sz="600" dirty="0"/>
              <a:t>    "we're": "we are",</a:t>
            </a:r>
          </a:p>
          <a:p>
            <a:r>
              <a:rPr lang="en-ID" sz="600" dirty="0"/>
              <a:t>    "they're": "they are",</a:t>
            </a:r>
          </a:p>
          <a:p>
            <a:r>
              <a:rPr lang="en-ID" sz="600" dirty="0"/>
              <a:t>    "</a:t>
            </a:r>
            <a:r>
              <a:rPr lang="en-ID" sz="600" dirty="0" err="1"/>
              <a:t>wanna</a:t>
            </a:r>
            <a:r>
              <a:rPr lang="en-ID" sz="600" dirty="0"/>
              <a:t>": "want to",</a:t>
            </a:r>
          </a:p>
          <a:p>
            <a:r>
              <a:rPr lang="en-ID" sz="600" dirty="0"/>
              <a:t>    "</a:t>
            </a:r>
            <a:r>
              <a:rPr lang="en-ID" sz="600" dirty="0" err="1"/>
              <a:t>gonna</a:t>
            </a:r>
            <a:r>
              <a:rPr lang="en-ID" sz="600" dirty="0"/>
              <a:t>": "going to",</a:t>
            </a:r>
          </a:p>
          <a:p>
            <a:r>
              <a:rPr lang="en-ID" sz="600" dirty="0"/>
              <a:t>    "pls": "please",</a:t>
            </a:r>
          </a:p>
          <a:p>
            <a:r>
              <a:rPr lang="en-ID" sz="600" dirty="0"/>
              <a:t>    "asap": "as soon as possible"</a:t>
            </a:r>
          </a:p>
          <a:p>
            <a:r>
              <a:rPr lang="en-ID" sz="600" dirty="0"/>
              <a:t>}</a:t>
            </a:r>
          </a:p>
          <a:p>
            <a:endParaRPr lang="en-ID" sz="600" dirty="0"/>
          </a:p>
          <a:p>
            <a:r>
              <a:rPr lang="en-ID" sz="600" dirty="0"/>
              <a:t># </a:t>
            </a:r>
            <a:r>
              <a:rPr lang="en-ID" sz="600" dirty="0" err="1"/>
              <a:t>Fungsi</a:t>
            </a:r>
            <a:r>
              <a:rPr lang="en-ID" sz="600" dirty="0"/>
              <a:t> </a:t>
            </a:r>
            <a:r>
              <a:rPr lang="en-ID" sz="600" dirty="0" err="1"/>
              <a:t>ekspansi</a:t>
            </a:r>
            <a:r>
              <a:rPr lang="en-ID" sz="600" dirty="0"/>
              <a:t> </a:t>
            </a:r>
            <a:r>
              <a:rPr lang="en-ID" sz="600" dirty="0" err="1"/>
              <a:t>kontraksi</a:t>
            </a:r>
            <a:endParaRPr lang="en-ID" sz="600" dirty="0"/>
          </a:p>
          <a:p>
            <a:r>
              <a:rPr lang="en-ID" sz="600" dirty="0"/>
              <a:t>def </a:t>
            </a:r>
            <a:r>
              <a:rPr lang="en-ID" sz="600" dirty="0" err="1"/>
              <a:t>expand_contractions</a:t>
            </a:r>
            <a:r>
              <a:rPr lang="en-ID" sz="600" dirty="0"/>
              <a:t>(text, contractions=</a:t>
            </a:r>
            <a:r>
              <a:rPr lang="en-ID" sz="600" dirty="0" err="1"/>
              <a:t>contractions_dict</a:t>
            </a:r>
            <a:r>
              <a:rPr lang="en-ID" sz="600" dirty="0"/>
              <a:t>):</a:t>
            </a:r>
          </a:p>
          <a:p>
            <a:r>
              <a:rPr lang="en-ID" sz="600" dirty="0"/>
              <a:t>    pattern = </a:t>
            </a:r>
            <a:r>
              <a:rPr lang="en-ID" sz="600" dirty="0" err="1"/>
              <a:t>re.compile</a:t>
            </a:r>
            <a:r>
              <a:rPr lang="en-ID" sz="600" dirty="0"/>
              <a:t>(r'\b(' + '|'.join(</a:t>
            </a:r>
            <a:r>
              <a:rPr lang="en-ID" sz="600" dirty="0" err="1"/>
              <a:t>re.escape</a:t>
            </a:r>
            <a:r>
              <a:rPr lang="en-ID" sz="600" dirty="0"/>
              <a:t>(key) for key in </a:t>
            </a:r>
            <a:r>
              <a:rPr lang="en-ID" sz="600" dirty="0" err="1"/>
              <a:t>contractions.keys</a:t>
            </a:r>
            <a:r>
              <a:rPr lang="en-ID" sz="600" dirty="0"/>
              <a:t>()) + r')\b')</a:t>
            </a:r>
          </a:p>
          <a:p>
            <a:r>
              <a:rPr lang="en-ID" sz="600" dirty="0"/>
              <a:t>    return </a:t>
            </a:r>
            <a:r>
              <a:rPr lang="en-ID" sz="600" dirty="0" err="1"/>
              <a:t>pattern.sub</a:t>
            </a:r>
            <a:r>
              <a:rPr lang="en-ID" sz="600" dirty="0"/>
              <a:t>(lambda x: contractions[</a:t>
            </a:r>
            <a:r>
              <a:rPr lang="en-ID" sz="600" dirty="0" err="1"/>
              <a:t>x.group</a:t>
            </a:r>
            <a:r>
              <a:rPr lang="en-ID" sz="600" dirty="0"/>
              <a:t>().lower()], text)</a:t>
            </a:r>
          </a:p>
          <a:p>
            <a:endParaRPr lang="en-ID" sz="600" dirty="0"/>
          </a:p>
          <a:p>
            <a:r>
              <a:rPr lang="en-ID" sz="600" dirty="0"/>
              <a:t># </a:t>
            </a:r>
            <a:r>
              <a:rPr lang="en-ID" sz="600" dirty="0" err="1"/>
              <a:t>Fungsi</a:t>
            </a:r>
            <a:r>
              <a:rPr lang="en-ID" sz="600" dirty="0"/>
              <a:t> </a:t>
            </a:r>
            <a:r>
              <a:rPr lang="en-ID" sz="600" dirty="0" err="1"/>
              <a:t>normalisasi</a:t>
            </a:r>
            <a:endParaRPr lang="en-ID" sz="600" dirty="0"/>
          </a:p>
          <a:p>
            <a:r>
              <a:rPr lang="en-ID" sz="600" dirty="0"/>
              <a:t>def </a:t>
            </a:r>
            <a:r>
              <a:rPr lang="en-ID" sz="600" dirty="0" err="1"/>
              <a:t>normalize_text</a:t>
            </a:r>
            <a:r>
              <a:rPr lang="en-ID" sz="600" dirty="0"/>
              <a:t>(text):</a:t>
            </a:r>
          </a:p>
          <a:p>
            <a:r>
              <a:rPr lang="en-ID" sz="600" dirty="0"/>
              <a:t>    text = </a:t>
            </a:r>
            <a:r>
              <a:rPr lang="en-ID" sz="600" dirty="0" err="1"/>
              <a:t>text.lower</a:t>
            </a:r>
            <a:r>
              <a:rPr lang="en-ID" sz="600" dirty="0"/>
              <a:t>()  # lowercase</a:t>
            </a:r>
          </a:p>
          <a:p>
            <a:r>
              <a:rPr lang="en-ID" sz="600" dirty="0"/>
              <a:t>    text = </a:t>
            </a:r>
            <a:r>
              <a:rPr lang="en-ID" sz="600" dirty="0" err="1"/>
              <a:t>expand_contractions</a:t>
            </a:r>
            <a:r>
              <a:rPr lang="en-ID" sz="600" dirty="0"/>
              <a:t>(text)  # </a:t>
            </a:r>
            <a:r>
              <a:rPr lang="en-ID" sz="600" dirty="0" err="1"/>
              <a:t>ekspansi</a:t>
            </a:r>
            <a:r>
              <a:rPr lang="en-ID" sz="600" dirty="0"/>
              <a:t> </a:t>
            </a:r>
            <a:r>
              <a:rPr lang="en-ID" sz="600" dirty="0" err="1"/>
              <a:t>kontraksi</a:t>
            </a:r>
            <a:endParaRPr lang="en-ID" sz="600" dirty="0"/>
          </a:p>
          <a:p>
            <a:r>
              <a:rPr lang="en-ID" sz="600" dirty="0"/>
              <a:t>    text = </a:t>
            </a:r>
            <a:r>
              <a:rPr lang="en-ID" sz="600" dirty="0" err="1"/>
              <a:t>re.sub</a:t>
            </a:r>
            <a:r>
              <a:rPr lang="en-ID" sz="600" dirty="0"/>
              <a:t>(r'\d+', '&lt;NUM&gt;', text)  # </a:t>
            </a:r>
            <a:r>
              <a:rPr lang="en-ID" sz="600" dirty="0" err="1"/>
              <a:t>ganti</a:t>
            </a:r>
            <a:r>
              <a:rPr lang="en-ID" sz="600" dirty="0"/>
              <a:t> </a:t>
            </a:r>
            <a:r>
              <a:rPr lang="en-ID" sz="600" dirty="0" err="1"/>
              <a:t>angka</a:t>
            </a:r>
            <a:r>
              <a:rPr lang="en-ID" sz="600" dirty="0"/>
              <a:t> </a:t>
            </a:r>
            <a:r>
              <a:rPr lang="en-ID" sz="600" dirty="0" err="1"/>
              <a:t>dengan</a:t>
            </a:r>
            <a:r>
              <a:rPr lang="en-ID" sz="600" dirty="0"/>
              <a:t> &lt;NUM&gt;</a:t>
            </a:r>
          </a:p>
          <a:p>
            <a:r>
              <a:rPr lang="en-ID" sz="600" dirty="0"/>
              <a:t>    text = </a:t>
            </a:r>
            <a:r>
              <a:rPr lang="en-ID" sz="600" dirty="0" err="1"/>
              <a:t>re.sub</a:t>
            </a:r>
            <a:r>
              <a:rPr lang="en-ID" sz="600" dirty="0"/>
              <a:t>(r'[' + </a:t>
            </a:r>
            <a:r>
              <a:rPr lang="en-ID" sz="600" dirty="0" err="1"/>
              <a:t>string.punctuation</a:t>
            </a:r>
            <a:r>
              <a:rPr lang="en-ID" sz="600" dirty="0"/>
              <a:t> + ']', '', text)  # hapus </a:t>
            </a:r>
            <a:r>
              <a:rPr lang="en-ID" sz="600" dirty="0" err="1"/>
              <a:t>tanda</a:t>
            </a:r>
            <a:r>
              <a:rPr lang="en-ID" sz="600" dirty="0"/>
              <a:t> </a:t>
            </a:r>
            <a:r>
              <a:rPr lang="en-ID" sz="600" dirty="0" err="1"/>
              <a:t>baca</a:t>
            </a:r>
            <a:endParaRPr lang="en-ID" sz="600" dirty="0"/>
          </a:p>
          <a:p>
            <a:r>
              <a:rPr lang="en-ID" sz="600" dirty="0"/>
              <a:t>    text = </a:t>
            </a:r>
            <a:r>
              <a:rPr lang="en-ID" sz="600" dirty="0" err="1"/>
              <a:t>re.sub</a:t>
            </a:r>
            <a:r>
              <a:rPr lang="en-ID" sz="600" dirty="0"/>
              <a:t>(r'\s+', ' ', text).strip()  # hapus </a:t>
            </a:r>
            <a:r>
              <a:rPr lang="en-ID" sz="600" dirty="0" err="1"/>
              <a:t>spasi</a:t>
            </a:r>
            <a:r>
              <a:rPr lang="en-ID" sz="600" dirty="0"/>
              <a:t> </a:t>
            </a:r>
            <a:r>
              <a:rPr lang="en-ID" sz="600" dirty="0" err="1"/>
              <a:t>berlebih</a:t>
            </a:r>
            <a:endParaRPr lang="en-ID" sz="600" dirty="0"/>
          </a:p>
          <a:p>
            <a:r>
              <a:rPr lang="en-ID" sz="600" dirty="0"/>
              <a:t>    return text</a:t>
            </a:r>
          </a:p>
          <a:p>
            <a:endParaRPr lang="en-ID" sz="600" dirty="0"/>
          </a:p>
          <a:p>
            <a:r>
              <a:rPr lang="en-ID" sz="600" dirty="0"/>
              <a:t># </a:t>
            </a:r>
            <a:r>
              <a:rPr lang="en-ID" sz="600" dirty="0" err="1"/>
              <a:t>Contoh</a:t>
            </a:r>
            <a:r>
              <a:rPr lang="en-ID" sz="600" dirty="0"/>
              <a:t> </a:t>
            </a:r>
            <a:r>
              <a:rPr lang="en-ID" sz="600" dirty="0" err="1"/>
              <a:t>kalimat</a:t>
            </a:r>
            <a:endParaRPr lang="en-ID" sz="600" dirty="0"/>
          </a:p>
          <a:p>
            <a:r>
              <a:rPr lang="en-ID" sz="600" dirty="0"/>
              <a:t>sentences = [</a:t>
            </a:r>
          </a:p>
          <a:p>
            <a:r>
              <a:rPr lang="en-ID" sz="600" dirty="0"/>
              <a:t>    "HELLO!!! I </a:t>
            </a:r>
            <a:r>
              <a:rPr lang="en-ID" sz="600" dirty="0" err="1"/>
              <a:t>wanna</a:t>
            </a:r>
            <a:r>
              <a:rPr lang="en-ID" sz="600" dirty="0"/>
              <a:t> KNOW the OPENING hours pls!!! 😅",</a:t>
            </a:r>
          </a:p>
          <a:p>
            <a:r>
              <a:rPr lang="en-ID" sz="600" dirty="0"/>
              <a:t>    "When's the shop open? I need info ASAP!!!",</a:t>
            </a:r>
          </a:p>
          <a:p>
            <a:r>
              <a:rPr lang="en-ID" sz="600" dirty="0"/>
              <a:t>    "I've got 2 dogs &amp; 3 cats.",</a:t>
            </a:r>
          </a:p>
          <a:p>
            <a:r>
              <a:rPr lang="en-ID" sz="600" dirty="0"/>
              <a:t>    "Thanks </a:t>
            </a:r>
            <a:r>
              <a:rPr lang="en-ID" sz="600" dirty="0" err="1"/>
              <a:t>soooo</a:t>
            </a:r>
            <a:r>
              <a:rPr lang="en-ID" sz="600" dirty="0"/>
              <a:t> much!!! 🙏🙏",</a:t>
            </a:r>
          </a:p>
          <a:p>
            <a:r>
              <a:rPr lang="en-ID" sz="600" dirty="0"/>
              <a:t>    "Idk why it’s taking </a:t>
            </a:r>
            <a:r>
              <a:rPr lang="en-ID" sz="600" dirty="0" err="1"/>
              <a:t>soooo</a:t>
            </a:r>
            <a:r>
              <a:rPr lang="en-ID" sz="600" dirty="0"/>
              <a:t> long :("</a:t>
            </a:r>
          </a:p>
          <a:p>
            <a:r>
              <a:rPr lang="en-ID" sz="600" dirty="0"/>
              <a:t>]</a:t>
            </a:r>
          </a:p>
          <a:p>
            <a:endParaRPr lang="en-ID" sz="600" dirty="0"/>
          </a:p>
          <a:p>
            <a:r>
              <a:rPr lang="en-ID" sz="600" dirty="0"/>
              <a:t># </a:t>
            </a:r>
            <a:r>
              <a:rPr lang="en-ID" sz="600" dirty="0" err="1"/>
              <a:t>Normalisasi</a:t>
            </a:r>
            <a:endParaRPr lang="en-ID" sz="600" dirty="0"/>
          </a:p>
          <a:p>
            <a:r>
              <a:rPr lang="en-ID" sz="600" dirty="0"/>
              <a:t>for s in sentences:</a:t>
            </a:r>
          </a:p>
          <a:p>
            <a:r>
              <a:rPr lang="en-ID" sz="600" dirty="0"/>
              <a:t>    normalized = </a:t>
            </a:r>
            <a:r>
              <a:rPr lang="en-ID" sz="600" dirty="0" err="1"/>
              <a:t>normalize_text</a:t>
            </a:r>
            <a:r>
              <a:rPr lang="en-ID" sz="600" dirty="0"/>
              <a:t>(s)</a:t>
            </a:r>
          </a:p>
          <a:p>
            <a:r>
              <a:rPr lang="en-ID" sz="600" dirty="0"/>
              <a:t>    print(</a:t>
            </a:r>
            <a:r>
              <a:rPr lang="en-ID" sz="600" dirty="0" err="1"/>
              <a:t>f"Original</a:t>
            </a:r>
            <a:r>
              <a:rPr lang="en-ID" sz="600" dirty="0"/>
              <a:t>: {s}")</a:t>
            </a:r>
          </a:p>
          <a:p>
            <a:r>
              <a:rPr lang="en-ID" sz="600" dirty="0"/>
              <a:t>    print(</a:t>
            </a:r>
            <a:r>
              <a:rPr lang="en-ID" sz="600" dirty="0" err="1"/>
              <a:t>f"Normalized</a:t>
            </a:r>
            <a:r>
              <a:rPr lang="en-ID" sz="600" dirty="0"/>
              <a:t>: {normalized}")</a:t>
            </a:r>
          </a:p>
          <a:p>
            <a:r>
              <a:rPr lang="en-ID" sz="600" dirty="0"/>
              <a:t>    print()</a:t>
            </a:r>
          </a:p>
          <a:p>
            <a:endParaRPr lang="en-ID" sz="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310CCB-6E0E-C646-2C3A-7A56506751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875" y="2027581"/>
            <a:ext cx="7476080" cy="236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1021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llout: Quad Arrow 1">
            <a:extLst>
              <a:ext uri="{FF2B5EF4-FFF2-40B4-BE49-F238E27FC236}">
                <a16:creationId xmlns:a16="http://schemas.microsoft.com/office/drawing/2014/main" id="{96144995-9AAD-6874-AC55-3DDCDBEA3366}"/>
              </a:ext>
            </a:extLst>
          </p:cNvPr>
          <p:cNvSpPr/>
          <p:nvPr/>
        </p:nvSpPr>
        <p:spPr>
          <a:xfrm>
            <a:off x="4512365" y="2345635"/>
            <a:ext cx="2743200" cy="2494722"/>
          </a:xfrm>
          <a:prstGeom prst="quad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678080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539A2-7CFE-24E5-6E7B-C2A959C23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Parsing and Tagging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92BEE-2F00-C8D5-6685-4C03D44426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45157" cy="2766253"/>
          </a:xfrm>
        </p:spPr>
        <p:txBody>
          <a:bodyPr>
            <a:normAutofit lnSpcReduction="10000"/>
          </a:bodyPr>
          <a:lstStyle/>
          <a:p>
            <a:r>
              <a:rPr lang="en-ID" dirty="0" err="1"/>
              <a:t>Membaca</a:t>
            </a:r>
            <a:r>
              <a:rPr lang="en-ID" dirty="0"/>
              <a:t> </a:t>
            </a:r>
            <a:r>
              <a:rPr lang="en-ID" dirty="0" err="1"/>
              <a:t>struktur</a:t>
            </a:r>
            <a:r>
              <a:rPr lang="en-ID" dirty="0"/>
              <a:t> dan </a:t>
            </a:r>
            <a:r>
              <a:rPr lang="en-ID" dirty="0" err="1"/>
              <a:t>makna</a:t>
            </a:r>
            <a:r>
              <a:rPr lang="en-ID" dirty="0"/>
              <a:t> </a:t>
            </a:r>
            <a:r>
              <a:rPr lang="en-ID" dirty="0" err="1"/>
              <a:t>teks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mendalam</a:t>
            </a:r>
            <a:r>
              <a:rPr lang="en-ID" dirty="0"/>
              <a:t>. </a:t>
            </a:r>
          </a:p>
          <a:p>
            <a:r>
              <a:rPr lang="en-ID" dirty="0" err="1"/>
              <a:t>Setelah</a:t>
            </a:r>
            <a:r>
              <a:rPr lang="en-ID" dirty="0"/>
              <a:t> preprocessing dan tokenization</a:t>
            </a:r>
          </a:p>
          <a:p>
            <a:r>
              <a:rPr lang="en-ID" dirty="0" err="1"/>
              <a:t>Sebelum</a:t>
            </a:r>
            <a:r>
              <a:rPr lang="en-ID" dirty="0"/>
              <a:t> </a:t>
            </a:r>
            <a:r>
              <a:rPr lang="en-ID" dirty="0" err="1"/>
              <a:t>masuk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tahap</a:t>
            </a:r>
            <a:r>
              <a:rPr lang="en-ID" dirty="0"/>
              <a:t> intent classification </a:t>
            </a:r>
            <a:r>
              <a:rPr lang="en-ID" dirty="0" err="1"/>
              <a:t>atau</a:t>
            </a:r>
            <a:r>
              <a:rPr lang="en-ID" dirty="0"/>
              <a:t> entity recognition.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A4104E-7E29-F015-3CAD-CA5C1013E2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6366" y="4807334"/>
            <a:ext cx="6418668" cy="1836768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0C7AC73-4BE6-DCC5-1328-2A958E8FDD1A}"/>
              </a:ext>
            </a:extLst>
          </p:cNvPr>
          <p:cNvSpPr txBox="1">
            <a:spLocks/>
          </p:cNvSpPr>
          <p:nvPr/>
        </p:nvSpPr>
        <p:spPr>
          <a:xfrm>
            <a:off x="6390861" y="1825625"/>
            <a:ext cx="4962939" cy="276625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Read the structure and meaning of the text in more depth.</a:t>
            </a:r>
          </a:p>
          <a:p>
            <a:r>
              <a:rPr lang="en-US" dirty="0"/>
              <a:t>After preprocessing and tokenization</a:t>
            </a:r>
          </a:p>
          <a:p>
            <a:r>
              <a:rPr lang="en-US" dirty="0"/>
              <a:t>Before entering the intent classification or entity recognition stage.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2603850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BFABC-43DA-1D74-7115-8E8475D68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Parsing: Understanding the structure of sentence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F5DC7-2540-A613-DB86-A6BB6CCD9F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63209" cy="2666862"/>
          </a:xfrm>
        </p:spPr>
        <p:txBody>
          <a:bodyPr/>
          <a:lstStyle/>
          <a:p>
            <a:r>
              <a:rPr lang="en-ID" dirty="0" err="1"/>
              <a:t>Menganalisis</a:t>
            </a:r>
            <a:r>
              <a:rPr lang="en-ID" dirty="0"/>
              <a:t> </a:t>
            </a:r>
            <a:r>
              <a:rPr lang="en-ID" b="1" dirty="0" err="1"/>
              <a:t>struktur</a:t>
            </a:r>
            <a:r>
              <a:rPr lang="en-ID" dirty="0"/>
              <a:t> </a:t>
            </a:r>
            <a:r>
              <a:rPr lang="en-ID" b="1" dirty="0" err="1"/>
              <a:t>sintaksis</a:t>
            </a:r>
            <a:r>
              <a:rPr lang="en-ID" dirty="0"/>
              <a:t> </a:t>
            </a:r>
            <a:r>
              <a:rPr lang="en-ID" dirty="0" err="1"/>
              <a:t>sebuah</a:t>
            </a:r>
            <a:r>
              <a:rPr lang="en-ID" dirty="0"/>
              <a:t> </a:t>
            </a:r>
            <a:r>
              <a:rPr lang="en-ID" dirty="0" err="1"/>
              <a:t>kalimat</a:t>
            </a:r>
            <a:r>
              <a:rPr lang="en-ID" dirty="0"/>
              <a:t> </a:t>
            </a:r>
            <a:r>
              <a:rPr lang="en-ID" dirty="0" err="1"/>
              <a:t>berdasarkan</a:t>
            </a:r>
            <a:r>
              <a:rPr lang="en-ID" dirty="0"/>
              <a:t> grammar.</a:t>
            </a:r>
          </a:p>
          <a:p>
            <a:r>
              <a:rPr lang="en-ID" dirty="0" err="1"/>
              <a:t>Mengetahui</a:t>
            </a:r>
            <a:r>
              <a:rPr lang="en-ID" dirty="0"/>
              <a:t> </a:t>
            </a:r>
            <a:r>
              <a:rPr lang="en-ID" dirty="0" err="1"/>
              <a:t>bagaimana</a:t>
            </a:r>
            <a:r>
              <a:rPr lang="en-ID" dirty="0"/>
              <a:t> </a:t>
            </a:r>
            <a:r>
              <a:rPr lang="en-ID" b="1" dirty="0"/>
              <a:t>kata-kata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kalimat</a:t>
            </a:r>
            <a:r>
              <a:rPr lang="en-ID" dirty="0"/>
              <a:t> </a:t>
            </a:r>
            <a:r>
              <a:rPr lang="en-ID" dirty="0" err="1"/>
              <a:t>saling</a:t>
            </a:r>
            <a:r>
              <a:rPr lang="en-ID" dirty="0"/>
              <a:t> </a:t>
            </a:r>
            <a:r>
              <a:rPr lang="en-ID" b="1" dirty="0" err="1"/>
              <a:t>berhubungan</a:t>
            </a:r>
            <a:r>
              <a:rPr lang="en-ID" dirty="0"/>
              <a:t> (</a:t>
            </a:r>
            <a:r>
              <a:rPr lang="en-ID" dirty="0" err="1"/>
              <a:t>siapa</a:t>
            </a:r>
            <a:r>
              <a:rPr lang="en-ID" dirty="0"/>
              <a:t> </a:t>
            </a:r>
            <a:r>
              <a:rPr lang="en-ID" dirty="0" err="1"/>
              <a:t>subjek</a:t>
            </a:r>
            <a:r>
              <a:rPr lang="en-ID" dirty="0"/>
              <a:t>, </a:t>
            </a:r>
            <a:r>
              <a:rPr lang="en-ID" dirty="0" err="1"/>
              <a:t>predikat</a:t>
            </a:r>
            <a:r>
              <a:rPr lang="en-ID" dirty="0"/>
              <a:t>, </a:t>
            </a:r>
            <a:r>
              <a:rPr lang="en-ID" dirty="0" err="1"/>
              <a:t>objek</a:t>
            </a:r>
            <a:r>
              <a:rPr lang="en-ID" dirty="0"/>
              <a:t>, </a:t>
            </a:r>
            <a:r>
              <a:rPr lang="en-ID" dirty="0" err="1"/>
              <a:t>dll</a:t>
            </a:r>
            <a:r>
              <a:rPr lang="en-ID" dirty="0"/>
              <a:t>.).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B91E43-B0A2-9D9E-14EE-7757994268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8339" y="4634284"/>
            <a:ext cx="6103211" cy="1858591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25954DF-DCC5-21C3-E004-9F6831177E59}"/>
              </a:ext>
            </a:extLst>
          </p:cNvPr>
          <p:cNvSpPr txBox="1">
            <a:spLocks/>
          </p:cNvSpPr>
          <p:nvPr/>
        </p:nvSpPr>
        <p:spPr>
          <a:xfrm>
            <a:off x="6437245" y="1825625"/>
            <a:ext cx="5463209" cy="26668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Analyze the </a:t>
            </a:r>
            <a:r>
              <a:rPr lang="en-US" b="1" dirty="0"/>
              <a:t>syntactic</a:t>
            </a:r>
            <a:r>
              <a:rPr lang="en-US" dirty="0"/>
              <a:t> </a:t>
            </a:r>
            <a:r>
              <a:rPr lang="en-US" b="1" dirty="0"/>
              <a:t>structure</a:t>
            </a:r>
            <a:r>
              <a:rPr lang="en-US" dirty="0"/>
              <a:t> of a sentence based on grammar.</a:t>
            </a:r>
          </a:p>
          <a:p>
            <a:r>
              <a:rPr lang="en-US" dirty="0"/>
              <a:t>Know how </a:t>
            </a:r>
            <a:r>
              <a:rPr lang="en-US" b="1" dirty="0"/>
              <a:t>words</a:t>
            </a:r>
            <a:r>
              <a:rPr lang="en-US" dirty="0"/>
              <a:t> in a sentence </a:t>
            </a:r>
            <a:r>
              <a:rPr lang="en-US" b="1" dirty="0"/>
              <a:t>relate</a:t>
            </a:r>
            <a:r>
              <a:rPr lang="en-US" dirty="0"/>
              <a:t> to each other (who is the subject, predicate, object, etc.).</a:t>
            </a:r>
            <a:endParaRPr lang="en-ID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839135-783A-4F7E-B49B-7A470E128A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5218" y="5734878"/>
            <a:ext cx="2614425" cy="7579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55E0BB-31FC-AA99-47BE-2F7AA210DD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121" y="4253779"/>
            <a:ext cx="1932420" cy="1227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9639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25C6C-4808-9E6C-E83B-2A6647435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use parsing to understand a sentence?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170BC1-8B83-F67F-60D3-0A9BBD4748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86954" cy="4351338"/>
          </a:xfrm>
        </p:spPr>
        <p:txBody>
          <a:bodyPr/>
          <a:lstStyle/>
          <a:p>
            <a:r>
              <a:rPr lang="en-ID" b="1" dirty="0"/>
              <a:t>Get main verb (root)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75CE17-3098-48B5-B13C-8C7D60FD46EF}"/>
              </a:ext>
            </a:extLst>
          </p:cNvPr>
          <p:cNvSpPr txBox="1"/>
          <p:nvPr/>
        </p:nvSpPr>
        <p:spPr>
          <a:xfrm>
            <a:off x="6810550" y="1137563"/>
            <a:ext cx="5060084" cy="4832092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D" sz="1400" dirty="0"/>
              <a:t>import spacy</a:t>
            </a:r>
          </a:p>
          <a:p>
            <a:endParaRPr lang="en-ID" sz="1400" dirty="0"/>
          </a:p>
          <a:p>
            <a:r>
              <a:rPr lang="en-ID" sz="1400" dirty="0"/>
              <a:t># Load pre-trained English model</a:t>
            </a:r>
          </a:p>
          <a:p>
            <a:r>
              <a:rPr lang="en-ID" sz="1400" dirty="0"/>
              <a:t># # Bisa </a:t>
            </a:r>
            <a:r>
              <a:rPr lang="en-ID" sz="1400" dirty="0" err="1"/>
              <a:t>ganti</a:t>
            </a:r>
            <a:r>
              <a:rPr lang="en-ID" sz="1400" dirty="0"/>
              <a:t> </a:t>
            </a:r>
            <a:r>
              <a:rPr lang="en-ID" sz="1400" dirty="0" err="1"/>
              <a:t>dengan</a:t>
            </a:r>
            <a:r>
              <a:rPr lang="en-ID" sz="1400" dirty="0"/>
              <a:t> "</a:t>
            </a:r>
            <a:r>
              <a:rPr lang="en-ID" sz="1400" dirty="0" err="1"/>
              <a:t>id_core_news_sm</a:t>
            </a:r>
            <a:r>
              <a:rPr lang="en-ID" sz="1400" dirty="0"/>
              <a:t>" </a:t>
            </a:r>
          </a:p>
          <a:p>
            <a:r>
              <a:rPr lang="en-ID" sz="1400" dirty="0" err="1"/>
              <a:t>nlp</a:t>
            </a:r>
            <a:r>
              <a:rPr lang="en-ID" sz="1400" dirty="0"/>
              <a:t> = </a:t>
            </a:r>
            <a:r>
              <a:rPr lang="en-ID" sz="1400" dirty="0" err="1"/>
              <a:t>spacy.load</a:t>
            </a:r>
            <a:r>
              <a:rPr lang="en-ID" sz="1400" dirty="0"/>
              <a:t>("</a:t>
            </a:r>
            <a:r>
              <a:rPr lang="en-ID" sz="1400" dirty="0" err="1"/>
              <a:t>en_core_web_sm</a:t>
            </a:r>
            <a:r>
              <a:rPr lang="en-ID" sz="1400" dirty="0"/>
              <a:t>")   </a:t>
            </a:r>
          </a:p>
          <a:p>
            <a:endParaRPr lang="en-ID" sz="1400" dirty="0"/>
          </a:p>
          <a:p>
            <a:r>
              <a:rPr lang="en-ID" sz="1400" dirty="0"/>
              <a:t># </a:t>
            </a:r>
            <a:r>
              <a:rPr lang="en-ID" sz="1400" dirty="0" err="1"/>
              <a:t>Contoh</a:t>
            </a:r>
            <a:r>
              <a:rPr lang="en-ID" sz="1400" dirty="0"/>
              <a:t> </a:t>
            </a:r>
            <a:r>
              <a:rPr lang="en-ID" sz="1400" dirty="0" err="1"/>
              <a:t>kalimat</a:t>
            </a:r>
            <a:endParaRPr lang="en-ID" sz="1400" dirty="0"/>
          </a:p>
          <a:p>
            <a:r>
              <a:rPr lang="en-ID" sz="1400" dirty="0"/>
              <a:t>sentence = "John gave Mary a book."</a:t>
            </a:r>
          </a:p>
          <a:p>
            <a:endParaRPr lang="en-ID" sz="1400" dirty="0"/>
          </a:p>
          <a:p>
            <a:r>
              <a:rPr lang="en-ID" sz="1400" dirty="0"/>
              <a:t># Proses parsing</a:t>
            </a:r>
          </a:p>
          <a:p>
            <a:r>
              <a:rPr lang="en-ID" sz="1400" dirty="0"/>
              <a:t>doc = </a:t>
            </a:r>
            <a:r>
              <a:rPr lang="en-ID" sz="1400" dirty="0" err="1"/>
              <a:t>nlp</a:t>
            </a:r>
            <a:r>
              <a:rPr lang="en-ID" sz="1400" dirty="0"/>
              <a:t>(sentence)</a:t>
            </a:r>
          </a:p>
          <a:p>
            <a:endParaRPr lang="en-ID" sz="1400" dirty="0"/>
          </a:p>
          <a:p>
            <a:r>
              <a:rPr lang="en-ID" sz="1400" dirty="0"/>
              <a:t># </a:t>
            </a:r>
            <a:r>
              <a:rPr lang="en-ID" sz="1400" dirty="0" err="1"/>
              <a:t>Cetak</a:t>
            </a:r>
            <a:r>
              <a:rPr lang="en-ID" sz="1400" dirty="0"/>
              <a:t> </a:t>
            </a:r>
            <a:r>
              <a:rPr lang="en-ID" sz="1400" dirty="0" err="1"/>
              <a:t>hasil</a:t>
            </a:r>
            <a:r>
              <a:rPr lang="en-ID" sz="1400" dirty="0"/>
              <a:t> dependency parsing</a:t>
            </a:r>
          </a:p>
          <a:p>
            <a:r>
              <a:rPr lang="en-ID" sz="1400" dirty="0"/>
              <a:t>for token in doc:</a:t>
            </a:r>
          </a:p>
          <a:p>
            <a:r>
              <a:rPr lang="en-ID" sz="1400" dirty="0"/>
              <a:t>    print(f"{</a:t>
            </a:r>
            <a:r>
              <a:rPr lang="en-ID" sz="1400" dirty="0" err="1"/>
              <a:t>token.text</a:t>
            </a:r>
            <a:r>
              <a:rPr lang="en-ID" sz="1400" dirty="0"/>
              <a:t>:&lt;12} {</a:t>
            </a:r>
            <a:r>
              <a:rPr lang="en-ID" sz="1400" dirty="0" err="1"/>
              <a:t>token.dep</a:t>
            </a:r>
            <a:r>
              <a:rPr lang="en-ID" sz="1400" dirty="0"/>
              <a:t>_:&lt;10} {</a:t>
            </a:r>
            <a:r>
              <a:rPr lang="en-ID" sz="1400" dirty="0" err="1"/>
              <a:t>token.head.text</a:t>
            </a:r>
            <a:r>
              <a:rPr lang="en-ID" sz="1400" dirty="0"/>
              <a:t>:&lt;10} {</a:t>
            </a:r>
            <a:r>
              <a:rPr lang="en-ID" sz="1400" dirty="0" err="1"/>
              <a:t>token.pos</a:t>
            </a:r>
            <a:r>
              <a:rPr lang="en-ID" sz="1400" dirty="0"/>
              <a:t>_:&lt;6}")</a:t>
            </a:r>
          </a:p>
          <a:p>
            <a:endParaRPr lang="en-ID" sz="1400" dirty="0"/>
          </a:p>
          <a:p>
            <a:r>
              <a:rPr lang="en-ID" sz="1400" dirty="0"/>
              <a:t># </a:t>
            </a:r>
            <a:r>
              <a:rPr lang="en-ID" sz="1400" dirty="0" err="1"/>
              <a:t>Visualisasi</a:t>
            </a:r>
            <a:r>
              <a:rPr lang="en-ID" sz="1400" dirty="0"/>
              <a:t> dependency  </a:t>
            </a:r>
          </a:p>
          <a:p>
            <a:r>
              <a:rPr lang="en-ID" sz="1400" dirty="0" err="1"/>
              <a:t>spacy.displacy.render</a:t>
            </a:r>
            <a:r>
              <a:rPr lang="en-ID" sz="1400" dirty="0"/>
              <a:t>(doc, style="dep")</a:t>
            </a:r>
          </a:p>
          <a:p>
            <a:endParaRPr lang="en-ID" sz="1400" dirty="0"/>
          </a:p>
          <a:p>
            <a:r>
              <a:rPr lang="en-ID" sz="1400" dirty="0" err="1"/>
              <a:t>root_token</a:t>
            </a:r>
            <a:r>
              <a:rPr lang="en-ID" sz="1400" dirty="0"/>
              <a:t> = [token for token in doc if </a:t>
            </a:r>
            <a:r>
              <a:rPr lang="en-ID" sz="1400" dirty="0" err="1"/>
              <a:t>token.dep</a:t>
            </a:r>
            <a:r>
              <a:rPr lang="en-ID" sz="1400" dirty="0"/>
              <a:t>_ == "ROOT"][0]</a:t>
            </a:r>
          </a:p>
          <a:p>
            <a:r>
              <a:rPr lang="en-ID" sz="1400" dirty="0"/>
              <a:t>print("Root word:", </a:t>
            </a:r>
            <a:r>
              <a:rPr lang="en-ID" sz="1400" dirty="0" err="1"/>
              <a:t>root_token.text</a:t>
            </a:r>
            <a:r>
              <a:rPr lang="en-ID" sz="1400" dirty="0"/>
              <a:t>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2837E6-A383-3004-276D-1D86774D02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67608"/>
            <a:ext cx="4686954" cy="13336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D2DC749-2800-40D0-4FAE-89816F40D8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167" y="4173193"/>
            <a:ext cx="5972350" cy="204801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CA49DA0-C89D-95BE-38DA-268BF6737A9C}"/>
              </a:ext>
            </a:extLst>
          </p:cNvPr>
          <p:cNvSpPr txBox="1"/>
          <p:nvPr/>
        </p:nvSpPr>
        <p:spPr>
          <a:xfrm>
            <a:off x="964096" y="6221206"/>
            <a:ext cx="3737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/>
              <a:t>Root word: </a:t>
            </a:r>
            <a:r>
              <a:rPr lang="en-ID" b="1" dirty="0"/>
              <a:t>Give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805608-A2BB-A04B-9FC8-8E332F512075}"/>
              </a:ext>
            </a:extLst>
          </p:cNvPr>
          <p:cNvSpPr txBox="1"/>
          <p:nvPr/>
        </p:nvSpPr>
        <p:spPr>
          <a:xfrm>
            <a:off x="8279296" y="6221206"/>
            <a:ext cx="1977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Spacy version 2.3.9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034947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88AFE-1926-72BF-2579-F47BB5B2B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Dependency Parsing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B48AA-E266-90B6-B372-56A99A1C78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n-ID" dirty="0" err="1"/>
              <a:t>Menganalisis</a:t>
            </a:r>
            <a:r>
              <a:rPr lang="en-ID" dirty="0"/>
              <a:t> </a:t>
            </a:r>
            <a:r>
              <a:rPr lang="en-ID" b="1" dirty="0" err="1"/>
              <a:t>struktur</a:t>
            </a:r>
            <a:r>
              <a:rPr lang="en-ID" dirty="0"/>
              <a:t> </a:t>
            </a:r>
            <a:r>
              <a:rPr lang="en-ID" b="1" dirty="0" err="1"/>
              <a:t>gramatikal</a:t>
            </a:r>
            <a:r>
              <a:rPr lang="en-ID" dirty="0"/>
              <a:t> </a:t>
            </a:r>
            <a:r>
              <a:rPr lang="en-ID" dirty="0" err="1"/>
              <a:t>kalimat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cara</a:t>
            </a:r>
            <a:r>
              <a:rPr lang="en-ID" dirty="0"/>
              <a:t> </a:t>
            </a:r>
            <a:r>
              <a:rPr lang="en-ID" dirty="0" err="1"/>
              <a:t>mengidentifikasi</a:t>
            </a:r>
            <a:r>
              <a:rPr lang="en-ID" dirty="0"/>
              <a:t> </a:t>
            </a:r>
            <a:r>
              <a:rPr lang="en-ID" dirty="0" err="1"/>
              <a:t>hubungan</a:t>
            </a:r>
            <a:r>
              <a:rPr lang="en-ID" dirty="0"/>
              <a:t> </a:t>
            </a:r>
            <a:r>
              <a:rPr lang="en-ID" dirty="0" err="1"/>
              <a:t>sintaksis</a:t>
            </a:r>
            <a:r>
              <a:rPr lang="en-ID" dirty="0"/>
              <a:t> </a:t>
            </a:r>
            <a:r>
              <a:rPr lang="en-ID" dirty="0" err="1"/>
              <a:t>antar</a:t>
            </a:r>
            <a:r>
              <a:rPr lang="en-ID" dirty="0"/>
              <a:t> kata. </a:t>
            </a:r>
          </a:p>
          <a:p>
            <a:r>
              <a:rPr lang="en-ID" dirty="0" err="1"/>
              <a:t>Memahami</a:t>
            </a:r>
            <a:r>
              <a:rPr lang="en-ID" dirty="0"/>
              <a:t> </a:t>
            </a:r>
            <a:r>
              <a:rPr lang="en-ID" dirty="0" err="1"/>
              <a:t>siapa</a:t>
            </a:r>
            <a:r>
              <a:rPr lang="en-ID" dirty="0"/>
              <a:t> </a:t>
            </a:r>
            <a:r>
              <a:rPr lang="en-ID" dirty="0" err="1"/>
              <a:t>melakukan</a:t>
            </a:r>
            <a:r>
              <a:rPr lang="en-ID" dirty="0"/>
              <a:t> </a:t>
            </a:r>
            <a:r>
              <a:rPr lang="en-ID" dirty="0" err="1"/>
              <a:t>apa</a:t>
            </a:r>
            <a:r>
              <a:rPr lang="en-ID" dirty="0"/>
              <a:t> </a:t>
            </a:r>
            <a:r>
              <a:rPr lang="en-ID" dirty="0" err="1"/>
              <a:t>kepada</a:t>
            </a:r>
            <a:r>
              <a:rPr lang="en-ID" dirty="0"/>
              <a:t> </a:t>
            </a:r>
            <a:r>
              <a:rPr lang="en-ID" dirty="0" err="1"/>
              <a:t>siapa</a:t>
            </a:r>
            <a:r>
              <a:rPr lang="en-ID" dirty="0"/>
              <a:t>, yang </a:t>
            </a:r>
            <a:r>
              <a:rPr lang="en-ID" dirty="0" err="1"/>
              <a:t>merupakan</a:t>
            </a:r>
            <a:r>
              <a:rPr lang="en-ID" dirty="0"/>
              <a:t> inti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pemahaman</a:t>
            </a:r>
            <a:r>
              <a:rPr lang="en-ID" dirty="0"/>
              <a:t> </a:t>
            </a:r>
            <a:r>
              <a:rPr lang="en-ID" dirty="0" err="1"/>
              <a:t>makna</a:t>
            </a:r>
            <a:r>
              <a:rPr lang="en-ID" dirty="0"/>
              <a:t> </a:t>
            </a:r>
            <a:r>
              <a:rPr lang="en-ID" dirty="0" err="1"/>
              <a:t>kalimat</a:t>
            </a:r>
            <a:r>
              <a:rPr lang="en-ID" dirty="0"/>
              <a:t> oleh </a:t>
            </a:r>
            <a:r>
              <a:rPr lang="en-ID" dirty="0" err="1"/>
              <a:t>mesin</a:t>
            </a:r>
            <a:r>
              <a:rPr lang="en-ID" dirty="0"/>
              <a:t>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BF1CB73-D9D4-0A7D-E77F-1BB8C66F3135}"/>
              </a:ext>
            </a:extLst>
          </p:cNvPr>
          <p:cNvSpPr txBox="1">
            <a:spLocks/>
          </p:cNvSpPr>
          <p:nvPr/>
        </p:nvSpPr>
        <p:spPr>
          <a:xfrm>
            <a:off x="6526696" y="1825625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Analyze the </a:t>
            </a:r>
            <a:r>
              <a:rPr lang="en-US" b="1" dirty="0"/>
              <a:t>grammatical</a:t>
            </a:r>
            <a:r>
              <a:rPr lang="en-US" dirty="0"/>
              <a:t> </a:t>
            </a:r>
            <a:r>
              <a:rPr lang="en-US" b="1" dirty="0"/>
              <a:t>structure</a:t>
            </a:r>
            <a:r>
              <a:rPr lang="en-US" dirty="0"/>
              <a:t> of sentences by identifying syntactic relationships between words.</a:t>
            </a:r>
          </a:p>
          <a:p>
            <a:r>
              <a:rPr lang="en-US" dirty="0"/>
              <a:t>Understanding who did what to whom, which is the core of machine understanding of sentence meaning.</a:t>
            </a:r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8FDA38-A967-6498-F6DA-0A6447D7C9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1063" y="5178287"/>
            <a:ext cx="5231705" cy="1516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3283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2F4DA-5D78-0DA1-850B-9E0A28E18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2792E-0FE4-E247-5EED-66EE1F076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use parsing to understand a sentence?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98EC1-3311-FA8F-5963-60E4C3C2C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86954" cy="1603375"/>
          </a:xfrm>
        </p:spPr>
        <p:txBody>
          <a:bodyPr/>
          <a:lstStyle/>
          <a:p>
            <a:r>
              <a:rPr lang="en-ID" b="1" dirty="0"/>
              <a:t>Get main verb (root)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DF7B54-ED93-EF36-D605-9F1C8E2430CA}"/>
              </a:ext>
            </a:extLst>
          </p:cNvPr>
          <p:cNvSpPr txBox="1"/>
          <p:nvPr/>
        </p:nvSpPr>
        <p:spPr>
          <a:xfrm>
            <a:off x="1938130" y="6440876"/>
            <a:ext cx="2763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/>
              <a:t>Root word: </a:t>
            </a:r>
            <a:r>
              <a:rPr lang="en-ID" b="1" dirty="0"/>
              <a:t>Give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D228D2-46EB-6D84-EE80-0C3F68C46F6C}"/>
              </a:ext>
            </a:extLst>
          </p:cNvPr>
          <p:cNvSpPr txBox="1"/>
          <p:nvPr/>
        </p:nvSpPr>
        <p:spPr>
          <a:xfrm>
            <a:off x="1938130" y="6071544"/>
            <a:ext cx="4796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sentence = "give me a red book."</a:t>
            </a:r>
            <a:endParaRPr lang="en-ID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C5087A4-CDE7-437E-D9AB-DF98D2CA55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139" y="2369650"/>
            <a:ext cx="6611251" cy="36067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EED7966-9F57-FA5F-65CF-A1D89382FCFA}"/>
              </a:ext>
            </a:extLst>
          </p:cNvPr>
          <p:cNvSpPr txBox="1"/>
          <p:nvPr/>
        </p:nvSpPr>
        <p:spPr>
          <a:xfrm>
            <a:off x="7812157" y="1351722"/>
            <a:ext cx="3925956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Memahami</a:t>
            </a:r>
            <a:r>
              <a:rPr lang="en-ID" dirty="0"/>
              <a:t> </a:t>
            </a:r>
            <a:r>
              <a:rPr lang="en-ID" b="1" dirty="0" err="1"/>
              <a:t>hubungan</a:t>
            </a:r>
            <a:r>
              <a:rPr lang="en-ID" dirty="0"/>
              <a:t> </a:t>
            </a:r>
            <a:r>
              <a:rPr lang="en-ID" dirty="0" err="1"/>
              <a:t>antar</a:t>
            </a:r>
            <a:r>
              <a:rPr lang="en-ID" dirty="0"/>
              <a:t> </a:t>
            </a:r>
            <a:r>
              <a:rPr lang="en-ID" dirty="0" err="1"/>
              <a:t>entitas</a:t>
            </a:r>
            <a:r>
              <a:rPr lang="en-ID" dirty="0"/>
              <a:t> (</a:t>
            </a:r>
            <a:r>
              <a:rPr lang="en-ID" dirty="0" err="1"/>
              <a:t>subjek</a:t>
            </a:r>
            <a:r>
              <a:rPr lang="en-ID" dirty="0"/>
              <a:t>, </a:t>
            </a:r>
            <a:r>
              <a:rPr lang="en-ID" dirty="0" err="1"/>
              <a:t>objek</a:t>
            </a:r>
            <a:r>
              <a:rPr lang="en-ID" dirty="0"/>
              <a:t>, kata </a:t>
            </a:r>
            <a:r>
              <a:rPr lang="en-ID" dirty="0" err="1"/>
              <a:t>kerja</a:t>
            </a:r>
            <a:r>
              <a:rPr lang="en-ID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Mengetahui</a:t>
            </a:r>
            <a:r>
              <a:rPr lang="en-ID" dirty="0"/>
              <a:t> </a:t>
            </a:r>
            <a:r>
              <a:rPr lang="en-ID" dirty="0" err="1"/>
              <a:t>siapa</a:t>
            </a:r>
            <a:r>
              <a:rPr lang="en-ID" dirty="0"/>
              <a:t> </a:t>
            </a:r>
            <a:r>
              <a:rPr lang="en-ID" dirty="0" err="1"/>
              <a:t>melakukan</a:t>
            </a:r>
            <a:r>
              <a:rPr lang="en-ID" dirty="0"/>
              <a:t> </a:t>
            </a:r>
            <a:r>
              <a:rPr lang="en-ID" dirty="0" err="1"/>
              <a:t>aksi</a:t>
            </a:r>
            <a:r>
              <a:rPr lang="en-ID" dirty="0"/>
              <a:t> </a:t>
            </a:r>
            <a:r>
              <a:rPr lang="en-ID" dirty="0" err="1"/>
              <a:t>terhadap</a:t>
            </a:r>
            <a:r>
              <a:rPr lang="en-ID" dirty="0"/>
              <a:t> </a:t>
            </a:r>
            <a:r>
              <a:rPr lang="en-ID" dirty="0" err="1"/>
              <a:t>apa</a:t>
            </a:r>
            <a:r>
              <a:rPr lang="en-ID" dirty="0"/>
              <a:t> (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siapa</a:t>
            </a:r>
            <a:r>
              <a:rPr lang="en-ID" dirty="0"/>
              <a:t>).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6DA72F-E759-0BC0-7900-B3220A0F010A}"/>
              </a:ext>
            </a:extLst>
          </p:cNvPr>
          <p:cNvSpPr txBox="1"/>
          <p:nvPr/>
        </p:nvSpPr>
        <p:spPr>
          <a:xfrm>
            <a:off x="7812157" y="3053910"/>
            <a:ext cx="3925956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Understanding the </a:t>
            </a:r>
            <a:r>
              <a:rPr lang="en-US" b="1" dirty="0"/>
              <a:t>relationships</a:t>
            </a:r>
            <a:r>
              <a:rPr lang="en-US" dirty="0"/>
              <a:t> between entities (subject, object, verb).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Knowing who does what (or whom) to what.</a:t>
            </a:r>
            <a:endParaRPr lang="en-ID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3F9E33-1E2B-A433-E606-CE7D2D92AEB5}"/>
              </a:ext>
            </a:extLst>
          </p:cNvPr>
          <p:cNvSpPr txBox="1"/>
          <p:nvPr/>
        </p:nvSpPr>
        <p:spPr>
          <a:xfrm>
            <a:off x="5784574" y="6071544"/>
            <a:ext cx="27034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Give what?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Give to whom?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230628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D96D6-1670-C2EB-C050-A2A516B75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6DD8C-1D4A-C9DE-1C9D-9C078E770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use parsing to understand a sentence?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1D298-D0E7-3558-D226-CFBC0B3590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86954" cy="4351338"/>
          </a:xfrm>
        </p:spPr>
        <p:txBody>
          <a:bodyPr/>
          <a:lstStyle/>
          <a:p>
            <a:r>
              <a:rPr lang="en-ID" b="1" dirty="0"/>
              <a:t>Get main verb (root)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8C9F7C-7B0D-A4E6-951E-7159EEE191C2}"/>
              </a:ext>
            </a:extLst>
          </p:cNvPr>
          <p:cNvSpPr txBox="1"/>
          <p:nvPr/>
        </p:nvSpPr>
        <p:spPr>
          <a:xfrm>
            <a:off x="1938130" y="6221206"/>
            <a:ext cx="2763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/>
              <a:t>Root word: </a:t>
            </a:r>
            <a:r>
              <a:rPr lang="en-ID" b="1" dirty="0"/>
              <a:t>Give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356375-6BB2-74D8-CC25-32A6FA878E51}"/>
              </a:ext>
            </a:extLst>
          </p:cNvPr>
          <p:cNvSpPr txBox="1"/>
          <p:nvPr/>
        </p:nvSpPr>
        <p:spPr>
          <a:xfrm>
            <a:off x="6557517" y="1825625"/>
            <a:ext cx="4796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sentence = “please give me a red book."</a:t>
            </a:r>
            <a:endParaRPr lang="en-ID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8955B31-E239-F977-50BB-F660D52935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95582" y="2329894"/>
            <a:ext cx="7907523" cy="3713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1856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96A10-D942-1021-C39B-162BA14E6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BB8CC-CB60-3292-93CE-E9FA8B88E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use parsing to understand a sentence?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22881-E3FC-6264-4C40-4638FEF500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86954" cy="4351338"/>
          </a:xfrm>
        </p:spPr>
        <p:txBody>
          <a:bodyPr/>
          <a:lstStyle/>
          <a:p>
            <a:r>
              <a:rPr lang="en-ID" b="1" dirty="0"/>
              <a:t>Get main verb (root)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E2ADE3-D09E-5E5C-48C5-CD7AD4229891}"/>
              </a:ext>
            </a:extLst>
          </p:cNvPr>
          <p:cNvSpPr txBox="1"/>
          <p:nvPr/>
        </p:nvSpPr>
        <p:spPr>
          <a:xfrm>
            <a:off x="6810550" y="1137563"/>
            <a:ext cx="5060084" cy="5339923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D" sz="1100" dirty="0"/>
              <a:t>import stanza</a:t>
            </a:r>
          </a:p>
          <a:p>
            <a:endParaRPr lang="en-ID" sz="1100" dirty="0"/>
          </a:p>
          <a:p>
            <a:r>
              <a:rPr lang="en-ID" sz="1100" dirty="0"/>
              <a:t># </a:t>
            </a:r>
            <a:r>
              <a:rPr lang="en-ID" sz="1100" dirty="0" err="1"/>
              <a:t>Unduh</a:t>
            </a:r>
            <a:r>
              <a:rPr lang="en-ID" sz="1100" dirty="0"/>
              <a:t> model  </a:t>
            </a:r>
            <a:r>
              <a:rPr lang="en-ID" sz="1100" dirty="0" err="1"/>
              <a:t>jika</a:t>
            </a:r>
            <a:r>
              <a:rPr lang="en-ID" sz="1100" dirty="0"/>
              <a:t> </a:t>
            </a:r>
            <a:r>
              <a:rPr lang="en-ID" sz="1100" dirty="0" err="1"/>
              <a:t>belum</a:t>
            </a:r>
            <a:r>
              <a:rPr lang="en-ID" sz="1100" dirty="0"/>
              <a:t> </a:t>
            </a:r>
            <a:r>
              <a:rPr lang="en-ID" sz="1100" dirty="0" err="1"/>
              <a:t>tersedia</a:t>
            </a:r>
            <a:endParaRPr lang="en-ID" sz="1100" dirty="0"/>
          </a:p>
          <a:p>
            <a:r>
              <a:rPr lang="en-ID" sz="1100" dirty="0" err="1"/>
              <a:t>stanza.download</a:t>
            </a:r>
            <a:r>
              <a:rPr lang="en-ID" sz="1100" dirty="0"/>
              <a:t>('</a:t>
            </a:r>
            <a:r>
              <a:rPr lang="en-ID" sz="1100" dirty="0" err="1"/>
              <a:t>en</a:t>
            </a:r>
            <a:r>
              <a:rPr lang="en-ID" sz="1100" dirty="0"/>
              <a:t>')</a:t>
            </a:r>
          </a:p>
          <a:p>
            <a:endParaRPr lang="en-ID" sz="1100" dirty="0"/>
          </a:p>
          <a:p>
            <a:r>
              <a:rPr lang="en-ID" sz="1100" dirty="0"/>
              <a:t># </a:t>
            </a:r>
            <a:r>
              <a:rPr lang="en-ID" sz="1100" dirty="0" err="1"/>
              <a:t>Inisialisasi</a:t>
            </a:r>
            <a:r>
              <a:rPr lang="en-ID" sz="1100" dirty="0"/>
              <a:t> pipeline</a:t>
            </a:r>
          </a:p>
          <a:p>
            <a:r>
              <a:rPr lang="en-ID" sz="1100" dirty="0" err="1"/>
              <a:t>nlp</a:t>
            </a:r>
            <a:r>
              <a:rPr lang="en-ID" sz="1100" dirty="0"/>
              <a:t> = </a:t>
            </a:r>
            <a:r>
              <a:rPr lang="en-ID" sz="1100" dirty="0" err="1"/>
              <a:t>stanza.Pipeline</a:t>
            </a:r>
            <a:r>
              <a:rPr lang="en-ID" sz="1100" dirty="0"/>
              <a:t>(lang='</a:t>
            </a:r>
            <a:r>
              <a:rPr lang="en-ID" sz="1100" dirty="0" err="1"/>
              <a:t>en</a:t>
            </a:r>
            <a:r>
              <a:rPr lang="en-ID" sz="1100" dirty="0"/>
              <a:t>', processors='</a:t>
            </a:r>
            <a:r>
              <a:rPr lang="en-ID" sz="1100" dirty="0" err="1"/>
              <a:t>tokenize,pos,lemma,depparse</a:t>
            </a:r>
            <a:r>
              <a:rPr lang="en-ID" sz="1100" dirty="0"/>
              <a:t>')</a:t>
            </a:r>
          </a:p>
          <a:p>
            <a:endParaRPr lang="en-ID" sz="1100" dirty="0"/>
          </a:p>
          <a:p>
            <a:r>
              <a:rPr lang="en-ID" sz="1100" dirty="0"/>
              <a:t># </a:t>
            </a:r>
            <a:r>
              <a:rPr lang="en-ID" sz="1100" dirty="0" err="1"/>
              <a:t>Kalimat</a:t>
            </a:r>
            <a:r>
              <a:rPr lang="en-ID" sz="1100" dirty="0"/>
              <a:t> input</a:t>
            </a:r>
          </a:p>
          <a:p>
            <a:r>
              <a:rPr lang="en-ID" sz="1100" dirty="0"/>
              <a:t>text = "Give me a red book."</a:t>
            </a:r>
          </a:p>
          <a:p>
            <a:endParaRPr lang="en-ID" sz="1100" dirty="0"/>
          </a:p>
          <a:p>
            <a:r>
              <a:rPr lang="en-ID" sz="1100" dirty="0"/>
              <a:t># Proses </a:t>
            </a:r>
            <a:r>
              <a:rPr lang="en-ID" sz="1100" dirty="0" err="1"/>
              <a:t>teks</a:t>
            </a:r>
            <a:endParaRPr lang="en-ID" sz="1100" dirty="0"/>
          </a:p>
          <a:p>
            <a:r>
              <a:rPr lang="en-ID" sz="1100" dirty="0"/>
              <a:t>doc = </a:t>
            </a:r>
            <a:r>
              <a:rPr lang="en-ID" sz="1100" dirty="0" err="1"/>
              <a:t>nlp</a:t>
            </a:r>
            <a:r>
              <a:rPr lang="en-ID" sz="1100" dirty="0"/>
              <a:t>(text)</a:t>
            </a:r>
          </a:p>
          <a:p>
            <a:endParaRPr lang="en-ID" sz="1100" dirty="0"/>
          </a:p>
          <a:p>
            <a:r>
              <a:rPr lang="en-ID" sz="1100" dirty="0"/>
              <a:t># Ambil </a:t>
            </a:r>
            <a:r>
              <a:rPr lang="en-ID" sz="1100" dirty="0" err="1"/>
              <a:t>kalimat</a:t>
            </a:r>
            <a:r>
              <a:rPr lang="en-ID" sz="1100" dirty="0"/>
              <a:t> </a:t>
            </a:r>
            <a:r>
              <a:rPr lang="en-ID" sz="1100" dirty="0" err="1"/>
              <a:t>pertama</a:t>
            </a:r>
            <a:endParaRPr lang="en-ID" sz="1100" dirty="0"/>
          </a:p>
          <a:p>
            <a:r>
              <a:rPr lang="en-ID" sz="1100" dirty="0"/>
              <a:t>sentence = </a:t>
            </a:r>
            <a:r>
              <a:rPr lang="en-ID" sz="1100" dirty="0" err="1"/>
              <a:t>doc.sentences</a:t>
            </a:r>
            <a:r>
              <a:rPr lang="en-ID" sz="1100" dirty="0"/>
              <a:t>[0]</a:t>
            </a:r>
          </a:p>
          <a:p>
            <a:endParaRPr lang="en-ID" sz="1100" dirty="0"/>
          </a:p>
          <a:p>
            <a:r>
              <a:rPr lang="en-ID" sz="1100" dirty="0"/>
              <a:t># </a:t>
            </a:r>
            <a:r>
              <a:rPr lang="en-ID" sz="1100" dirty="0" err="1"/>
              <a:t>Cetak</a:t>
            </a:r>
            <a:r>
              <a:rPr lang="en-ID" sz="1100" dirty="0"/>
              <a:t> header</a:t>
            </a:r>
          </a:p>
          <a:p>
            <a:r>
              <a:rPr lang="en-ID" sz="1100" dirty="0"/>
              <a:t>print(f"{'Word':&lt;15} {'Dep':&lt;12} {'Head':&lt;15} {'POS'}")</a:t>
            </a:r>
          </a:p>
          <a:p>
            <a:r>
              <a:rPr lang="en-ID" sz="1100" dirty="0"/>
              <a:t>print("-" * 50)</a:t>
            </a:r>
          </a:p>
          <a:p>
            <a:endParaRPr lang="en-ID" sz="1100" dirty="0"/>
          </a:p>
          <a:p>
            <a:r>
              <a:rPr lang="en-ID" sz="1100" dirty="0"/>
              <a:t># </a:t>
            </a:r>
            <a:r>
              <a:rPr lang="en-ID" sz="1100" dirty="0" err="1"/>
              <a:t>Cetak</a:t>
            </a:r>
            <a:r>
              <a:rPr lang="en-ID" sz="1100" dirty="0"/>
              <a:t> </a:t>
            </a:r>
            <a:r>
              <a:rPr lang="en-ID" sz="1100" dirty="0" err="1"/>
              <a:t>isi</a:t>
            </a:r>
            <a:r>
              <a:rPr lang="en-ID" sz="1100" dirty="0"/>
              <a:t> </a:t>
            </a:r>
            <a:r>
              <a:rPr lang="en-ID" sz="1100" dirty="0" err="1"/>
              <a:t>tabel</a:t>
            </a:r>
            <a:endParaRPr lang="en-ID" sz="1100" dirty="0"/>
          </a:p>
          <a:p>
            <a:r>
              <a:rPr lang="en-ID" sz="1100" dirty="0"/>
              <a:t>for word in </a:t>
            </a:r>
            <a:r>
              <a:rPr lang="en-ID" sz="1100" dirty="0" err="1"/>
              <a:t>sentence.words</a:t>
            </a:r>
            <a:r>
              <a:rPr lang="en-ID" sz="1100" dirty="0"/>
              <a:t>:</a:t>
            </a:r>
          </a:p>
          <a:p>
            <a:r>
              <a:rPr lang="en-ID" sz="1100" dirty="0"/>
              <a:t>    </a:t>
            </a:r>
            <a:r>
              <a:rPr lang="en-ID" sz="1100" dirty="0" err="1"/>
              <a:t>head_word</a:t>
            </a:r>
            <a:r>
              <a:rPr lang="en-ID" sz="1100" dirty="0"/>
              <a:t> = "ROOT" if </a:t>
            </a:r>
            <a:r>
              <a:rPr lang="en-ID" sz="1100" dirty="0" err="1"/>
              <a:t>word.head</a:t>
            </a:r>
            <a:r>
              <a:rPr lang="en-ID" sz="1100" dirty="0"/>
              <a:t> == 0 else </a:t>
            </a:r>
            <a:r>
              <a:rPr lang="en-ID" sz="1100" dirty="0" err="1"/>
              <a:t>sentence.words</a:t>
            </a:r>
            <a:r>
              <a:rPr lang="en-ID" sz="1100" dirty="0"/>
              <a:t>[</a:t>
            </a:r>
            <a:r>
              <a:rPr lang="en-ID" sz="1100" dirty="0" err="1"/>
              <a:t>word.head</a:t>
            </a:r>
            <a:r>
              <a:rPr lang="en-ID" sz="1100" dirty="0"/>
              <a:t> - 1].text</a:t>
            </a:r>
          </a:p>
          <a:p>
            <a:r>
              <a:rPr lang="en-ID" sz="1100" dirty="0"/>
              <a:t>    print(f"{</a:t>
            </a:r>
            <a:r>
              <a:rPr lang="en-ID" sz="1100" dirty="0" err="1"/>
              <a:t>word.text</a:t>
            </a:r>
            <a:r>
              <a:rPr lang="en-ID" sz="1100" dirty="0"/>
              <a:t>:&lt;15} {</a:t>
            </a:r>
            <a:r>
              <a:rPr lang="en-ID" sz="1100" dirty="0" err="1"/>
              <a:t>word.deprel</a:t>
            </a:r>
            <a:r>
              <a:rPr lang="en-ID" sz="1100" dirty="0"/>
              <a:t>:&lt;12} {</a:t>
            </a:r>
            <a:r>
              <a:rPr lang="en-ID" sz="1100" dirty="0" err="1"/>
              <a:t>head_word</a:t>
            </a:r>
            <a:r>
              <a:rPr lang="en-ID" sz="1100" dirty="0"/>
              <a:t>:&lt;15} {</a:t>
            </a:r>
            <a:r>
              <a:rPr lang="en-ID" sz="1100" dirty="0" err="1"/>
              <a:t>word.upos</a:t>
            </a:r>
            <a:r>
              <a:rPr lang="en-ID" sz="1100" dirty="0"/>
              <a:t>}")</a:t>
            </a:r>
          </a:p>
          <a:p>
            <a:endParaRPr lang="en-ID" sz="1100" dirty="0"/>
          </a:p>
          <a:p>
            <a:r>
              <a:rPr lang="en-ID" sz="1100" dirty="0"/>
              <a:t># Cari dan </a:t>
            </a:r>
            <a:r>
              <a:rPr lang="en-ID" sz="1100" dirty="0" err="1"/>
              <a:t>tampilkan</a:t>
            </a:r>
            <a:r>
              <a:rPr lang="en-ID" sz="1100" dirty="0"/>
              <a:t> kata root</a:t>
            </a:r>
          </a:p>
          <a:p>
            <a:r>
              <a:rPr lang="en-ID" sz="1100" dirty="0"/>
              <a:t>for word in </a:t>
            </a:r>
            <a:r>
              <a:rPr lang="en-ID" sz="1100" dirty="0" err="1"/>
              <a:t>sentence.words</a:t>
            </a:r>
            <a:r>
              <a:rPr lang="en-ID" sz="1100" dirty="0"/>
              <a:t>:</a:t>
            </a:r>
          </a:p>
          <a:p>
            <a:r>
              <a:rPr lang="en-ID" sz="1100" dirty="0"/>
              <a:t>    if </a:t>
            </a:r>
            <a:r>
              <a:rPr lang="en-ID" sz="1100" dirty="0" err="1"/>
              <a:t>word.deprel</a:t>
            </a:r>
            <a:r>
              <a:rPr lang="en-ID" sz="1100" dirty="0"/>
              <a:t> == "root":</a:t>
            </a:r>
          </a:p>
          <a:p>
            <a:r>
              <a:rPr lang="en-ID" sz="1100" dirty="0"/>
              <a:t>        print(f"\n🟢 Root </a:t>
            </a:r>
            <a:r>
              <a:rPr lang="en-ID" sz="1100" dirty="0" err="1"/>
              <a:t>dari</a:t>
            </a:r>
            <a:r>
              <a:rPr lang="en-ID" sz="1100" dirty="0"/>
              <a:t> </a:t>
            </a:r>
            <a:r>
              <a:rPr lang="en-ID" sz="1100" dirty="0" err="1"/>
              <a:t>kalimat</a:t>
            </a:r>
            <a:r>
              <a:rPr lang="en-ID" sz="1100" dirty="0"/>
              <a:t>: {</a:t>
            </a:r>
            <a:r>
              <a:rPr lang="en-ID" sz="1100" dirty="0" err="1"/>
              <a:t>word.text</a:t>
            </a:r>
            <a:r>
              <a:rPr lang="en-ID" sz="1100" dirty="0"/>
              <a:t>}")</a:t>
            </a:r>
          </a:p>
          <a:p>
            <a:r>
              <a:rPr lang="en-ID" sz="1100" dirty="0"/>
              <a:t>        break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44521D-E5AF-3E63-9D3A-F874863E68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711" y="2631022"/>
            <a:ext cx="5925377" cy="23530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DC3892C-02CB-9E01-1E98-F3323F7A77FF}"/>
              </a:ext>
            </a:extLst>
          </p:cNvPr>
          <p:cNvSpPr txBox="1"/>
          <p:nvPr/>
        </p:nvSpPr>
        <p:spPr>
          <a:xfrm>
            <a:off x="487018" y="5327757"/>
            <a:ext cx="35184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Dep (dependency relationship)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Head (head of the word)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POS (part-of-speech)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7F96B8-4297-8EED-7476-E3708A4B45BD}"/>
              </a:ext>
            </a:extLst>
          </p:cNvPr>
          <p:cNvSpPr txBox="1"/>
          <p:nvPr/>
        </p:nvSpPr>
        <p:spPr>
          <a:xfrm>
            <a:off x="4005470" y="5287479"/>
            <a:ext cx="26261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Give </a:t>
            </a:r>
            <a:r>
              <a:rPr lang="en-US" dirty="0">
                <a:sym typeface="Wingdings" panose="05000000000000000000" pitchFamily="2" charset="2"/>
              </a:rPr>
              <a:t> root</a:t>
            </a:r>
          </a:p>
          <a:p>
            <a:r>
              <a:rPr lang="en-US" dirty="0">
                <a:sym typeface="Wingdings" panose="05000000000000000000" pitchFamily="2" charset="2"/>
              </a:rPr>
              <a:t>Me  </a:t>
            </a:r>
            <a:r>
              <a:rPr lang="en-US" dirty="0" err="1">
                <a:sym typeface="Wingdings" panose="05000000000000000000" pitchFamily="2" charset="2"/>
              </a:rPr>
              <a:t>iobj</a:t>
            </a:r>
            <a:endParaRPr lang="en-US" dirty="0">
              <a:sym typeface="Wingdings" panose="05000000000000000000" pitchFamily="2" charset="2"/>
            </a:endParaRP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Main phrase: Give me</a:t>
            </a:r>
            <a:endParaRPr lang="en-ID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82142C-FCCB-23DA-6449-A7F440D14E7B}"/>
              </a:ext>
            </a:extLst>
          </p:cNvPr>
          <p:cNvSpPr txBox="1"/>
          <p:nvPr/>
        </p:nvSpPr>
        <p:spPr>
          <a:xfrm>
            <a:off x="7176052" y="6488668"/>
            <a:ext cx="36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/>
              <a:t>Stanza version: 1.10.1</a:t>
            </a:r>
          </a:p>
        </p:txBody>
      </p:sp>
    </p:spTree>
    <p:extLst>
      <p:ext uri="{BB962C8B-B14F-4D97-AF65-F5344CB8AC3E}">
        <p14:creationId xmlns:p14="http://schemas.microsoft.com/office/powerpoint/2010/main" val="31958557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BF6F1-5E31-C236-585B-93406ABA5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9B7FC-B180-76BB-7B84-462AF45E8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use parsing to understand a sentence?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9524A-3764-EBDA-F7E6-A375E48109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86954" cy="4351338"/>
          </a:xfrm>
        </p:spPr>
        <p:txBody>
          <a:bodyPr/>
          <a:lstStyle/>
          <a:p>
            <a:r>
              <a:rPr lang="en-ID" b="1" dirty="0"/>
              <a:t>Get main verb (root)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33D518-FB5F-2A6F-B180-8CA3F5472BBE}"/>
              </a:ext>
            </a:extLst>
          </p:cNvPr>
          <p:cNvSpPr txBox="1"/>
          <p:nvPr/>
        </p:nvSpPr>
        <p:spPr>
          <a:xfrm>
            <a:off x="6810550" y="1137563"/>
            <a:ext cx="5060084" cy="5339923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D" sz="1100" dirty="0"/>
              <a:t>import stanza</a:t>
            </a:r>
          </a:p>
          <a:p>
            <a:endParaRPr lang="en-ID" sz="1100" dirty="0"/>
          </a:p>
          <a:p>
            <a:r>
              <a:rPr lang="en-ID" sz="1100" dirty="0"/>
              <a:t># </a:t>
            </a:r>
            <a:r>
              <a:rPr lang="en-ID" sz="1100" dirty="0" err="1"/>
              <a:t>Unduh</a:t>
            </a:r>
            <a:r>
              <a:rPr lang="en-ID" sz="1100" dirty="0"/>
              <a:t> model </a:t>
            </a:r>
            <a:r>
              <a:rPr lang="en-ID" sz="1100" dirty="0" err="1"/>
              <a:t>bahasa</a:t>
            </a:r>
            <a:r>
              <a:rPr lang="en-ID" sz="1100" dirty="0"/>
              <a:t> Indonesia </a:t>
            </a:r>
            <a:r>
              <a:rPr lang="en-ID" sz="1100" dirty="0" err="1"/>
              <a:t>jika</a:t>
            </a:r>
            <a:r>
              <a:rPr lang="en-ID" sz="1100" dirty="0"/>
              <a:t> </a:t>
            </a:r>
            <a:r>
              <a:rPr lang="en-ID" sz="1100" dirty="0" err="1"/>
              <a:t>belum</a:t>
            </a:r>
            <a:r>
              <a:rPr lang="en-ID" sz="1100" dirty="0"/>
              <a:t> </a:t>
            </a:r>
            <a:r>
              <a:rPr lang="en-ID" sz="1100" dirty="0" err="1"/>
              <a:t>tersedia</a:t>
            </a:r>
            <a:endParaRPr lang="en-ID" sz="1100" dirty="0"/>
          </a:p>
          <a:p>
            <a:r>
              <a:rPr lang="en-ID" sz="1100" dirty="0" err="1"/>
              <a:t>stanza.download</a:t>
            </a:r>
            <a:r>
              <a:rPr lang="en-ID" sz="1100" dirty="0"/>
              <a:t>('id')</a:t>
            </a:r>
          </a:p>
          <a:p>
            <a:endParaRPr lang="en-ID" sz="1100" dirty="0"/>
          </a:p>
          <a:p>
            <a:r>
              <a:rPr lang="en-ID" sz="1100" dirty="0"/>
              <a:t># </a:t>
            </a:r>
            <a:r>
              <a:rPr lang="en-ID" sz="1100" dirty="0" err="1"/>
              <a:t>Inisialisasi</a:t>
            </a:r>
            <a:r>
              <a:rPr lang="en-ID" sz="1100" dirty="0"/>
              <a:t> pipeline</a:t>
            </a:r>
          </a:p>
          <a:p>
            <a:r>
              <a:rPr lang="en-ID" sz="1100" dirty="0" err="1"/>
              <a:t>nlp</a:t>
            </a:r>
            <a:r>
              <a:rPr lang="en-ID" sz="1100" dirty="0"/>
              <a:t> = </a:t>
            </a:r>
            <a:r>
              <a:rPr lang="en-ID" sz="1100" dirty="0" err="1"/>
              <a:t>stanza.Pipeline</a:t>
            </a:r>
            <a:r>
              <a:rPr lang="en-ID" sz="1100" dirty="0"/>
              <a:t>(lang='id', processors='</a:t>
            </a:r>
            <a:r>
              <a:rPr lang="en-ID" sz="1100" dirty="0" err="1"/>
              <a:t>tokenize,pos,lemma,depparse</a:t>
            </a:r>
            <a:r>
              <a:rPr lang="en-ID" sz="1100" dirty="0"/>
              <a:t>')</a:t>
            </a:r>
          </a:p>
          <a:p>
            <a:endParaRPr lang="en-ID" sz="1100" dirty="0"/>
          </a:p>
          <a:p>
            <a:r>
              <a:rPr lang="en-ID" sz="1100" dirty="0"/>
              <a:t># </a:t>
            </a:r>
            <a:r>
              <a:rPr lang="en-ID" sz="1100" dirty="0" err="1"/>
              <a:t>Kalimat</a:t>
            </a:r>
            <a:r>
              <a:rPr lang="en-ID" sz="1100" dirty="0"/>
              <a:t> input</a:t>
            </a:r>
          </a:p>
          <a:p>
            <a:r>
              <a:rPr lang="en-ID" sz="1100" dirty="0"/>
              <a:t>text = "Beri </a:t>
            </a:r>
            <a:r>
              <a:rPr lang="en-ID" sz="1100" dirty="0" err="1"/>
              <a:t>saya</a:t>
            </a:r>
            <a:r>
              <a:rPr lang="en-ID" sz="1100" dirty="0"/>
              <a:t> </a:t>
            </a:r>
            <a:r>
              <a:rPr lang="en-ID" sz="1100" dirty="0" err="1"/>
              <a:t>buku</a:t>
            </a:r>
            <a:r>
              <a:rPr lang="en-ID" sz="1100" dirty="0"/>
              <a:t> </a:t>
            </a:r>
            <a:r>
              <a:rPr lang="en-ID" sz="1100" dirty="0" err="1"/>
              <a:t>warna</a:t>
            </a:r>
            <a:r>
              <a:rPr lang="en-ID" sz="1100" dirty="0"/>
              <a:t> </a:t>
            </a:r>
            <a:r>
              <a:rPr lang="en-ID" sz="1100" dirty="0" err="1"/>
              <a:t>merah</a:t>
            </a:r>
            <a:r>
              <a:rPr lang="en-ID" sz="1100" dirty="0"/>
              <a:t>."</a:t>
            </a:r>
          </a:p>
          <a:p>
            <a:endParaRPr lang="en-ID" sz="1100" dirty="0"/>
          </a:p>
          <a:p>
            <a:r>
              <a:rPr lang="en-ID" sz="1100" dirty="0"/>
              <a:t># Proses </a:t>
            </a:r>
            <a:r>
              <a:rPr lang="en-ID" sz="1100" dirty="0" err="1"/>
              <a:t>teks</a:t>
            </a:r>
            <a:endParaRPr lang="en-ID" sz="1100" dirty="0"/>
          </a:p>
          <a:p>
            <a:r>
              <a:rPr lang="en-ID" sz="1100" dirty="0"/>
              <a:t>doc = </a:t>
            </a:r>
            <a:r>
              <a:rPr lang="en-ID" sz="1100" dirty="0" err="1"/>
              <a:t>nlp</a:t>
            </a:r>
            <a:r>
              <a:rPr lang="en-ID" sz="1100" dirty="0"/>
              <a:t>(text)</a:t>
            </a:r>
          </a:p>
          <a:p>
            <a:endParaRPr lang="en-ID" sz="1100" dirty="0"/>
          </a:p>
          <a:p>
            <a:r>
              <a:rPr lang="en-ID" sz="1100" dirty="0"/>
              <a:t># Ambil </a:t>
            </a:r>
            <a:r>
              <a:rPr lang="en-ID" sz="1100" dirty="0" err="1"/>
              <a:t>kalimat</a:t>
            </a:r>
            <a:r>
              <a:rPr lang="en-ID" sz="1100" dirty="0"/>
              <a:t> </a:t>
            </a:r>
            <a:r>
              <a:rPr lang="en-ID" sz="1100" dirty="0" err="1"/>
              <a:t>pertama</a:t>
            </a:r>
            <a:endParaRPr lang="en-ID" sz="1100" dirty="0"/>
          </a:p>
          <a:p>
            <a:r>
              <a:rPr lang="en-ID" sz="1100" dirty="0"/>
              <a:t>sentence = </a:t>
            </a:r>
            <a:r>
              <a:rPr lang="en-ID" sz="1100" dirty="0" err="1"/>
              <a:t>doc.sentences</a:t>
            </a:r>
            <a:r>
              <a:rPr lang="en-ID" sz="1100" dirty="0"/>
              <a:t>[0]</a:t>
            </a:r>
          </a:p>
          <a:p>
            <a:endParaRPr lang="en-ID" sz="1100" dirty="0"/>
          </a:p>
          <a:p>
            <a:r>
              <a:rPr lang="en-ID" sz="1100" dirty="0"/>
              <a:t># </a:t>
            </a:r>
            <a:r>
              <a:rPr lang="en-ID" sz="1100" dirty="0" err="1"/>
              <a:t>Cetak</a:t>
            </a:r>
            <a:r>
              <a:rPr lang="en-ID" sz="1100" dirty="0"/>
              <a:t> header</a:t>
            </a:r>
          </a:p>
          <a:p>
            <a:r>
              <a:rPr lang="en-ID" sz="1100" dirty="0"/>
              <a:t>print(f"{'Word':&lt;15} {'Dep':&lt;12} {'Head':&lt;15} {'POS'}")</a:t>
            </a:r>
          </a:p>
          <a:p>
            <a:r>
              <a:rPr lang="en-ID" sz="1100" dirty="0"/>
              <a:t>print("-" * 50)</a:t>
            </a:r>
          </a:p>
          <a:p>
            <a:endParaRPr lang="en-ID" sz="1100" dirty="0"/>
          </a:p>
          <a:p>
            <a:r>
              <a:rPr lang="en-ID" sz="1100" dirty="0"/>
              <a:t># </a:t>
            </a:r>
            <a:r>
              <a:rPr lang="en-ID" sz="1100" dirty="0" err="1"/>
              <a:t>Cetak</a:t>
            </a:r>
            <a:r>
              <a:rPr lang="en-ID" sz="1100" dirty="0"/>
              <a:t> </a:t>
            </a:r>
            <a:r>
              <a:rPr lang="en-ID" sz="1100" dirty="0" err="1"/>
              <a:t>isi</a:t>
            </a:r>
            <a:r>
              <a:rPr lang="en-ID" sz="1100" dirty="0"/>
              <a:t> </a:t>
            </a:r>
            <a:r>
              <a:rPr lang="en-ID" sz="1100" dirty="0" err="1"/>
              <a:t>tabel</a:t>
            </a:r>
            <a:endParaRPr lang="en-ID" sz="1100" dirty="0"/>
          </a:p>
          <a:p>
            <a:r>
              <a:rPr lang="en-ID" sz="1100" dirty="0"/>
              <a:t>for word in </a:t>
            </a:r>
            <a:r>
              <a:rPr lang="en-ID" sz="1100" dirty="0" err="1"/>
              <a:t>sentence.words</a:t>
            </a:r>
            <a:r>
              <a:rPr lang="en-ID" sz="1100" dirty="0"/>
              <a:t>:</a:t>
            </a:r>
          </a:p>
          <a:p>
            <a:r>
              <a:rPr lang="en-ID" sz="1100" dirty="0"/>
              <a:t>    </a:t>
            </a:r>
            <a:r>
              <a:rPr lang="en-ID" sz="1100" dirty="0" err="1"/>
              <a:t>head_word</a:t>
            </a:r>
            <a:r>
              <a:rPr lang="en-ID" sz="1100" dirty="0"/>
              <a:t> = "ROOT" if </a:t>
            </a:r>
            <a:r>
              <a:rPr lang="en-ID" sz="1100" dirty="0" err="1"/>
              <a:t>word.head</a:t>
            </a:r>
            <a:r>
              <a:rPr lang="en-ID" sz="1100" dirty="0"/>
              <a:t> == 0 else </a:t>
            </a:r>
            <a:r>
              <a:rPr lang="en-ID" sz="1100" dirty="0" err="1"/>
              <a:t>sentence.words</a:t>
            </a:r>
            <a:r>
              <a:rPr lang="en-ID" sz="1100" dirty="0"/>
              <a:t>[</a:t>
            </a:r>
            <a:r>
              <a:rPr lang="en-ID" sz="1100" dirty="0" err="1"/>
              <a:t>word.head</a:t>
            </a:r>
            <a:r>
              <a:rPr lang="en-ID" sz="1100" dirty="0"/>
              <a:t> - 1].text</a:t>
            </a:r>
          </a:p>
          <a:p>
            <a:r>
              <a:rPr lang="en-ID" sz="1100" dirty="0"/>
              <a:t>    print(f"{</a:t>
            </a:r>
            <a:r>
              <a:rPr lang="en-ID" sz="1100" dirty="0" err="1"/>
              <a:t>word.text</a:t>
            </a:r>
            <a:r>
              <a:rPr lang="en-ID" sz="1100" dirty="0"/>
              <a:t>:&lt;15} {</a:t>
            </a:r>
            <a:r>
              <a:rPr lang="en-ID" sz="1100" dirty="0" err="1"/>
              <a:t>word.deprel</a:t>
            </a:r>
            <a:r>
              <a:rPr lang="en-ID" sz="1100" dirty="0"/>
              <a:t>:&lt;12} {</a:t>
            </a:r>
            <a:r>
              <a:rPr lang="en-ID" sz="1100" dirty="0" err="1"/>
              <a:t>head_word</a:t>
            </a:r>
            <a:r>
              <a:rPr lang="en-ID" sz="1100" dirty="0"/>
              <a:t>:&lt;15} {</a:t>
            </a:r>
            <a:r>
              <a:rPr lang="en-ID" sz="1100" dirty="0" err="1"/>
              <a:t>word.upos</a:t>
            </a:r>
            <a:r>
              <a:rPr lang="en-ID" sz="1100" dirty="0"/>
              <a:t>}")</a:t>
            </a:r>
          </a:p>
          <a:p>
            <a:endParaRPr lang="en-ID" sz="1100" dirty="0"/>
          </a:p>
          <a:p>
            <a:r>
              <a:rPr lang="en-ID" sz="1100" dirty="0"/>
              <a:t># Cari dan </a:t>
            </a:r>
            <a:r>
              <a:rPr lang="en-ID" sz="1100" dirty="0" err="1"/>
              <a:t>tampilkan</a:t>
            </a:r>
            <a:r>
              <a:rPr lang="en-ID" sz="1100" dirty="0"/>
              <a:t> kata root</a:t>
            </a:r>
          </a:p>
          <a:p>
            <a:r>
              <a:rPr lang="en-ID" sz="1100" dirty="0"/>
              <a:t>for word in </a:t>
            </a:r>
            <a:r>
              <a:rPr lang="en-ID" sz="1100" dirty="0" err="1"/>
              <a:t>sentence.words</a:t>
            </a:r>
            <a:r>
              <a:rPr lang="en-ID" sz="1100" dirty="0"/>
              <a:t>:</a:t>
            </a:r>
          </a:p>
          <a:p>
            <a:r>
              <a:rPr lang="en-ID" sz="1100" dirty="0"/>
              <a:t>    if </a:t>
            </a:r>
            <a:r>
              <a:rPr lang="en-ID" sz="1100" dirty="0" err="1"/>
              <a:t>word.deprel</a:t>
            </a:r>
            <a:r>
              <a:rPr lang="en-ID" sz="1100" dirty="0"/>
              <a:t> == "root":</a:t>
            </a:r>
          </a:p>
          <a:p>
            <a:r>
              <a:rPr lang="en-ID" sz="1100" dirty="0"/>
              <a:t>        print(f"\n🟢 Root </a:t>
            </a:r>
            <a:r>
              <a:rPr lang="en-ID" sz="1100" dirty="0" err="1"/>
              <a:t>dari</a:t>
            </a:r>
            <a:r>
              <a:rPr lang="en-ID" sz="1100" dirty="0"/>
              <a:t> </a:t>
            </a:r>
            <a:r>
              <a:rPr lang="en-ID" sz="1100" dirty="0" err="1"/>
              <a:t>kalimat</a:t>
            </a:r>
            <a:r>
              <a:rPr lang="en-ID" sz="1100" dirty="0"/>
              <a:t>: {</a:t>
            </a:r>
            <a:r>
              <a:rPr lang="en-ID" sz="1100" dirty="0" err="1"/>
              <a:t>word.text</a:t>
            </a:r>
            <a:r>
              <a:rPr lang="en-ID" sz="1100" dirty="0"/>
              <a:t>}")</a:t>
            </a:r>
          </a:p>
          <a:p>
            <a:r>
              <a:rPr lang="en-ID" sz="1100" dirty="0"/>
              <a:t>        break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22F932-06E4-D6C6-18AB-6E92E1FDFA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8711" y="2661443"/>
            <a:ext cx="5925377" cy="229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8028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A239C-1F3A-3FA8-42B6-C330F61C1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44FF5-4B3F-6948-7631-F4CC89069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use parsing to understand a sentence?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5C37C-50EC-5645-E3A3-1F8120CE03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86954" cy="4351338"/>
          </a:xfrm>
        </p:spPr>
        <p:txBody>
          <a:bodyPr/>
          <a:lstStyle/>
          <a:p>
            <a:r>
              <a:rPr lang="en-ID" b="1" dirty="0"/>
              <a:t>Get main verb (root)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917DCC-43BD-A37C-C105-A9A96351CD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8449" y="2661443"/>
            <a:ext cx="5325901" cy="22921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3545C8E-7695-71BF-D8F0-49CDB5C423E9}"/>
              </a:ext>
            </a:extLst>
          </p:cNvPr>
          <p:cNvSpPr txBox="1"/>
          <p:nvPr/>
        </p:nvSpPr>
        <p:spPr>
          <a:xfrm>
            <a:off x="1023731" y="5287617"/>
            <a:ext cx="46869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text = "Tolong beri saya buku warna merah."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FBCC21-FAD2-13BA-C288-4FC323D5289B}"/>
              </a:ext>
            </a:extLst>
          </p:cNvPr>
          <p:cNvSpPr txBox="1"/>
          <p:nvPr/>
        </p:nvSpPr>
        <p:spPr>
          <a:xfrm>
            <a:off x="6602776" y="5198027"/>
            <a:ext cx="26261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beri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root</a:t>
            </a:r>
          </a:p>
          <a:p>
            <a:r>
              <a:rPr lang="en-US" dirty="0" err="1">
                <a:sym typeface="Wingdings" panose="05000000000000000000" pitchFamily="2" charset="2"/>
              </a:rPr>
              <a:t>saya</a:t>
            </a:r>
            <a:r>
              <a:rPr lang="en-US" dirty="0">
                <a:sym typeface="Wingdings" panose="05000000000000000000" pitchFamily="2" charset="2"/>
              </a:rPr>
              <a:t>  obj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Main phrase: </a:t>
            </a:r>
            <a:r>
              <a:rPr lang="en-US" dirty="0" err="1">
                <a:sym typeface="Wingdings" panose="05000000000000000000" pitchFamily="2" charset="2"/>
              </a:rPr>
              <a:t>beri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saya</a:t>
            </a:r>
            <a:endParaRPr lang="en-ID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CB1EA5-53CC-F475-8418-88F76A8FA10A}"/>
              </a:ext>
            </a:extLst>
          </p:cNvPr>
          <p:cNvSpPr txBox="1"/>
          <p:nvPr/>
        </p:nvSpPr>
        <p:spPr>
          <a:xfrm>
            <a:off x="1023731" y="5789972"/>
            <a:ext cx="4796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text = “please give me a red book."</a:t>
            </a:r>
            <a:endParaRPr lang="en-ID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069BA8-124C-0599-1E18-60556B579D7F}"/>
              </a:ext>
            </a:extLst>
          </p:cNvPr>
          <p:cNvSpPr txBox="1"/>
          <p:nvPr/>
        </p:nvSpPr>
        <p:spPr>
          <a:xfrm>
            <a:off x="9228952" y="5198027"/>
            <a:ext cx="26261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Give </a:t>
            </a:r>
            <a:r>
              <a:rPr lang="en-US" dirty="0">
                <a:sym typeface="Wingdings" panose="05000000000000000000" pitchFamily="2" charset="2"/>
              </a:rPr>
              <a:t> root</a:t>
            </a:r>
          </a:p>
          <a:p>
            <a:r>
              <a:rPr lang="en-US" dirty="0">
                <a:sym typeface="Wingdings" panose="05000000000000000000" pitchFamily="2" charset="2"/>
              </a:rPr>
              <a:t>Me  </a:t>
            </a:r>
            <a:r>
              <a:rPr lang="en-US" dirty="0" err="1">
                <a:sym typeface="Wingdings" panose="05000000000000000000" pitchFamily="2" charset="2"/>
              </a:rPr>
              <a:t>iobj</a:t>
            </a:r>
            <a:endParaRPr lang="en-US" dirty="0">
              <a:sym typeface="Wingdings" panose="05000000000000000000" pitchFamily="2" charset="2"/>
            </a:endParaRP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Main phrase: Give me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3096588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D3A94-AA81-6A7D-90C4-5CC23DBD0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5910F-C7BC-20B5-A99E-DD22C8AC2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use parsing to understand a sentence?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D1512A-94E2-76B2-EDCB-AABFECEE4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86954" cy="4351338"/>
          </a:xfrm>
        </p:spPr>
        <p:txBody>
          <a:bodyPr/>
          <a:lstStyle/>
          <a:p>
            <a:r>
              <a:rPr lang="en-ID" b="1" dirty="0"/>
              <a:t>Get main verb (root)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C5CBAC-9E76-9F33-0471-C61A2CADAE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55709" y="2661442"/>
            <a:ext cx="5074300" cy="273584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76B0DB1-CA09-9FCC-02D5-0934A0E2B28B}"/>
              </a:ext>
            </a:extLst>
          </p:cNvPr>
          <p:cNvSpPr txBox="1"/>
          <p:nvPr/>
        </p:nvSpPr>
        <p:spPr>
          <a:xfrm>
            <a:off x="1908313" y="5546035"/>
            <a:ext cx="6470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text = "Explain the definition of prayer, ablution, and hajj."</a:t>
            </a:r>
          </a:p>
        </p:txBody>
      </p:sp>
    </p:spTree>
    <p:extLst>
      <p:ext uri="{BB962C8B-B14F-4D97-AF65-F5344CB8AC3E}">
        <p14:creationId xmlns:p14="http://schemas.microsoft.com/office/powerpoint/2010/main" val="25812049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F5831-2448-1604-4B6E-E4433FD7C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Dependency Relation Label</a:t>
            </a:r>
            <a:endParaRPr lang="en-ID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2D0D64-9F9D-ECC7-3BDE-059DE2868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973" y="1601236"/>
            <a:ext cx="9040639" cy="480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4778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llout: Quad Arrow 1">
            <a:extLst>
              <a:ext uri="{FF2B5EF4-FFF2-40B4-BE49-F238E27FC236}">
                <a16:creationId xmlns:a16="http://schemas.microsoft.com/office/drawing/2014/main" id="{D8AF528A-A2AA-DBA5-E3CC-E12C11A41DDC}"/>
              </a:ext>
            </a:extLst>
          </p:cNvPr>
          <p:cNvSpPr/>
          <p:nvPr/>
        </p:nvSpPr>
        <p:spPr>
          <a:xfrm>
            <a:off x="4790661" y="2604052"/>
            <a:ext cx="2345635" cy="2335696"/>
          </a:xfrm>
          <a:prstGeom prst="quad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845881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282F1-86A2-BFE9-B889-0A207187F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Intent Analysis from Dependency Tree</a:t>
            </a:r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F6CC5D-6727-AF36-EF7B-FC752735C3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0" y="1826701"/>
            <a:ext cx="5687219" cy="24906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FF68AB4-CCEA-6D25-289A-7715EDA2295A}"/>
              </a:ext>
            </a:extLst>
          </p:cNvPr>
          <p:cNvSpPr txBox="1"/>
          <p:nvPr/>
        </p:nvSpPr>
        <p:spPr>
          <a:xfrm>
            <a:off x="8468139" y="1540565"/>
            <a:ext cx="2993973" cy="38164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ID" sz="1100" dirty="0"/>
              <a:t>import stanza</a:t>
            </a:r>
          </a:p>
          <a:p>
            <a:endParaRPr lang="en-ID" sz="1100" dirty="0"/>
          </a:p>
          <a:p>
            <a:r>
              <a:rPr lang="en-ID" sz="1100" dirty="0"/>
              <a:t># </a:t>
            </a:r>
            <a:r>
              <a:rPr lang="en-ID" sz="1100" dirty="0" err="1"/>
              <a:t>Inisialisasi</a:t>
            </a:r>
            <a:r>
              <a:rPr lang="en-ID" sz="1100" dirty="0"/>
              <a:t> pipeline  </a:t>
            </a:r>
          </a:p>
          <a:p>
            <a:r>
              <a:rPr lang="en-ID" sz="1100" dirty="0"/>
              <a:t>language = '</a:t>
            </a:r>
            <a:r>
              <a:rPr lang="en-ID" sz="1100" dirty="0" err="1"/>
              <a:t>en</a:t>
            </a:r>
            <a:r>
              <a:rPr lang="en-ID" sz="1100" dirty="0"/>
              <a:t>'    # 'id'</a:t>
            </a:r>
          </a:p>
          <a:p>
            <a:r>
              <a:rPr lang="en-ID" sz="1100" dirty="0" err="1"/>
              <a:t>stanza.download</a:t>
            </a:r>
            <a:r>
              <a:rPr lang="en-ID" sz="1100" dirty="0"/>
              <a:t>(language)</a:t>
            </a:r>
          </a:p>
          <a:p>
            <a:r>
              <a:rPr lang="en-ID" sz="1100" dirty="0" err="1"/>
              <a:t>nlp</a:t>
            </a:r>
            <a:r>
              <a:rPr lang="en-ID" sz="1100" dirty="0"/>
              <a:t> = </a:t>
            </a:r>
            <a:r>
              <a:rPr lang="en-ID" sz="1100" dirty="0" err="1"/>
              <a:t>stanza.Pipeline</a:t>
            </a:r>
            <a:r>
              <a:rPr lang="en-ID" sz="1100" dirty="0"/>
              <a:t>(lang=language, processors='</a:t>
            </a:r>
            <a:r>
              <a:rPr lang="en-ID" sz="1100" dirty="0" err="1"/>
              <a:t>tokenize,pos,lemma,depparse</a:t>
            </a:r>
            <a:r>
              <a:rPr lang="en-ID" sz="1100" dirty="0"/>
              <a:t>')</a:t>
            </a:r>
          </a:p>
          <a:p>
            <a:endParaRPr lang="en-ID" sz="1100" dirty="0"/>
          </a:p>
          <a:p>
            <a:r>
              <a:rPr lang="en-ID" sz="1100" dirty="0"/>
              <a:t># </a:t>
            </a:r>
            <a:r>
              <a:rPr lang="en-ID" sz="1100" dirty="0" err="1"/>
              <a:t>Kalimat</a:t>
            </a:r>
            <a:r>
              <a:rPr lang="en-ID" sz="1100" dirty="0"/>
              <a:t> </a:t>
            </a:r>
            <a:r>
              <a:rPr lang="en-ID" sz="1100" dirty="0" err="1"/>
              <a:t>pengguna</a:t>
            </a:r>
            <a:endParaRPr lang="en-ID" sz="1100" dirty="0"/>
          </a:p>
          <a:p>
            <a:r>
              <a:rPr lang="en-ID" sz="1100" dirty="0" err="1"/>
              <a:t>kalimat</a:t>
            </a:r>
            <a:r>
              <a:rPr lang="en-ID" sz="1100" dirty="0"/>
              <a:t> = "I book a ticket to Jakarta tomorrow morning."</a:t>
            </a:r>
          </a:p>
          <a:p>
            <a:r>
              <a:rPr lang="en-ID" sz="1100" dirty="0"/>
              <a:t>doc = </a:t>
            </a:r>
            <a:r>
              <a:rPr lang="en-ID" sz="1100" dirty="0" err="1"/>
              <a:t>nlp</a:t>
            </a:r>
            <a:r>
              <a:rPr lang="en-ID" sz="1100" dirty="0"/>
              <a:t>(</a:t>
            </a:r>
            <a:r>
              <a:rPr lang="en-ID" sz="1100" dirty="0" err="1"/>
              <a:t>kalimat</a:t>
            </a:r>
            <a:r>
              <a:rPr lang="en-ID" sz="1100" dirty="0"/>
              <a:t>)</a:t>
            </a:r>
          </a:p>
          <a:p>
            <a:endParaRPr lang="en-ID" sz="1100" dirty="0"/>
          </a:p>
          <a:p>
            <a:r>
              <a:rPr lang="en-ID" sz="1100" dirty="0"/>
              <a:t>print ()</a:t>
            </a:r>
          </a:p>
          <a:p>
            <a:r>
              <a:rPr lang="en-ID" sz="1100" dirty="0"/>
              <a:t># </a:t>
            </a:r>
            <a:r>
              <a:rPr lang="en-ID" sz="1100" dirty="0" err="1"/>
              <a:t>Cetak</a:t>
            </a:r>
            <a:r>
              <a:rPr lang="en-ID" sz="1100" dirty="0"/>
              <a:t> </a:t>
            </a:r>
            <a:r>
              <a:rPr lang="en-ID" sz="1100" dirty="0" err="1"/>
              <a:t>hasil</a:t>
            </a:r>
            <a:r>
              <a:rPr lang="en-ID" sz="1100" dirty="0"/>
              <a:t> dependency parsing</a:t>
            </a:r>
          </a:p>
          <a:p>
            <a:r>
              <a:rPr lang="en-ID" sz="1100" dirty="0"/>
              <a:t>for sent in </a:t>
            </a:r>
            <a:r>
              <a:rPr lang="en-ID" sz="1100" dirty="0" err="1"/>
              <a:t>doc.sentences</a:t>
            </a:r>
            <a:r>
              <a:rPr lang="en-ID" sz="1100" dirty="0"/>
              <a:t>:</a:t>
            </a:r>
          </a:p>
          <a:p>
            <a:r>
              <a:rPr lang="en-ID" sz="1100" dirty="0"/>
              <a:t>    print("Kata\t\</a:t>
            </a:r>
            <a:r>
              <a:rPr lang="en-ID" sz="1100" dirty="0" err="1"/>
              <a:t>tHead</a:t>
            </a:r>
            <a:r>
              <a:rPr lang="en-ID" sz="1100" dirty="0"/>
              <a:t>\</a:t>
            </a:r>
            <a:r>
              <a:rPr lang="en-ID" sz="1100" dirty="0" err="1"/>
              <a:t>tDeprel</a:t>
            </a:r>
            <a:r>
              <a:rPr lang="en-ID" sz="1100" dirty="0"/>
              <a:t>\t\</a:t>
            </a:r>
            <a:r>
              <a:rPr lang="en-ID" sz="1100" dirty="0" err="1"/>
              <a:t>tPOS</a:t>
            </a:r>
            <a:r>
              <a:rPr lang="en-ID" sz="1100" dirty="0"/>
              <a:t>")</a:t>
            </a:r>
          </a:p>
          <a:p>
            <a:r>
              <a:rPr lang="en-ID" sz="1100" dirty="0"/>
              <a:t>    for word in </a:t>
            </a:r>
            <a:r>
              <a:rPr lang="en-ID" sz="1100" dirty="0" err="1"/>
              <a:t>sent.words</a:t>
            </a:r>
            <a:r>
              <a:rPr lang="en-ID" sz="1100" dirty="0"/>
              <a:t>:</a:t>
            </a:r>
          </a:p>
          <a:p>
            <a:r>
              <a:rPr lang="en-ID" sz="1100" dirty="0"/>
              <a:t>        print(f"{</a:t>
            </a:r>
            <a:r>
              <a:rPr lang="en-ID" sz="1100" dirty="0" err="1"/>
              <a:t>word.text</a:t>
            </a:r>
            <a:r>
              <a:rPr lang="en-ID" sz="1100" dirty="0"/>
              <a:t>:&lt;10}\t{</a:t>
            </a:r>
            <a:r>
              <a:rPr lang="en-ID" sz="1100" dirty="0" err="1"/>
              <a:t>sent.words</a:t>
            </a:r>
            <a:r>
              <a:rPr lang="en-ID" sz="1100" dirty="0"/>
              <a:t>[</a:t>
            </a:r>
            <a:r>
              <a:rPr lang="en-ID" sz="1100" dirty="0" err="1"/>
              <a:t>word.head</a:t>
            </a:r>
            <a:r>
              <a:rPr lang="en-ID" sz="1100" dirty="0"/>
              <a:t> - 1].text if </a:t>
            </a:r>
            <a:r>
              <a:rPr lang="en-ID" sz="1100" dirty="0" err="1"/>
              <a:t>word.head</a:t>
            </a:r>
            <a:r>
              <a:rPr lang="en-ID" sz="1100" dirty="0"/>
              <a:t> &gt; 0 else 'ROOT'}\t{</a:t>
            </a:r>
            <a:r>
              <a:rPr lang="en-ID" sz="1100" dirty="0" err="1"/>
              <a:t>word.deprel</a:t>
            </a:r>
            <a:r>
              <a:rPr lang="en-ID" sz="1100" dirty="0"/>
              <a:t>:&lt;10}\t{</a:t>
            </a:r>
            <a:r>
              <a:rPr lang="en-ID" sz="1100" dirty="0" err="1"/>
              <a:t>word.upos</a:t>
            </a:r>
            <a:r>
              <a:rPr lang="en-ID" sz="1100" dirty="0"/>
              <a:t>}")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B31953-548B-0E01-046D-6A174D0BF9FC}"/>
              </a:ext>
            </a:extLst>
          </p:cNvPr>
          <p:cNvSpPr txBox="1"/>
          <p:nvPr/>
        </p:nvSpPr>
        <p:spPr>
          <a:xfrm>
            <a:off x="729888" y="4956884"/>
            <a:ext cx="73549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Main verb (root): 		book → main intent (</a:t>
            </a:r>
            <a:r>
              <a:rPr lang="en-ID" dirty="0" err="1"/>
              <a:t>book_ticket</a:t>
            </a:r>
            <a:r>
              <a:rPr lang="en-ID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Direct object (</a:t>
            </a:r>
            <a:r>
              <a:rPr lang="en-ID" dirty="0" err="1"/>
              <a:t>obj</a:t>
            </a:r>
            <a:r>
              <a:rPr lang="en-ID" dirty="0"/>
              <a:t>): 		ticket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Destination description (</a:t>
            </a:r>
            <a:r>
              <a:rPr lang="en-ID" dirty="0" err="1"/>
              <a:t>obl</a:t>
            </a:r>
            <a:r>
              <a:rPr lang="en-ID" dirty="0"/>
              <a:t>): 	Jakarta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Time description (</a:t>
            </a:r>
            <a:r>
              <a:rPr lang="en-ID" dirty="0" err="1"/>
              <a:t>obl</a:t>
            </a:r>
            <a:r>
              <a:rPr lang="en-ID" dirty="0"/>
              <a:t>): 		tomorrow morning</a:t>
            </a:r>
          </a:p>
        </p:txBody>
      </p:sp>
    </p:spTree>
    <p:extLst>
      <p:ext uri="{BB962C8B-B14F-4D97-AF65-F5344CB8AC3E}">
        <p14:creationId xmlns:p14="http://schemas.microsoft.com/office/powerpoint/2010/main" val="38174026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2279</TotalTime>
  <Words>2467</Words>
  <Application>Microsoft Office PowerPoint</Application>
  <PresentationFormat>Widescreen</PresentationFormat>
  <Paragraphs>342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Calibri Light</vt:lpstr>
      <vt:lpstr>Wingdings</vt:lpstr>
      <vt:lpstr>Office Theme</vt:lpstr>
      <vt:lpstr>Natural Language Understanding</vt:lpstr>
      <vt:lpstr>Chatbot Architecture</vt:lpstr>
      <vt:lpstr>Natural Language Understanding (NLU)</vt:lpstr>
      <vt:lpstr>Natural Language Understanding (NLU)</vt:lpstr>
      <vt:lpstr>NLU: Pre-Processing</vt:lpstr>
      <vt:lpstr>General Stages of Preprocessing</vt:lpstr>
      <vt:lpstr>Tokenization</vt:lpstr>
      <vt:lpstr>Tokenization: Multi-Word</vt:lpstr>
      <vt:lpstr>Normalization or Standardize text format </vt:lpstr>
      <vt:lpstr>Normalization or Standardize text format </vt:lpstr>
      <vt:lpstr>Normalization or Standardize text format </vt:lpstr>
      <vt:lpstr>PowerPoint Presentation</vt:lpstr>
      <vt:lpstr>Parsing and Tagging</vt:lpstr>
      <vt:lpstr>Parsing: Understanding the structure of sentence</vt:lpstr>
      <vt:lpstr>How to use parsing to understand a sentence?</vt:lpstr>
      <vt:lpstr>Dependency Parsing</vt:lpstr>
      <vt:lpstr>How to use parsing to understand a sentence?</vt:lpstr>
      <vt:lpstr>How to use parsing to understand a sentence?</vt:lpstr>
      <vt:lpstr>How to use parsing to understand a sentence?</vt:lpstr>
      <vt:lpstr>How to use parsing to understand a sentence?</vt:lpstr>
      <vt:lpstr>How to use parsing to understand a sentence?</vt:lpstr>
      <vt:lpstr>How to use parsing to understand a sentence?</vt:lpstr>
      <vt:lpstr>Dependency Relation Label</vt:lpstr>
      <vt:lpstr>PowerPoint Presentation</vt:lpstr>
      <vt:lpstr>Intent Analysis from Dependency Tree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Reviewer</dc:creator>
  <cp:lastModifiedBy>Reviewer</cp:lastModifiedBy>
  <cp:revision>54</cp:revision>
  <dcterms:created xsi:type="dcterms:W3CDTF">2025-05-06T10:47:18Z</dcterms:created>
  <dcterms:modified xsi:type="dcterms:W3CDTF">2025-09-03T12:40:16Z</dcterms:modified>
</cp:coreProperties>
</file>